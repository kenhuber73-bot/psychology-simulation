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9418320" y="-1371600"/>
            <a:ext cx="4572000" cy="4572000"/>
          </a:xfrm>
          <a:prstGeom prst="ellipse">
            <a:avLst/>
          </a:prstGeom>
          <a:solidFill>
            <a:srgbClr val="028090">
              <a:alpha val="45000"/>
            </a:srgbClr>
          </a:solidFill>
          <a:ln/>
        </p:spPr>
      </p:sp>
      <p:sp>
        <p:nvSpPr>
          <p:cNvPr id="3" name="Shape 1"/>
          <p:cNvSpPr/>
          <p:nvPr/>
        </p:nvSpPr>
        <p:spPr>
          <a:xfrm>
            <a:off x="10607040" y="4206240"/>
            <a:ext cx="2926080" cy="2926080"/>
          </a:xfrm>
          <a:prstGeom prst="ellipse">
            <a:avLst/>
          </a:prstGeom>
          <a:solidFill>
            <a:srgbClr val="02C39A">
              <a:alpha val="40000"/>
            </a:srgbClr>
          </a:solidFill>
          <a:ln/>
        </p:spPr>
      </p:sp>
      <p:sp>
        <p:nvSpPr>
          <p:cNvPr id="4" name="Text 2"/>
          <p:cNvSpPr/>
          <p:nvPr/>
        </p:nvSpPr>
        <p:spPr>
          <a:xfrm>
            <a:off x="822960" y="1417320"/>
            <a:ext cx="9144000" cy="36576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HEALTH AND WELL-BEING  •  MENTAL HEALTH DISORDERS</a:t>
            </a:r>
            <a:endParaRPr lang="en-US" sz="1300" dirty="0"/>
          </a:p>
        </p:txBody>
      </p:sp>
      <p:sp>
        <p:nvSpPr>
          <p:cNvPr id="5" name="Text 3"/>
          <p:cNvSpPr/>
          <p:nvPr/>
        </p:nvSpPr>
        <p:spPr>
          <a:xfrm>
            <a:off x="777240" y="1874520"/>
            <a:ext cx="10058400" cy="2103120"/>
          </a:xfrm>
          <a:prstGeom prst="rect">
            <a:avLst/>
          </a:prstGeom>
          <a:noFill/>
          <a:ln/>
        </p:spPr>
        <p:txBody>
          <a:bodyPr wrap="square"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Cultural Differences in</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Social Anxiety Disorder</a:t>
            </a:r>
            <a:endParaRPr lang="en-US" sz="4200" dirty="0"/>
          </a:p>
        </p:txBody>
      </p:sp>
      <p:sp>
        <p:nvSpPr>
          <p:cNvPr id="6" name="Shape 4"/>
          <p:cNvSpPr/>
          <p:nvPr/>
        </p:nvSpPr>
        <p:spPr>
          <a:xfrm>
            <a:off x="822960" y="3794760"/>
            <a:ext cx="1005840" cy="0"/>
          </a:xfrm>
          <a:prstGeom prst="line">
            <a:avLst/>
          </a:prstGeom>
          <a:noFill/>
          <a:ln w="38100">
            <a:solidFill>
              <a:srgbClr val="02C39A"/>
            </a:solidFill>
            <a:prstDash val="solid"/>
          </a:ln>
        </p:spPr>
      </p:sp>
      <p:sp>
        <p:nvSpPr>
          <p:cNvPr id="7" name="Text 5"/>
          <p:cNvSpPr/>
          <p:nvPr/>
        </p:nvSpPr>
        <p:spPr>
          <a:xfrm>
            <a:off x="822960" y="3977640"/>
            <a:ext cx="9601200" cy="457200"/>
          </a:xfrm>
          <a:prstGeom prst="rect">
            <a:avLst/>
          </a:prstGeom>
          <a:noFill/>
          <a:ln/>
        </p:spPr>
        <p:txBody>
          <a:bodyPr wrap="square" rtlCol="0" anchor="ctr"/>
          <a:lstStyle/>
          <a:p>
            <a:pPr indent="0" marL="0">
              <a:buNone/>
            </a:pPr>
            <a:r>
              <a:rPr lang="en-US" sz="1700" i="1" dirty="0">
                <a:solidFill>
                  <a:srgbClr val="F2F9F8"/>
                </a:solidFill>
                <a:latin typeface="Calibri" pitchFamily="34" charset="0"/>
                <a:ea typeface="Calibri" pitchFamily="34" charset="-122"/>
                <a:cs typeface="Calibri" pitchFamily="34" charset="-120"/>
              </a:rPr>
              <a:t>Hikikomori, acculturation, and the limits of a universal diagnosis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515600" cy="548640"/>
          </a:xfrm>
          <a:prstGeom prst="rect">
            <a:avLst/>
          </a:prstGeom>
          <a:noFill/>
          <a:ln/>
        </p:spPr>
        <p:txBody>
          <a:bodyPr wrap="square" rtlCol="0" anchor="ctr"/>
          <a:lstStyle/>
          <a:p>
            <a:pPr indent="0" marL="0">
              <a:buNone/>
            </a:pPr>
            <a:r>
              <a:rPr lang="en-US" sz="2900" b="1" dirty="0">
                <a:solidFill>
                  <a:srgbClr val="013A40"/>
                </a:solidFill>
                <a:latin typeface="Cambria" pitchFamily="34" charset="0"/>
                <a:ea typeface="Cambria" pitchFamily="34" charset="-122"/>
                <a:cs typeface="Cambria" pitchFamily="34" charset="-120"/>
              </a:rPr>
              <a:t>How Culture Shapes Social Anxiety</a:t>
            </a:r>
            <a:endParaRPr lang="en-US" sz="29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350" i="1" dirty="0">
                <a:solidFill>
                  <a:srgbClr val="5B6B70"/>
                </a:solidFill>
                <a:latin typeface="Calibri" pitchFamily="34" charset="0"/>
                <a:ea typeface="Calibri" pitchFamily="34" charset="-122"/>
                <a:cs typeface="Calibri" pitchFamily="34" charset="-120"/>
              </a:rPr>
              <a:t>The same disorder can look — and feel — different depending on cultural norms</a:t>
            </a:r>
            <a:endParaRPr lang="en-US" sz="1350" dirty="0"/>
          </a:p>
        </p:txBody>
      </p:sp>
      <p:sp>
        <p:nvSpPr>
          <p:cNvPr id="4" name="Shape 2"/>
          <p:cNvSpPr/>
          <p:nvPr/>
        </p:nvSpPr>
        <p:spPr>
          <a:xfrm>
            <a:off x="457200" y="1600200"/>
            <a:ext cx="5440680" cy="1874520"/>
          </a:xfrm>
          <a:prstGeom prst="roundRect">
            <a:avLst>
              <a:gd name="adj" fmla="val 4878"/>
            </a:avLst>
          </a:prstGeom>
          <a:solidFill>
            <a:srgbClr val="FFFFFF"/>
          </a:solidFill>
          <a:ln w="12700">
            <a:solidFill>
              <a:srgbClr val="00A896"/>
            </a:solidFill>
            <a:prstDash val="solid"/>
          </a:ln>
        </p:spPr>
      </p:sp>
      <p:sp>
        <p:nvSpPr>
          <p:cNvPr id="5" name="Shape 3"/>
          <p:cNvSpPr/>
          <p:nvPr/>
        </p:nvSpPr>
        <p:spPr>
          <a:xfrm>
            <a:off x="731520" y="1828800"/>
            <a:ext cx="640080" cy="640080"/>
          </a:xfrm>
          <a:prstGeom prst="ellipse">
            <a:avLst/>
          </a:prstGeom>
          <a:solidFill>
            <a:srgbClr val="028090"/>
          </a:solidFill>
          <a:ln/>
        </p:spPr>
      </p:sp>
      <p:pic>
        <p:nvPicPr>
          <p:cNvPr id="6" name="Image 0" descr="icons/globe.png">    </p:cNvPr>
          <p:cNvPicPr>
            <a:picLocks noChangeAspect="1"/>
          </p:cNvPicPr>
          <p:nvPr/>
        </p:nvPicPr>
        <p:blipFill>
          <a:blip r:embed="rId1"/>
          <a:stretch>
            <a:fillRect/>
          </a:stretch>
        </p:blipFill>
        <p:spPr>
          <a:xfrm>
            <a:off x="897941" y="1995221"/>
            <a:ext cx="307238" cy="307238"/>
          </a:xfrm>
          <a:prstGeom prst="rect">
            <a:avLst/>
          </a:prstGeom>
        </p:spPr>
      </p:pic>
      <p:sp>
        <p:nvSpPr>
          <p:cNvPr id="7" name="Text 4"/>
          <p:cNvSpPr/>
          <p:nvPr/>
        </p:nvSpPr>
        <p:spPr>
          <a:xfrm>
            <a:off x="1554480" y="1874520"/>
            <a:ext cx="4069080" cy="457200"/>
          </a:xfrm>
          <a:prstGeom prst="rect">
            <a:avLst/>
          </a:prstGeom>
          <a:noFill/>
          <a:ln/>
        </p:spPr>
        <p:txBody>
          <a:bodyPr wrap="square" rtlCol="0" anchor="ctr"/>
          <a:lstStyle/>
          <a:p>
            <a:pPr indent="0" marL="0">
              <a:buNone/>
            </a:pPr>
            <a:r>
              <a:rPr lang="en-US" sz="1600" b="1" dirty="0">
                <a:solidFill>
                  <a:srgbClr val="013A40"/>
                </a:solidFill>
                <a:latin typeface="Cambria" pitchFamily="34" charset="0"/>
                <a:ea typeface="Cambria" pitchFamily="34" charset="-122"/>
                <a:cs typeface="Cambria" pitchFamily="34" charset="-120"/>
              </a:rPr>
              <a:t>Collectivist Cultures</a:t>
            </a:r>
            <a:endParaRPr lang="en-US" sz="1600" dirty="0"/>
          </a:p>
        </p:txBody>
      </p:sp>
      <p:sp>
        <p:nvSpPr>
          <p:cNvPr id="8" name="Text 5"/>
          <p:cNvSpPr/>
          <p:nvPr/>
        </p:nvSpPr>
        <p:spPr>
          <a:xfrm>
            <a:off x="731520" y="2606040"/>
            <a:ext cx="4892040" cy="777240"/>
          </a:xfrm>
          <a:prstGeom prst="rect">
            <a:avLst/>
          </a:prstGeom>
          <a:noFill/>
          <a:ln/>
        </p:spPr>
        <p:txBody>
          <a:bodyPr wrap="square" rtlCol="0" anchor="t"/>
          <a:lstStyle/>
          <a:p>
            <a:pPr indent="0" marL="0">
              <a:lnSpc>
                <a:spcPct val="115000"/>
              </a:lnSpc>
              <a:buNone/>
            </a:pPr>
            <a:r>
              <a:rPr lang="en-US" sz="1200" dirty="0">
                <a:solidFill>
                  <a:srgbClr val="1F2937"/>
                </a:solidFill>
                <a:latin typeface="Calibri" pitchFamily="34" charset="0"/>
                <a:ea typeface="Calibri" pitchFamily="34" charset="-122"/>
                <a:cs typeface="Calibri" pitchFamily="34" charset="-120"/>
              </a:rPr>
              <a:t>Social harmony and group cohesion are prized, so anxiety often centers on the fear of social disapproval — letting the group down.</a:t>
            </a:r>
            <a:endParaRPr lang="en-US" sz="1200" dirty="0"/>
          </a:p>
        </p:txBody>
      </p:sp>
      <p:sp>
        <p:nvSpPr>
          <p:cNvPr id="9" name="Shape 6"/>
          <p:cNvSpPr/>
          <p:nvPr/>
        </p:nvSpPr>
        <p:spPr>
          <a:xfrm>
            <a:off x="6263640" y="1600200"/>
            <a:ext cx="5440680" cy="1874520"/>
          </a:xfrm>
          <a:prstGeom prst="roundRect">
            <a:avLst>
              <a:gd name="adj" fmla="val 4878"/>
            </a:avLst>
          </a:prstGeom>
          <a:solidFill>
            <a:srgbClr val="FFFFFF"/>
          </a:solidFill>
          <a:ln w="12700">
            <a:solidFill>
              <a:srgbClr val="00A896"/>
            </a:solidFill>
            <a:prstDash val="solid"/>
          </a:ln>
        </p:spPr>
      </p:sp>
      <p:sp>
        <p:nvSpPr>
          <p:cNvPr id="10" name="Shape 7"/>
          <p:cNvSpPr/>
          <p:nvPr/>
        </p:nvSpPr>
        <p:spPr>
          <a:xfrm>
            <a:off x="6537960" y="1828800"/>
            <a:ext cx="640080" cy="640080"/>
          </a:xfrm>
          <a:prstGeom prst="ellipse">
            <a:avLst/>
          </a:prstGeom>
          <a:solidFill>
            <a:srgbClr val="028090"/>
          </a:solidFill>
          <a:ln/>
        </p:spPr>
      </p:sp>
      <p:pic>
        <p:nvPicPr>
          <p:cNvPr id="11" name="Image 1" descr="icons/eye.png">    </p:cNvPr>
          <p:cNvPicPr>
            <a:picLocks noChangeAspect="1"/>
          </p:cNvPicPr>
          <p:nvPr/>
        </p:nvPicPr>
        <p:blipFill>
          <a:blip r:embed="rId2"/>
          <a:stretch>
            <a:fillRect/>
          </a:stretch>
        </p:blipFill>
        <p:spPr>
          <a:xfrm>
            <a:off x="6704381" y="1995221"/>
            <a:ext cx="307238" cy="307238"/>
          </a:xfrm>
          <a:prstGeom prst="rect">
            <a:avLst/>
          </a:prstGeom>
        </p:spPr>
      </p:pic>
      <p:sp>
        <p:nvSpPr>
          <p:cNvPr id="12" name="Text 8"/>
          <p:cNvSpPr/>
          <p:nvPr/>
        </p:nvSpPr>
        <p:spPr>
          <a:xfrm>
            <a:off x="7360920" y="1874520"/>
            <a:ext cx="4069080" cy="457200"/>
          </a:xfrm>
          <a:prstGeom prst="rect">
            <a:avLst/>
          </a:prstGeom>
          <a:noFill/>
          <a:ln/>
        </p:spPr>
        <p:txBody>
          <a:bodyPr wrap="square" rtlCol="0" anchor="ctr"/>
          <a:lstStyle/>
          <a:p>
            <a:pPr indent="0" marL="0">
              <a:buNone/>
            </a:pPr>
            <a:r>
              <a:rPr lang="en-US" sz="1600" b="1" dirty="0">
                <a:solidFill>
                  <a:srgbClr val="013A40"/>
                </a:solidFill>
                <a:latin typeface="Cambria" pitchFamily="34" charset="0"/>
                <a:ea typeface="Cambria" pitchFamily="34" charset="-122"/>
                <a:cs typeface="Cambria" pitchFamily="34" charset="-120"/>
              </a:rPr>
              <a:t>Individualist Cultures</a:t>
            </a:r>
            <a:endParaRPr lang="en-US" sz="1600" dirty="0"/>
          </a:p>
        </p:txBody>
      </p:sp>
      <p:sp>
        <p:nvSpPr>
          <p:cNvPr id="13" name="Text 9"/>
          <p:cNvSpPr/>
          <p:nvPr/>
        </p:nvSpPr>
        <p:spPr>
          <a:xfrm>
            <a:off x="6537960" y="2606040"/>
            <a:ext cx="4892040" cy="777240"/>
          </a:xfrm>
          <a:prstGeom prst="rect">
            <a:avLst/>
          </a:prstGeom>
          <a:noFill/>
          <a:ln/>
        </p:spPr>
        <p:txBody>
          <a:bodyPr wrap="square" rtlCol="0" anchor="t"/>
          <a:lstStyle/>
          <a:p>
            <a:pPr indent="0" marL="0">
              <a:lnSpc>
                <a:spcPct val="115000"/>
              </a:lnSpc>
              <a:buNone/>
            </a:pPr>
            <a:r>
              <a:rPr lang="en-US" sz="1200" dirty="0">
                <a:solidFill>
                  <a:srgbClr val="1F2937"/>
                </a:solidFill>
                <a:latin typeface="Calibri" pitchFamily="34" charset="0"/>
                <a:ea typeface="Calibri" pitchFamily="34" charset="-122"/>
                <a:cs typeface="Calibri" pitchFamily="34" charset="-120"/>
              </a:rPr>
              <a:t>Personal achievement and self-expression are emphasized, so anxiety tends to center on self-presentation and being personally judged or evaluated.</a:t>
            </a:r>
            <a:endParaRPr lang="en-US" sz="1200" dirty="0"/>
          </a:p>
        </p:txBody>
      </p:sp>
      <p:sp>
        <p:nvSpPr>
          <p:cNvPr id="14" name="Shape 10"/>
          <p:cNvSpPr/>
          <p:nvPr/>
        </p:nvSpPr>
        <p:spPr>
          <a:xfrm>
            <a:off x="457200" y="3749040"/>
            <a:ext cx="10332720" cy="1737360"/>
          </a:xfrm>
          <a:prstGeom prst="roundRect">
            <a:avLst>
              <a:gd name="adj" fmla="val 5263"/>
            </a:avLst>
          </a:prstGeom>
          <a:solidFill>
            <a:srgbClr val="013A40"/>
          </a:solidFill>
          <a:ln/>
        </p:spPr>
      </p:sp>
      <p:sp>
        <p:nvSpPr>
          <p:cNvPr id="15" name="Text 11"/>
          <p:cNvSpPr/>
          <p:nvPr/>
        </p:nvSpPr>
        <p:spPr>
          <a:xfrm>
            <a:off x="777240" y="3931920"/>
            <a:ext cx="969264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Expression varies too</a:t>
            </a:r>
            <a:endParaRPr lang="en-US" sz="1500" dirty="0"/>
          </a:p>
        </p:txBody>
      </p:sp>
      <p:sp>
        <p:nvSpPr>
          <p:cNvPr id="16" name="Text 12"/>
          <p:cNvSpPr/>
          <p:nvPr/>
        </p:nvSpPr>
        <p:spPr>
          <a:xfrm>
            <a:off x="777240" y="4343400"/>
            <a:ext cx="9692640" cy="1005840"/>
          </a:xfrm>
          <a:prstGeom prst="rect">
            <a:avLst/>
          </a:prstGeom>
          <a:noFill/>
          <a:ln/>
        </p:spPr>
        <p:txBody>
          <a:bodyPr wrap="square" rtlCol="0" anchor="ctr"/>
          <a:lstStyle/>
          <a:p>
            <a:pPr indent="0" marL="0">
              <a:lnSpc>
                <a:spcPct val="120000"/>
              </a:lnSpc>
              <a:buNone/>
            </a:pPr>
            <a:r>
              <a:rPr lang="en-US" sz="1250" dirty="0">
                <a:solidFill>
                  <a:srgbClr val="F2F9F8"/>
                </a:solidFill>
                <a:latin typeface="Calibri" pitchFamily="34" charset="0"/>
                <a:ea typeface="Calibri" pitchFamily="34" charset="-122"/>
                <a:cs typeface="Calibri" pitchFamily="34" charset="-120"/>
              </a:rPr>
              <a:t>Even within the same underlying disorder, how people communicate their distress differs by culture — some verbally describe fear and worry, while others express anxiety mainly through physical symptoms, without ever naming the emotional experience behind them.</a:t>
            </a:r>
            <a:endParaRPr lang="en-US" sz="1250" dirty="0"/>
          </a:p>
        </p:txBody>
      </p:sp>
      <p:sp>
        <p:nvSpPr>
          <p:cNvPr id="17" name="Text 13"/>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Overview • Cultural approach</a:t>
            </a:r>
            <a:endParaRPr lang="en-US" sz="1100" dirty="0"/>
          </a:p>
        </p:txBody>
      </p:sp>
      <p:sp>
        <p:nvSpPr>
          <p:cNvPr id="18" name="Text 14"/>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Cultural Differences: SAD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515600" cy="548640"/>
          </a:xfrm>
          <a:prstGeom prst="rect">
            <a:avLst/>
          </a:prstGeom>
          <a:noFill/>
          <a:ln/>
        </p:spPr>
        <p:txBody>
          <a:bodyPr wrap="square" rtlCol="0" anchor="ctr"/>
          <a:lstStyle/>
          <a:p>
            <a:pPr indent="0" marL="0">
              <a:buNone/>
            </a:pPr>
            <a:r>
              <a:rPr lang="en-US" sz="3000" b="1" dirty="0">
                <a:solidFill>
                  <a:srgbClr val="013A40"/>
                </a:solidFill>
                <a:latin typeface="Cambria" pitchFamily="34" charset="0"/>
                <a:ea typeface="Cambria" pitchFamily="34" charset="-122"/>
                <a:cs typeface="Cambria" pitchFamily="34" charset="-120"/>
              </a:rPr>
              <a:t>Hikikomori in Japan</a:t>
            </a:r>
            <a:endParaRPr lang="en-US" sz="30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350" i="1" dirty="0">
                <a:solidFill>
                  <a:srgbClr val="5B6B70"/>
                </a:solidFill>
                <a:latin typeface="Calibri" pitchFamily="34" charset="0"/>
                <a:ea typeface="Calibri" pitchFamily="34" charset="-122"/>
                <a:cs typeface="Calibri" pitchFamily="34" charset="-120"/>
              </a:rPr>
              <a:t>"Pulling inward, being confined" — a culturally rooted pattern of extreme withdrawal</a:t>
            </a:r>
            <a:endParaRPr lang="en-US" sz="1350" dirty="0"/>
          </a:p>
        </p:txBody>
      </p:sp>
      <p:sp>
        <p:nvSpPr>
          <p:cNvPr id="4" name="Shape 2"/>
          <p:cNvSpPr/>
          <p:nvPr/>
        </p:nvSpPr>
        <p:spPr>
          <a:xfrm>
            <a:off x="457200" y="1508760"/>
            <a:ext cx="731520" cy="731520"/>
          </a:xfrm>
          <a:prstGeom prst="ellipse">
            <a:avLst/>
          </a:prstGeom>
          <a:solidFill>
            <a:srgbClr val="028090"/>
          </a:solidFill>
          <a:ln/>
        </p:spPr>
      </p:sp>
      <p:pic>
        <p:nvPicPr>
          <p:cNvPr id="5" name="Image 0" descr="icons/door.png">    </p:cNvPr>
          <p:cNvPicPr>
            <a:picLocks noChangeAspect="1"/>
          </p:cNvPicPr>
          <p:nvPr/>
        </p:nvPicPr>
        <p:blipFill>
          <a:blip r:embed="rId1"/>
          <a:stretch>
            <a:fillRect/>
          </a:stretch>
        </p:blipFill>
        <p:spPr>
          <a:xfrm>
            <a:off x="647395" y="1698955"/>
            <a:ext cx="351130" cy="351130"/>
          </a:xfrm>
          <a:prstGeom prst="rect">
            <a:avLst/>
          </a:prstGeom>
        </p:spPr>
      </p:pic>
      <p:sp>
        <p:nvSpPr>
          <p:cNvPr id="6" name="Text 3"/>
          <p:cNvSpPr/>
          <p:nvPr/>
        </p:nvSpPr>
        <p:spPr>
          <a:xfrm>
            <a:off x="1280160" y="1463040"/>
            <a:ext cx="10332720" cy="1737360"/>
          </a:xfrm>
          <a:prstGeom prst="rect">
            <a:avLst/>
          </a:prstGeom>
          <a:noFill/>
          <a:ln/>
        </p:spPr>
        <p:txBody>
          <a:bodyPr wrap="square" rtlCol="0" anchor="t"/>
          <a:lstStyle/>
          <a:p>
            <a:pPr indent="0" marL="0">
              <a:lnSpc>
                <a:spcPct val="118000"/>
              </a:lnSpc>
              <a:buNone/>
            </a:pPr>
            <a:r>
              <a:rPr lang="en-US" sz="1400" b="1" dirty="0">
                <a:solidFill>
                  <a:srgbClr val="013A40"/>
                </a:solidFill>
                <a:latin typeface="Calibri" pitchFamily="34" charset="0"/>
                <a:ea typeface="Calibri" pitchFamily="34" charset="-122"/>
                <a:cs typeface="Calibri" pitchFamily="34" charset="-120"/>
              </a:rPr>
              <a:t>What it looks like
</a:t>
            </a:r>
            <a:r>
              <a:rPr lang="en-US" sz="1200" dirty="0">
                <a:solidFill>
                  <a:srgbClr val="1F2937"/>
                </a:solidFill>
                <a:latin typeface="Calibri" pitchFamily="34" charset="0"/>
                <a:ea typeface="Calibri" pitchFamily="34" charset="-122"/>
                <a:cs typeface="Calibri" pitchFamily="34" charset="-120"/>
              </a:rPr>
              <a:t>Hikikomori involves withdrawing from social life and fearing face-to-face interaction — some individuals stay in their rooms for years, avoiding contact even with their own parents. Onset typically occurs in adolescence or early adulthood, and most hikikomori are adult males. Its rise in Japan has tracked closely with growing internet and social media access. Teo et al. (2015) proposed that social anxiety disorder and related anxiety disorders may act as a trigger.</a:t>
            </a:r>
            <a:endParaRPr lang="en-US" sz="1400" dirty="0"/>
          </a:p>
        </p:txBody>
      </p:sp>
      <p:sp>
        <p:nvSpPr>
          <p:cNvPr id="7" name="Shape 4"/>
          <p:cNvSpPr/>
          <p:nvPr/>
        </p:nvSpPr>
        <p:spPr>
          <a:xfrm>
            <a:off x="457200" y="3429000"/>
            <a:ext cx="3474720" cy="1463040"/>
          </a:xfrm>
          <a:prstGeom prst="roundRect">
            <a:avLst>
              <a:gd name="adj" fmla="val 6250"/>
            </a:avLst>
          </a:prstGeom>
          <a:solidFill>
            <a:srgbClr val="00A896"/>
          </a:solidFill>
          <a:ln/>
        </p:spPr>
      </p:sp>
      <p:sp>
        <p:nvSpPr>
          <p:cNvPr id="8" name="Text 5"/>
          <p:cNvSpPr/>
          <p:nvPr/>
        </p:nvSpPr>
        <p:spPr>
          <a:xfrm>
            <a:off x="457200" y="3520440"/>
            <a:ext cx="3474720" cy="64008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6+ mo.</a:t>
            </a:r>
            <a:endParaRPr lang="en-US" sz="2800" dirty="0"/>
          </a:p>
        </p:txBody>
      </p:sp>
      <p:sp>
        <p:nvSpPr>
          <p:cNvPr id="9" name="Text 6"/>
          <p:cNvSpPr/>
          <p:nvPr/>
        </p:nvSpPr>
        <p:spPr>
          <a:xfrm>
            <a:off x="640080" y="4160520"/>
            <a:ext cx="3108960" cy="640080"/>
          </a:xfrm>
          <a:prstGeom prst="rect">
            <a:avLst/>
          </a:prstGeom>
          <a:noFill/>
          <a:ln/>
        </p:spPr>
        <p:txBody>
          <a:bodyPr wrap="square" rtlCol="0" anchor="ctr"/>
          <a:lstStyle/>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minimum duration of withdrawal</a:t>
            </a:r>
            <a:endParaRPr lang="en-US" sz="1050" dirty="0"/>
          </a:p>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for diagnosis (Hamasaki et al., 2021)</a:t>
            </a:r>
            <a:endParaRPr lang="en-US" sz="1050" dirty="0"/>
          </a:p>
        </p:txBody>
      </p:sp>
      <p:sp>
        <p:nvSpPr>
          <p:cNvPr id="10" name="Shape 7"/>
          <p:cNvSpPr/>
          <p:nvPr/>
        </p:nvSpPr>
        <p:spPr>
          <a:xfrm>
            <a:off x="4206240" y="3429000"/>
            <a:ext cx="3474720" cy="1463040"/>
          </a:xfrm>
          <a:prstGeom prst="roundRect">
            <a:avLst>
              <a:gd name="adj" fmla="val 6250"/>
            </a:avLst>
          </a:prstGeom>
          <a:solidFill>
            <a:srgbClr val="00A896"/>
          </a:solidFill>
          <a:ln/>
        </p:spPr>
      </p:sp>
      <p:sp>
        <p:nvSpPr>
          <p:cNvPr id="11" name="Text 8"/>
          <p:cNvSpPr/>
          <p:nvPr/>
        </p:nvSpPr>
        <p:spPr>
          <a:xfrm>
            <a:off x="4206240" y="3520440"/>
            <a:ext cx="3474720" cy="64008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1.2%</a:t>
            </a:r>
            <a:endParaRPr lang="en-US" sz="2800" dirty="0"/>
          </a:p>
        </p:txBody>
      </p:sp>
      <p:sp>
        <p:nvSpPr>
          <p:cNvPr id="12" name="Text 9"/>
          <p:cNvSpPr/>
          <p:nvPr/>
        </p:nvSpPr>
        <p:spPr>
          <a:xfrm>
            <a:off x="4389120" y="4160520"/>
            <a:ext cx="3108960" cy="640080"/>
          </a:xfrm>
          <a:prstGeom prst="rect">
            <a:avLst/>
          </a:prstGeom>
          <a:noFill/>
          <a:ln/>
        </p:spPr>
        <p:txBody>
          <a:bodyPr wrap="square" rtlCol="0" anchor="ctr"/>
          <a:lstStyle/>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lifetime prevalence among</a:t>
            </a:r>
            <a:endParaRPr lang="en-US" sz="1050" dirty="0"/>
          </a:p>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young adults in Japan (Koyama et al., 2010)</a:t>
            </a:r>
            <a:endParaRPr lang="en-US" sz="1050" dirty="0"/>
          </a:p>
        </p:txBody>
      </p:sp>
      <p:sp>
        <p:nvSpPr>
          <p:cNvPr id="13" name="Shape 10"/>
          <p:cNvSpPr/>
          <p:nvPr/>
        </p:nvSpPr>
        <p:spPr>
          <a:xfrm>
            <a:off x="7955280" y="3429000"/>
            <a:ext cx="3474720" cy="1463040"/>
          </a:xfrm>
          <a:prstGeom prst="roundRect">
            <a:avLst>
              <a:gd name="adj" fmla="val 6250"/>
            </a:avLst>
          </a:prstGeom>
          <a:solidFill>
            <a:srgbClr val="00A896"/>
          </a:solidFill>
          <a:ln/>
        </p:spPr>
      </p:sp>
      <p:sp>
        <p:nvSpPr>
          <p:cNvPr id="14" name="Text 11"/>
          <p:cNvSpPr/>
          <p:nvPr/>
        </p:nvSpPr>
        <p:spPr>
          <a:xfrm>
            <a:off x="7955280" y="3520440"/>
            <a:ext cx="3474720" cy="64008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2022</a:t>
            </a:r>
            <a:endParaRPr lang="en-US" sz="2800" dirty="0"/>
          </a:p>
        </p:txBody>
      </p:sp>
      <p:sp>
        <p:nvSpPr>
          <p:cNvPr id="15" name="Text 12"/>
          <p:cNvSpPr/>
          <p:nvPr/>
        </p:nvSpPr>
        <p:spPr>
          <a:xfrm>
            <a:off x="8138160" y="4160520"/>
            <a:ext cx="3108960" cy="640080"/>
          </a:xfrm>
          <a:prstGeom prst="rect">
            <a:avLst/>
          </a:prstGeom>
          <a:noFill/>
          <a:ln/>
        </p:spPr>
        <p:txBody>
          <a:bodyPr wrap="square" rtlCol="0" anchor="ctr"/>
          <a:lstStyle/>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added to the DSM-5-TR's</a:t>
            </a:r>
            <a:endParaRPr lang="en-US" sz="1050" dirty="0"/>
          </a:p>
          <a:p>
            <a:pPr algn="ctr" indent="0" marL="0">
              <a:lnSpc>
                <a:spcPct val="110000"/>
              </a:lnSpc>
              <a:buNone/>
            </a:pPr>
            <a:r>
              <a:rPr lang="en-US" sz="1050" dirty="0">
                <a:solidFill>
                  <a:srgbClr val="FFFFFF"/>
                </a:solidFill>
                <a:latin typeface="Calibri" pitchFamily="34" charset="0"/>
                <a:ea typeface="Calibri" pitchFamily="34" charset="-122"/>
                <a:cs typeface="Calibri" pitchFamily="34" charset="-120"/>
              </a:rPr>
              <a:t>Culture and Psychiatric Diagnosis section</a:t>
            </a:r>
            <a:endParaRPr lang="en-US" sz="1050" dirty="0"/>
          </a:p>
        </p:txBody>
      </p:sp>
      <p:sp>
        <p:nvSpPr>
          <p:cNvPr id="16" name="Text 13"/>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Cultural factors • Hikikomori</a:t>
            </a:r>
            <a:endParaRPr lang="en-US" sz="1100" dirty="0"/>
          </a:p>
        </p:txBody>
      </p:sp>
      <p:sp>
        <p:nvSpPr>
          <p:cNvPr id="17" name="Text 14"/>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Cultural Differences: SAD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20040"/>
            <a:ext cx="10515600" cy="548640"/>
          </a:xfrm>
          <a:prstGeom prst="rect">
            <a:avLst/>
          </a:prstGeom>
          <a:noFill/>
          <a:ln/>
        </p:spPr>
        <p:txBody>
          <a:bodyPr wrap="square" rtlCol="0" anchor="ctr"/>
          <a:lstStyle/>
          <a:p>
            <a:pPr indent="0" marL="0">
              <a:buNone/>
            </a:pPr>
            <a:r>
              <a:rPr lang="en-US" sz="2800" b="1" dirty="0">
                <a:solidFill>
                  <a:srgbClr val="013A40"/>
                </a:solidFill>
                <a:latin typeface="Cambria" pitchFamily="34" charset="0"/>
                <a:ea typeface="Cambria" pitchFamily="34" charset="-122"/>
                <a:cs typeface="Cambria" pitchFamily="34" charset="-120"/>
              </a:rPr>
              <a:t>Is Hikikomori the Same as SAD?</a:t>
            </a:r>
            <a:endParaRPr lang="en-US" sz="2800" dirty="0"/>
          </a:p>
        </p:txBody>
      </p:sp>
      <p:sp>
        <p:nvSpPr>
          <p:cNvPr id="3" name="Text 1"/>
          <p:cNvSpPr/>
          <p:nvPr/>
        </p:nvSpPr>
        <p:spPr>
          <a:xfrm>
            <a:off x="457200" y="822960"/>
            <a:ext cx="10515600" cy="365760"/>
          </a:xfrm>
          <a:prstGeom prst="rect">
            <a:avLst/>
          </a:prstGeom>
          <a:noFill/>
          <a:ln/>
        </p:spPr>
        <p:txBody>
          <a:bodyPr wrap="square" rtlCol="0" anchor="ctr"/>
          <a:lstStyle/>
          <a:p>
            <a:pPr indent="0" marL="0">
              <a:buNone/>
            </a:pPr>
            <a:r>
              <a:rPr lang="en-US" sz="1350" i="1" dirty="0">
                <a:solidFill>
                  <a:srgbClr val="5B6B70"/>
                </a:solidFill>
                <a:latin typeface="Calibri" pitchFamily="34" charset="0"/>
                <a:ea typeface="Calibri" pitchFamily="34" charset="-122"/>
                <a:cs typeface="Calibri" pitchFamily="34" charset="-120"/>
              </a:rPr>
              <a:t>Comparing the two against the DSM-5 criteria for Social Anxiety Disorder</a:t>
            </a:r>
            <a:endParaRPr lang="en-US" sz="1350" dirty="0"/>
          </a:p>
        </p:txBody>
      </p:sp>
      <p:sp>
        <p:nvSpPr>
          <p:cNvPr id="4" name="Shape 2"/>
          <p:cNvSpPr/>
          <p:nvPr/>
        </p:nvSpPr>
        <p:spPr>
          <a:xfrm>
            <a:off x="457200" y="1280160"/>
            <a:ext cx="10332720" cy="1417320"/>
          </a:xfrm>
          <a:prstGeom prst="roundRect">
            <a:avLst>
              <a:gd name="adj" fmla="val 5161"/>
            </a:avLst>
          </a:prstGeom>
          <a:solidFill>
            <a:srgbClr val="013A40"/>
          </a:solidFill>
          <a:ln/>
        </p:spPr>
      </p:sp>
      <p:sp>
        <p:nvSpPr>
          <p:cNvPr id="5" name="Text 3"/>
          <p:cNvSpPr/>
          <p:nvPr/>
        </p:nvSpPr>
        <p:spPr>
          <a:xfrm>
            <a:off x="685800" y="1371600"/>
            <a:ext cx="9875520" cy="274320"/>
          </a:xfrm>
          <a:prstGeom prst="rect">
            <a:avLst/>
          </a:prstGeom>
          <a:noFill/>
          <a:ln/>
        </p:spPr>
        <p:txBody>
          <a:bodyPr wrap="square" rtlCol="0" anchor="ctr"/>
          <a:lstStyle/>
          <a:p>
            <a:pPr indent="0" marL="0">
              <a:buNone/>
            </a:pPr>
            <a:r>
              <a:rPr lang="en-US" sz="1050" b="1" spc="100" kern="0" dirty="0">
                <a:solidFill>
                  <a:srgbClr val="02C39A"/>
                </a:solidFill>
                <a:latin typeface="Calibri" pitchFamily="34" charset="0"/>
                <a:ea typeface="Calibri" pitchFamily="34" charset="-122"/>
                <a:cs typeface="Calibri" pitchFamily="34" charset="-120"/>
              </a:rPr>
              <a:t>DSM-5 criteria for SAD (abridged)</a:t>
            </a:r>
            <a:endParaRPr lang="en-US" sz="1050" dirty="0"/>
          </a:p>
        </p:txBody>
      </p:sp>
      <p:sp>
        <p:nvSpPr>
          <p:cNvPr id="6" name="Text 4"/>
          <p:cNvSpPr/>
          <p:nvPr/>
        </p:nvSpPr>
        <p:spPr>
          <a:xfrm>
            <a:off x="685800" y="1691640"/>
            <a:ext cx="9875520" cy="914400"/>
          </a:xfrm>
          <a:prstGeom prst="rect">
            <a:avLst/>
          </a:prstGeom>
          <a:noFill/>
          <a:ln/>
        </p:spPr>
        <p:txBody>
          <a:bodyPr wrap="square" rtlCol="0" anchor="ctr"/>
          <a:lstStyle/>
          <a:p>
            <a:pPr indent="0" marL="0">
              <a:lnSpc>
                <a:spcPct val="120000"/>
              </a:lnSpc>
              <a:buNone/>
            </a:pPr>
            <a:r>
              <a:rPr lang="en-US" sz="1150" dirty="0">
                <a:solidFill>
                  <a:srgbClr val="FFFFFF"/>
                </a:solidFill>
                <a:latin typeface="Calibri" pitchFamily="34" charset="0"/>
                <a:ea typeface="Calibri" pitchFamily="34" charset="-122"/>
                <a:cs typeface="Calibri" pitchFamily="34" charset="-120"/>
              </a:rPr>
              <a:t>Persistent fear of judgment in social situations  •  avoidance or intense distress when facing them  •  a reaction disproportionate to the actual threat  •  significant interference with daily life  •  not better explained by another condition</a:t>
            </a:r>
            <a:endParaRPr lang="en-US" sz="1150" dirty="0"/>
          </a:p>
        </p:txBody>
      </p:sp>
      <p:sp>
        <p:nvSpPr>
          <p:cNvPr id="7" name="Shape 5"/>
          <p:cNvSpPr/>
          <p:nvPr/>
        </p:nvSpPr>
        <p:spPr>
          <a:xfrm>
            <a:off x="457200" y="2880360"/>
            <a:ext cx="5440680" cy="2880360"/>
          </a:xfrm>
          <a:prstGeom prst="roundRect">
            <a:avLst>
              <a:gd name="adj" fmla="val 3175"/>
            </a:avLst>
          </a:prstGeom>
          <a:solidFill>
            <a:srgbClr val="FFFFFF"/>
          </a:solidFill>
          <a:ln w="19050">
            <a:solidFill>
              <a:srgbClr val="00A896"/>
            </a:solidFill>
            <a:prstDash val="solid"/>
          </a:ln>
        </p:spPr>
      </p:sp>
      <p:sp>
        <p:nvSpPr>
          <p:cNvPr id="8" name="Text 6"/>
          <p:cNvSpPr/>
          <p:nvPr/>
        </p:nvSpPr>
        <p:spPr>
          <a:xfrm>
            <a:off x="685800" y="3017520"/>
            <a:ext cx="4983480" cy="365760"/>
          </a:xfrm>
          <a:prstGeom prst="rect">
            <a:avLst/>
          </a:prstGeom>
          <a:noFill/>
          <a:ln/>
        </p:spPr>
        <p:txBody>
          <a:bodyPr wrap="square" rtlCol="0" anchor="ctr"/>
          <a:lstStyle/>
          <a:p>
            <a:pPr indent="0" marL="0">
              <a:buNone/>
            </a:pPr>
            <a:r>
              <a:rPr lang="en-US" sz="1450" b="1" dirty="0">
                <a:solidFill>
                  <a:srgbClr val="00A896"/>
                </a:solidFill>
                <a:latin typeface="Cambria" pitchFamily="34" charset="0"/>
                <a:ea typeface="Cambria" pitchFamily="34" charset="-122"/>
                <a:cs typeface="Cambria" pitchFamily="34" charset="-120"/>
              </a:rPr>
              <a:t>Where They Overlap</a:t>
            </a:r>
            <a:endParaRPr lang="en-US" sz="1450" dirty="0"/>
          </a:p>
        </p:txBody>
      </p:sp>
      <p:sp>
        <p:nvSpPr>
          <p:cNvPr id="9" name="Text 7"/>
          <p:cNvSpPr/>
          <p:nvPr/>
        </p:nvSpPr>
        <p:spPr>
          <a:xfrm>
            <a:off x="685800" y="3474720"/>
            <a:ext cx="4983480" cy="77724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Both can involve a strong fear of judgment, embarrassment, or failure in front of others.</a:t>
            </a:r>
            <a:endParaRPr lang="en-US" sz="1100" dirty="0"/>
          </a:p>
        </p:txBody>
      </p:sp>
      <p:sp>
        <p:nvSpPr>
          <p:cNvPr id="10" name="Text 8"/>
          <p:cNvSpPr/>
          <p:nvPr/>
        </p:nvSpPr>
        <p:spPr>
          <a:xfrm>
            <a:off x="685800" y="4251960"/>
            <a:ext cx="4983480" cy="77724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Social withdrawal is a common coping response to anxiety in both patterns.</a:t>
            </a:r>
            <a:endParaRPr lang="en-US" sz="1100" dirty="0"/>
          </a:p>
        </p:txBody>
      </p:sp>
      <p:sp>
        <p:nvSpPr>
          <p:cNvPr id="11" name="Text 9"/>
          <p:cNvSpPr/>
          <p:nvPr/>
        </p:nvSpPr>
        <p:spPr>
          <a:xfrm>
            <a:off x="685800" y="5029200"/>
            <a:ext cx="4983480" cy="77724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Some hikikomori individuals do show symptoms consistent with SAD.</a:t>
            </a:r>
            <a:endParaRPr lang="en-US" sz="1100" dirty="0"/>
          </a:p>
        </p:txBody>
      </p:sp>
      <p:sp>
        <p:nvSpPr>
          <p:cNvPr id="12" name="Shape 10"/>
          <p:cNvSpPr/>
          <p:nvPr/>
        </p:nvSpPr>
        <p:spPr>
          <a:xfrm>
            <a:off x="6263640" y="2880360"/>
            <a:ext cx="5440680" cy="2880360"/>
          </a:xfrm>
          <a:prstGeom prst="roundRect">
            <a:avLst>
              <a:gd name="adj" fmla="val 3175"/>
            </a:avLst>
          </a:prstGeom>
          <a:solidFill>
            <a:srgbClr val="FFFFFF"/>
          </a:solidFill>
          <a:ln w="19050">
            <a:solidFill>
              <a:srgbClr val="028090"/>
            </a:solidFill>
            <a:prstDash val="solid"/>
          </a:ln>
        </p:spPr>
      </p:sp>
      <p:sp>
        <p:nvSpPr>
          <p:cNvPr id="13" name="Text 11"/>
          <p:cNvSpPr/>
          <p:nvPr/>
        </p:nvSpPr>
        <p:spPr>
          <a:xfrm>
            <a:off x="6492240" y="3017520"/>
            <a:ext cx="4983480" cy="365760"/>
          </a:xfrm>
          <a:prstGeom prst="rect">
            <a:avLst/>
          </a:prstGeom>
          <a:noFill/>
          <a:ln/>
        </p:spPr>
        <p:txBody>
          <a:bodyPr wrap="square" rtlCol="0" anchor="ctr"/>
          <a:lstStyle/>
          <a:p>
            <a:pPr indent="0" marL="0">
              <a:buNone/>
            </a:pPr>
            <a:r>
              <a:rPr lang="en-US" sz="1450" b="1" dirty="0">
                <a:solidFill>
                  <a:srgbClr val="028090"/>
                </a:solidFill>
                <a:latin typeface="Cambria" pitchFamily="34" charset="0"/>
                <a:ea typeface="Cambria" pitchFamily="34" charset="-122"/>
                <a:cs typeface="Cambria" pitchFamily="34" charset="-120"/>
              </a:rPr>
              <a:t>Where They Differ</a:t>
            </a:r>
            <a:endParaRPr lang="en-US" sz="1450" dirty="0"/>
          </a:p>
        </p:txBody>
      </p:sp>
      <p:sp>
        <p:nvSpPr>
          <p:cNvPr id="14" name="Text 12"/>
          <p:cNvSpPr/>
          <p:nvPr/>
        </p:nvSpPr>
        <p:spPr>
          <a:xfrm>
            <a:off x="6492240" y="3474720"/>
            <a:ext cx="4983480" cy="77724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Hikikomori means near-total withdrawal from all social contact, sometimes for years; people with SAD usually still engage, with distress.</a:t>
            </a:r>
            <a:endParaRPr lang="en-US" sz="1100" dirty="0"/>
          </a:p>
        </p:txBody>
      </p:sp>
      <p:sp>
        <p:nvSpPr>
          <p:cNvPr id="15" name="Text 13"/>
          <p:cNvSpPr/>
          <p:nvPr/>
        </p:nvSpPr>
        <p:spPr>
          <a:xfrm>
            <a:off x="6492240" y="4251960"/>
            <a:ext cx="4983480" cy="77724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Hikikomori is tied to specific cultural and economic pressures (e.g. academic pressure in Japan); SAD is recognized across cultures.</a:t>
            </a:r>
            <a:endParaRPr lang="en-US" sz="1100" dirty="0"/>
          </a:p>
        </p:txBody>
      </p:sp>
      <p:sp>
        <p:nvSpPr>
          <p:cNvPr id="16" name="Text 14"/>
          <p:cNvSpPr/>
          <p:nvPr/>
        </p:nvSpPr>
        <p:spPr>
          <a:xfrm>
            <a:off x="6492240" y="5029200"/>
            <a:ext cx="4983480" cy="77724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Hikikomori often reflects family dynamics and societal expectations; SAD is rooted more in individual cognitive and emotional patterns.</a:t>
            </a:r>
            <a:endParaRPr lang="en-US" sz="1100" dirty="0"/>
          </a:p>
        </p:txBody>
      </p:sp>
      <p:sp>
        <p:nvSpPr>
          <p:cNvPr id="17" name="Text 15"/>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Cultural factors • Diagnostic comparison</a:t>
            </a:r>
            <a:endParaRPr lang="en-US" sz="1100" dirty="0"/>
          </a:p>
        </p:txBody>
      </p:sp>
      <p:sp>
        <p:nvSpPr>
          <p:cNvPr id="18" name="Text 16"/>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Cultural Differences: SAD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515600" cy="548640"/>
          </a:xfrm>
          <a:prstGeom prst="rect">
            <a:avLst/>
          </a:prstGeom>
          <a:noFill/>
          <a:ln/>
        </p:spPr>
        <p:txBody>
          <a:bodyPr wrap="square" rtlCol="0" anchor="ctr"/>
          <a:lstStyle/>
          <a:p>
            <a:pPr indent="0" marL="0">
              <a:buNone/>
            </a:pPr>
            <a:r>
              <a:rPr lang="en-US" sz="2800" b="1" dirty="0">
                <a:solidFill>
                  <a:srgbClr val="013A40"/>
                </a:solidFill>
                <a:latin typeface="Cambria" pitchFamily="34" charset="0"/>
                <a:ea typeface="Cambria" pitchFamily="34" charset="-122"/>
                <a:cs typeface="Cambria" pitchFamily="34" charset="-120"/>
              </a:rPr>
              <a:t>Norasakkunkit &amp; Uchida (2014)</a:t>
            </a:r>
            <a:endParaRPr lang="en-US" sz="28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Testing an acculturation model of hikikomori risk</a:t>
            </a:r>
            <a:endParaRPr lang="en-US" sz="1400" dirty="0"/>
          </a:p>
        </p:txBody>
      </p:sp>
      <p:sp>
        <p:nvSpPr>
          <p:cNvPr id="4" name="Shape 2"/>
          <p:cNvSpPr/>
          <p:nvPr/>
        </p:nvSpPr>
        <p:spPr>
          <a:xfrm>
            <a:off x="457200" y="1508760"/>
            <a:ext cx="685800" cy="685800"/>
          </a:xfrm>
          <a:prstGeom prst="ellipse">
            <a:avLst/>
          </a:prstGeom>
          <a:solidFill>
            <a:srgbClr val="028090"/>
          </a:solidFill>
          <a:ln/>
        </p:spPr>
      </p:sp>
      <p:pic>
        <p:nvPicPr>
          <p:cNvPr id="5" name="Image 0" descr="icons/globe.png">    </p:cNvPr>
          <p:cNvPicPr>
            <a:picLocks noChangeAspect="1"/>
          </p:cNvPicPr>
          <p:nvPr/>
        </p:nvPicPr>
        <p:blipFill>
          <a:blip r:embed="rId1"/>
          <a:stretch>
            <a:fillRect/>
          </a:stretch>
        </p:blipFill>
        <p:spPr>
          <a:xfrm>
            <a:off x="635508" y="1687068"/>
            <a:ext cx="329184" cy="329184"/>
          </a:xfrm>
          <a:prstGeom prst="rect">
            <a:avLst/>
          </a:prstGeom>
        </p:spPr>
      </p:pic>
      <p:sp>
        <p:nvSpPr>
          <p:cNvPr id="6" name="Text 3"/>
          <p:cNvSpPr/>
          <p:nvPr/>
        </p:nvSpPr>
        <p:spPr>
          <a:xfrm>
            <a:off x="1280160" y="1463040"/>
            <a:ext cx="10332720" cy="1371600"/>
          </a:xfrm>
          <a:prstGeom prst="rect">
            <a:avLst/>
          </a:prstGeom>
          <a:noFill/>
          <a:ln/>
        </p:spPr>
        <p:txBody>
          <a:bodyPr wrap="square" rtlCol="0" anchor="t"/>
          <a:lstStyle/>
          <a:p>
            <a:pPr indent="0" marL="0">
              <a:lnSpc>
                <a:spcPct val="118000"/>
              </a:lnSpc>
              <a:buNone/>
            </a:pPr>
            <a:r>
              <a:rPr lang="en-US" sz="1400" b="1" dirty="0">
                <a:solidFill>
                  <a:srgbClr val="013A40"/>
                </a:solidFill>
                <a:latin typeface="Calibri" pitchFamily="34" charset="0"/>
                <a:ea typeface="Calibri" pitchFamily="34" charset="-122"/>
                <a:cs typeface="Calibri" pitchFamily="34" charset="-120"/>
              </a:rPr>
              <a:t>The theory
</a:t>
            </a:r>
            <a:r>
              <a:rPr lang="en-US" sz="1200" dirty="0">
                <a:solidFill>
                  <a:srgbClr val="1F2937"/>
                </a:solidFill>
                <a:latin typeface="Calibri" pitchFamily="34" charset="0"/>
                <a:ea typeface="Calibri" pitchFamily="34" charset="-122"/>
                <a:cs typeface="Calibri" pitchFamily="34" charset="-120"/>
              </a:rPr>
              <a:t>Applying Berry and Sam's acculturation model, the researchers proposed that some Japanese youth feel caught between two worlds: they no longer see the benefit of the social harmony and conformity valued by Japanese society, yet they also don't feel they belong to a globalized, individualist culture. That in-between state can produce identity confusion and marginalization.</a:t>
            </a:r>
            <a:endParaRPr lang="en-US" sz="1400" dirty="0"/>
          </a:p>
        </p:txBody>
      </p:sp>
      <p:sp>
        <p:nvSpPr>
          <p:cNvPr id="7" name="Shape 4"/>
          <p:cNvSpPr/>
          <p:nvPr/>
        </p:nvSpPr>
        <p:spPr>
          <a:xfrm>
            <a:off x="457200" y="3063240"/>
            <a:ext cx="3291840" cy="1371600"/>
          </a:xfrm>
          <a:prstGeom prst="roundRect">
            <a:avLst>
              <a:gd name="adj" fmla="val 6667"/>
            </a:avLst>
          </a:prstGeom>
          <a:solidFill>
            <a:srgbClr val="00A896"/>
          </a:solidFill>
          <a:ln/>
        </p:spPr>
      </p:sp>
      <p:sp>
        <p:nvSpPr>
          <p:cNvPr id="8" name="Text 5"/>
          <p:cNvSpPr/>
          <p:nvPr/>
        </p:nvSpPr>
        <p:spPr>
          <a:xfrm>
            <a:off x="457200" y="3246120"/>
            <a:ext cx="3291840" cy="50292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Analogous</a:t>
            </a:r>
            <a:endParaRPr lang="en-US" sz="1500" dirty="0"/>
          </a:p>
          <a:p>
            <a:pPr algn="ctr" indent="0" marL="0">
              <a:buNone/>
            </a:pPr>
            <a:r>
              <a:rPr lang="en-US" sz="1500" b="1" dirty="0">
                <a:solidFill>
                  <a:srgbClr val="FFFFFF"/>
                </a:solidFill>
                <a:latin typeface="Cambria" pitchFamily="34" charset="0"/>
                <a:ea typeface="Cambria" pitchFamily="34" charset="-122"/>
                <a:cs typeface="Cambria" pitchFamily="34" charset="-120"/>
              </a:rPr>
              <a:t>sample</a:t>
            </a:r>
            <a:endParaRPr lang="en-US" sz="1500" dirty="0"/>
          </a:p>
        </p:txBody>
      </p:sp>
      <p:sp>
        <p:nvSpPr>
          <p:cNvPr id="9" name="Text 6"/>
          <p:cNvSpPr/>
          <p:nvPr/>
        </p:nvSpPr>
        <p:spPr>
          <a:xfrm>
            <a:off x="640080" y="3749040"/>
            <a:ext cx="2926080" cy="640080"/>
          </a:xfrm>
          <a:prstGeom prst="rect">
            <a:avLst/>
          </a:prstGeom>
          <a:noFill/>
          <a:ln/>
        </p:spPr>
        <p:txBody>
          <a:bodyPr wrap="square" rtlCol="0" anchor="ctr"/>
          <a:lstStyle/>
          <a:p>
            <a:pPr algn="ctr" indent="0" marL="0">
              <a:lnSpc>
                <a:spcPct val="110000"/>
              </a:lnSpc>
              <a:buNone/>
            </a:pPr>
            <a:r>
              <a:rPr lang="en-US" sz="1000" dirty="0">
                <a:solidFill>
                  <a:srgbClr val="FFFFFF"/>
                </a:solidFill>
                <a:latin typeface="Calibri" pitchFamily="34" charset="0"/>
                <a:ea typeface="Calibri" pitchFamily="34" charset="-122"/>
                <a:cs typeface="Calibri" pitchFamily="34" charset="-120"/>
              </a:rPr>
              <a:t>Japanese university students screened as high- or low-risk for hikikomori (not diagnosed cases)</a:t>
            </a:r>
            <a:endParaRPr lang="en-US" sz="1000" dirty="0"/>
          </a:p>
        </p:txBody>
      </p:sp>
      <p:sp>
        <p:nvSpPr>
          <p:cNvPr id="10" name="Shape 7"/>
          <p:cNvSpPr/>
          <p:nvPr/>
        </p:nvSpPr>
        <p:spPr>
          <a:xfrm>
            <a:off x="3931920" y="3063240"/>
            <a:ext cx="6858000" cy="2606040"/>
          </a:xfrm>
          <a:prstGeom prst="roundRect">
            <a:avLst>
              <a:gd name="adj" fmla="val 3509"/>
            </a:avLst>
          </a:prstGeom>
          <a:solidFill>
            <a:srgbClr val="013A40"/>
          </a:solidFill>
          <a:ln/>
        </p:spPr>
      </p:sp>
      <p:sp>
        <p:nvSpPr>
          <p:cNvPr id="11" name="Text 8"/>
          <p:cNvSpPr/>
          <p:nvPr/>
        </p:nvSpPr>
        <p:spPr>
          <a:xfrm>
            <a:off x="4206240" y="3200400"/>
            <a:ext cx="3657600" cy="274320"/>
          </a:xfrm>
          <a:prstGeom prst="rect">
            <a:avLst/>
          </a:prstGeom>
          <a:noFill/>
          <a:ln/>
        </p:spPr>
        <p:txBody>
          <a:bodyPr wrap="square" rtlCol="0" anchor="ctr"/>
          <a:lstStyle/>
          <a:p>
            <a:pPr indent="0" marL="0">
              <a:buNone/>
            </a:pPr>
            <a:r>
              <a:rPr lang="en-US" sz="1100" b="1" spc="150" kern="0" dirty="0">
                <a:solidFill>
                  <a:srgbClr val="02C39A"/>
                </a:solidFill>
                <a:latin typeface="Calibri" pitchFamily="34" charset="0"/>
                <a:ea typeface="Calibri" pitchFamily="34" charset="-122"/>
                <a:cs typeface="Calibri" pitchFamily="34" charset="-120"/>
              </a:rPr>
              <a:t>KEY FINDING</a:t>
            </a:r>
            <a:endParaRPr lang="en-US" sz="1100" dirty="0"/>
          </a:p>
        </p:txBody>
      </p:sp>
      <p:sp>
        <p:nvSpPr>
          <p:cNvPr id="12" name="Text 9"/>
          <p:cNvSpPr/>
          <p:nvPr/>
        </p:nvSpPr>
        <p:spPr>
          <a:xfrm>
            <a:off x="4206240" y="3520440"/>
            <a:ext cx="6400800" cy="2057400"/>
          </a:xfrm>
          <a:prstGeom prst="rect">
            <a:avLst/>
          </a:prstGeom>
          <a:noFill/>
          <a:ln/>
        </p:spPr>
        <p:txBody>
          <a:bodyPr wrap="square" rtlCol="0" anchor="ctr"/>
          <a:lstStyle/>
          <a:p>
            <a:pPr indent="0" marL="0">
              <a:lnSpc>
                <a:spcPct val="120000"/>
              </a:lnSpc>
              <a:buNone/>
            </a:pPr>
            <a:r>
              <a:rPr lang="en-US" sz="1150" dirty="0">
                <a:solidFill>
                  <a:srgbClr val="FFFFFF"/>
                </a:solidFill>
                <a:latin typeface="Calibri" pitchFamily="34" charset="0"/>
                <a:ea typeface="Calibri" pitchFamily="34" charset="-122"/>
                <a:cs typeface="Calibri" pitchFamily="34" charset="-120"/>
              </a:rPr>
              <a:t>Both groups agreed Japanese society highly values harmony and conformity. But high-risk students personally valued harmony-seeking much less than low-risk students did — for their current and ideal selves. High-risk students also scored lower on both local identity (Japanese collectivist values) and global identity (individualist values), suggesting they felt disconnected from both — and withdrew rather than resolve the conflict.</a:t>
            </a:r>
            <a:endParaRPr lang="en-US" sz="1150" dirty="0"/>
          </a:p>
        </p:txBody>
      </p:sp>
      <p:sp>
        <p:nvSpPr>
          <p:cNvPr id="13" name="Text 10"/>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Cultural factors • Acculturation model</a:t>
            </a:r>
            <a:endParaRPr lang="en-US" sz="1100" dirty="0"/>
          </a:p>
        </p:txBody>
      </p:sp>
      <p:sp>
        <p:nvSpPr>
          <p:cNvPr id="14" name="Text 11"/>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Cultural Differences: SAD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20040"/>
            <a:ext cx="10515600" cy="548640"/>
          </a:xfrm>
          <a:prstGeom prst="rect">
            <a:avLst/>
          </a:prstGeom>
          <a:noFill/>
          <a:ln/>
        </p:spPr>
        <p:txBody>
          <a:bodyPr wrap="square" rtlCol="0" anchor="ctr"/>
          <a:lstStyle/>
          <a:p>
            <a:pPr indent="0" marL="0">
              <a:buNone/>
            </a:pPr>
            <a:r>
              <a:rPr lang="en-US" sz="2600" b="1" dirty="0">
                <a:solidFill>
                  <a:srgbClr val="013A40"/>
                </a:solidFill>
                <a:latin typeface="Cambria" pitchFamily="34" charset="0"/>
                <a:ea typeface="Cambria" pitchFamily="34" charset="-122"/>
                <a:cs typeface="Cambria" pitchFamily="34" charset="-120"/>
              </a:rPr>
              <a:t>Hikikomori Outside Japan: Lin et al. (2020)</a:t>
            </a:r>
            <a:endParaRPr lang="en-US" sz="2600" dirty="0"/>
          </a:p>
        </p:txBody>
      </p:sp>
      <p:sp>
        <p:nvSpPr>
          <p:cNvPr id="3" name="Text 1"/>
          <p:cNvSpPr/>
          <p:nvPr/>
        </p:nvSpPr>
        <p:spPr>
          <a:xfrm>
            <a:off x="457200" y="822960"/>
            <a:ext cx="10515600" cy="365760"/>
          </a:xfrm>
          <a:prstGeom prst="rect">
            <a:avLst/>
          </a:prstGeom>
          <a:noFill/>
          <a:ln/>
        </p:spPr>
        <p:txBody>
          <a:bodyPr wrap="square" rtlCol="0" anchor="ctr"/>
          <a:lstStyle/>
          <a:p>
            <a:pPr indent="0" marL="0">
              <a:buNone/>
            </a:pPr>
            <a:r>
              <a:rPr lang="en-US" sz="1350" i="1" dirty="0">
                <a:solidFill>
                  <a:srgbClr val="5B6B70"/>
                </a:solidFill>
                <a:latin typeface="Calibri" pitchFamily="34" charset="0"/>
                <a:ea typeface="Calibri" pitchFamily="34" charset="-122"/>
                <a:cs typeface="Calibri" pitchFamily="34" charset="-120"/>
              </a:rPr>
              <a:t>A Singaporean study shows the pattern isn't fixed — economic policy reshapes it</a:t>
            </a:r>
            <a:endParaRPr lang="en-US" sz="1350" dirty="0"/>
          </a:p>
        </p:txBody>
      </p:sp>
      <p:sp>
        <p:nvSpPr>
          <p:cNvPr id="4" name="Shape 2"/>
          <p:cNvSpPr/>
          <p:nvPr/>
        </p:nvSpPr>
        <p:spPr>
          <a:xfrm>
            <a:off x="457200" y="1371600"/>
            <a:ext cx="3108960" cy="1280160"/>
          </a:xfrm>
          <a:prstGeom prst="roundRect">
            <a:avLst>
              <a:gd name="adj" fmla="val 7143"/>
            </a:avLst>
          </a:prstGeom>
          <a:solidFill>
            <a:srgbClr val="00A896"/>
          </a:solidFill>
          <a:ln/>
        </p:spPr>
      </p:sp>
      <p:sp>
        <p:nvSpPr>
          <p:cNvPr id="5" name="Text 3"/>
          <p:cNvSpPr/>
          <p:nvPr/>
        </p:nvSpPr>
        <p:spPr>
          <a:xfrm>
            <a:off x="457200" y="1444752"/>
            <a:ext cx="3108960" cy="59436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416</a:t>
            </a:r>
            <a:endParaRPr lang="en-US" sz="2600" dirty="0"/>
          </a:p>
        </p:txBody>
      </p:sp>
      <p:sp>
        <p:nvSpPr>
          <p:cNvPr id="6" name="Text 4"/>
          <p:cNvSpPr/>
          <p:nvPr/>
        </p:nvSpPr>
        <p:spPr>
          <a:xfrm>
            <a:off x="640080" y="2057400"/>
            <a:ext cx="2743200" cy="502920"/>
          </a:xfrm>
          <a:prstGeom prst="rect">
            <a:avLst/>
          </a:prstGeom>
          <a:noFill/>
          <a:ln/>
        </p:spPr>
        <p:txBody>
          <a:bodyPr wrap="square" rtlCol="0" anchor="ctr"/>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Singaporean</a:t>
            </a:r>
            <a:endParaRPr lang="en-US" sz="1050" dirty="0"/>
          </a:p>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participants</a:t>
            </a:r>
            <a:endParaRPr lang="en-US" sz="1050" dirty="0"/>
          </a:p>
        </p:txBody>
      </p:sp>
      <p:sp>
        <p:nvSpPr>
          <p:cNvPr id="7" name="Shape 5"/>
          <p:cNvSpPr/>
          <p:nvPr/>
        </p:nvSpPr>
        <p:spPr>
          <a:xfrm>
            <a:off x="3840480" y="1371600"/>
            <a:ext cx="3108960" cy="1280160"/>
          </a:xfrm>
          <a:prstGeom prst="roundRect">
            <a:avLst>
              <a:gd name="adj" fmla="val 7143"/>
            </a:avLst>
          </a:prstGeom>
          <a:solidFill>
            <a:srgbClr val="00A896"/>
          </a:solidFill>
          <a:ln/>
        </p:spPr>
      </p:sp>
      <p:sp>
        <p:nvSpPr>
          <p:cNvPr id="8" name="Text 6"/>
          <p:cNvSpPr/>
          <p:nvPr/>
        </p:nvSpPr>
        <p:spPr>
          <a:xfrm>
            <a:off x="3840480" y="1444752"/>
            <a:ext cx="3108960" cy="59436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NHR</a:t>
            </a:r>
            <a:endParaRPr lang="en-US" sz="2600" dirty="0"/>
          </a:p>
        </p:txBody>
      </p:sp>
      <p:sp>
        <p:nvSpPr>
          <p:cNvPr id="9" name="Text 7"/>
          <p:cNvSpPr/>
          <p:nvPr/>
        </p:nvSpPr>
        <p:spPr>
          <a:xfrm>
            <a:off x="4023360" y="2057400"/>
            <a:ext cx="2743200" cy="502920"/>
          </a:xfrm>
          <a:prstGeom prst="rect">
            <a:avLst/>
          </a:prstGeom>
          <a:noFill/>
          <a:ln/>
        </p:spPr>
        <p:txBody>
          <a:bodyPr wrap="square" rtlCol="0" anchor="ctr"/>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scale used to measure</a:t>
            </a:r>
            <a:endParaRPr lang="en-US" sz="1050" dirty="0"/>
          </a:p>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hikikomori risk factors</a:t>
            </a:r>
            <a:endParaRPr lang="en-US" sz="1050" dirty="0"/>
          </a:p>
        </p:txBody>
      </p:sp>
      <p:sp>
        <p:nvSpPr>
          <p:cNvPr id="10" name="Text 8"/>
          <p:cNvSpPr/>
          <p:nvPr/>
        </p:nvSpPr>
        <p:spPr>
          <a:xfrm>
            <a:off x="7680960" y="1371600"/>
            <a:ext cx="3931920" cy="1280160"/>
          </a:xfrm>
          <a:prstGeom prst="rect">
            <a:avLst/>
          </a:prstGeom>
          <a:noFill/>
          <a:ln/>
        </p:spPr>
        <p:txBody>
          <a:bodyPr wrap="square" rtlCol="0" anchor="t"/>
          <a:lstStyle/>
          <a:p>
            <a:pPr indent="0" marL="0">
              <a:lnSpc>
                <a:spcPct val="120000"/>
              </a:lnSpc>
              <a:buNone/>
            </a:pPr>
            <a:r>
              <a:rPr lang="en-US" sz="1150" dirty="0">
                <a:solidFill>
                  <a:srgbClr val="1F2937"/>
                </a:solidFill>
                <a:latin typeface="Calibri" pitchFamily="34" charset="0"/>
                <a:ea typeface="Calibri" pitchFamily="34" charset="-122"/>
                <a:cs typeface="Calibri" pitchFamily="34" charset="-120"/>
              </a:rPr>
              <a:t>Higher hikikomori risk correlated with more social withdrawal, depression, and anxiety — and with weaker support from family and friends.</a:t>
            </a:r>
            <a:endParaRPr lang="en-US" sz="1150" dirty="0"/>
          </a:p>
        </p:txBody>
      </p:sp>
      <p:sp>
        <p:nvSpPr>
          <p:cNvPr id="11" name="Shape 9"/>
          <p:cNvSpPr/>
          <p:nvPr/>
        </p:nvSpPr>
        <p:spPr>
          <a:xfrm>
            <a:off x="457200" y="2880360"/>
            <a:ext cx="10332720" cy="2880360"/>
          </a:xfrm>
          <a:prstGeom prst="roundRect">
            <a:avLst>
              <a:gd name="adj" fmla="val 3175"/>
            </a:avLst>
          </a:prstGeom>
          <a:solidFill>
            <a:srgbClr val="013A40"/>
          </a:solidFill>
          <a:ln/>
        </p:spPr>
      </p:sp>
      <p:sp>
        <p:nvSpPr>
          <p:cNvPr id="12" name="Shape 10"/>
          <p:cNvSpPr/>
          <p:nvPr/>
        </p:nvSpPr>
        <p:spPr>
          <a:xfrm>
            <a:off x="777240" y="3154680"/>
            <a:ext cx="640080" cy="640080"/>
          </a:xfrm>
          <a:prstGeom prst="ellipse">
            <a:avLst/>
          </a:prstGeom>
          <a:solidFill>
            <a:srgbClr val="02C39A"/>
          </a:solidFill>
          <a:ln/>
        </p:spPr>
      </p:sp>
      <p:pic>
        <p:nvPicPr>
          <p:cNvPr id="13" name="Image 0" descr="icons/home.png">    </p:cNvPr>
          <p:cNvPicPr>
            <a:picLocks noChangeAspect="1"/>
          </p:cNvPicPr>
          <p:nvPr/>
        </p:nvPicPr>
        <p:blipFill>
          <a:blip r:embed="rId1"/>
          <a:stretch>
            <a:fillRect/>
          </a:stretch>
        </p:blipFill>
        <p:spPr>
          <a:xfrm>
            <a:off x="943661" y="3321101"/>
            <a:ext cx="307238" cy="307238"/>
          </a:xfrm>
          <a:prstGeom prst="rect">
            <a:avLst/>
          </a:prstGeom>
        </p:spPr>
      </p:pic>
      <p:sp>
        <p:nvSpPr>
          <p:cNvPr id="14" name="Text 11"/>
          <p:cNvSpPr/>
          <p:nvPr/>
        </p:nvSpPr>
        <p:spPr>
          <a:xfrm>
            <a:off x="1600200" y="3246120"/>
            <a:ext cx="886968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Why the pattern looks different in Singapore</a:t>
            </a:r>
            <a:endParaRPr lang="en-US" sz="1500" dirty="0"/>
          </a:p>
        </p:txBody>
      </p:sp>
      <p:sp>
        <p:nvSpPr>
          <p:cNvPr id="15" name="Text 12"/>
          <p:cNvSpPr/>
          <p:nvPr/>
        </p:nvSpPr>
        <p:spPr>
          <a:xfrm>
            <a:off x="1600200" y="3657600"/>
            <a:ext cx="8869680" cy="1051560"/>
          </a:xfrm>
          <a:prstGeom prst="rect">
            <a:avLst/>
          </a:prstGeom>
          <a:noFill/>
          <a:ln/>
        </p:spPr>
        <p:txBody>
          <a:bodyPr wrap="square" rtlCol="0" anchor="ctr"/>
          <a:lstStyle/>
          <a:p>
            <a:pPr indent="0" marL="0">
              <a:lnSpc>
                <a:spcPct val="120000"/>
              </a:lnSpc>
              <a:buNone/>
            </a:pPr>
            <a:r>
              <a:rPr lang="en-US" sz="1200" dirty="0">
                <a:solidFill>
                  <a:srgbClr val="F2F9F8"/>
                </a:solidFill>
                <a:latin typeface="Calibri" pitchFamily="34" charset="0"/>
                <a:ea typeface="Calibri" pitchFamily="34" charset="-122"/>
                <a:cs typeface="Calibri" pitchFamily="34" charset="-120"/>
              </a:rPr>
              <a:t>In Japan, young adults can move out and withdraw physically from family. In Singapore, government housing policy bars anyone under 35 from owning public housing — so most young people stay living with parents, often sharing rooms with siblings, well into adulthood. Physical withdrawal is far harder to achieve, so emotional withdrawal becomes the available option instead.</a:t>
            </a:r>
            <a:endParaRPr lang="en-US" sz="1200" dirty="0"/>
          </a:p>
        </p:txBody>
      </p:sp>
      <p:sp>
        <p:nvSpPr>
          <p:cNvPr id="16" name="Text 13"/>
          <p:cNvSpPr/>
          <p:nvPr/>
        </p:nvSpPr>
        <p:spPr>
          <a:xfrm>
            <a:off x="1600200" y="4846320"/>
            <a:ext cx="8869680" cy="777240"/>
          </a:xfrm>
          <a:prstGeom prst="rect">
            <a:avLst/>
          </a:prstGeom>
          <a:noFill/>
          <a:ln/>
        </p:spPr>
        <p:txBody>
          <a:bodyPr wrap="square" rtlCol="0" anchor="ctr"/>
          <a:lstStyle/>
          <a:p>
            <a:pPr indent="0" marL="0">
              <a:lnSpc>
                <a:spcPct val="120000"/>
              </a:lnSpc>
              <a:buNone/>
            </a:pPr>
            <a:r>
              <a:rPr lang="en-US" sz="1150" i="1" dirty="0">
                <a:solidFill>
                  <a:srgbClr val="02C39A"/>
                </a:solidFill>
                <a:latin typeface="Calibri" pitchFamily="34" charset="0"/>
                <a:ea typeface="Calibri" pitchFamily="34" charset="-122"/>
                <a:cs typeface="Calibri" pitchFamily="34" charset="-120"/>
              </a:rPr>
              <a:t>Takeaway: the same underlying risk factors can express themselves differently depending on a country's economic and housing policies — not just its cultural values.</a:t>
            </a:r>
            <a:endParaRPr lang="en-US" sz="1150" dirty="0"/>
          </a:p>
        </p:txBody>
      </p:sp>
      <p:sp>
        <p:nvSpPr>
          <p:cNvPr id="17" name="Text 14"/>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Cultural factors • Cross-national comparison</a:t>
            </a:r>
            <a:endParaRPr lang="en-US" sz="1100" dirty="0"/>
          </a:p>
        </p:txBody>
      </p:sp>
      <p:sp>
        <p:nvSpPr>
          <p:cNvPr id="18" name="Text 15"/>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Cultural Differences: SAD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515600" cy="548640"/>
          </a:xfrm>
          <a:prstGeom prst="rect">
            <a:avLst/>
          </a:prstGeom>
          <a:noFill/>
          <a:ln/>
        </p:spPr>
        <p:txBody>
          <a:bodyPr wrap="square" rtlCol="0" anchor="ctr"/>
          <a:lstStyle/>
          <a:p>
            <a:pPr indent="0" marL="0">
              <a:buNone/>
            </a:pPr>
            <a:r>
              <a:rPr lang="en-US" sz="3000" b="1" dirty="0">
                <a:solidFill>
                  <a:srgbClr val="013A40"/>
                </a:solidFill>
                <a:latin typeface="Cambria" pitchFamily="34" charset="0"/>
                <a:ea typeface="Cambria" pitchFamily="34" charset="-122"/>
                <a:cs typeface="Cambria" pitchFamily="34" charset="-120"/>
              </a:rPr>
              <a:t>Measurement Challenges</a:t>
            </a:r>
            <a:endParaRPr lang="en-US" sz="30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Why prevalence rates vary so widely across countries</a:t>
            </a:r>
            <a:endParaRPr lang="en-US" sz="1400" dirty="0"/>
          </a:p>
        </p:txBody>
      </p:sp>
      <p:sp>
        <p:nvSpPr>
          <p:cNvPr id="4" name="Shape 2"/>
          <p:cNvSpPr/>
          <p:nvPr/>
        </p:nvSpPr>
        <p:spPr>
          <a:xfrm>
            <a:off x="457200" y="1463040"/>
            <a:ext cx="685800" cy="685800"/>
          </a:xfrm>
          <a:prstGeom prst="ellipse">
            <a:avLst/>
          </a:prstGeom>
          <a:solidFill>
            <a:srgbClr val="028090"/>
          </a:solidFill>
          <a:ln/>
        </p:spPr>
      </p:sp>
      <p:pic>
        <p:nvPicPr>
          <p:cNvPr id="5" name="Image 0" descr="icons/chartbar.png">    </p:cNvPr>
          <p:cNvPicPr>
            <a:picLocks noChangeAspect="1"/>
          </p:cNvPicPr>
          <p:nvPr/>
        </p:nvPicPr>
        <p:blipFill>
          <a:blip r:embed="rId1"/>
          <a:stretch>
            <a:fillRect/>
          </a:stretch>
        </p:blipFill>
        <p:spPr>
          <a:xfrm>
            <a:off x="635508" y="1641348"/>
            <a:ext cx="329184" cy="329184"/>
          </a:xfrm>
          <a:prstGeom prst="rect">
            <a:avLst/>
          </a:prstGeom>
        </p:spPr>
      </p:pic>
      <p:sp>
        <p:nvSpPr>
          <p:cNvPr id="6" name="Text 3"/>
          <p:cNvSpPr/>
          <p:nvPr/>
        </p:nvSpPr>
        <p:spPr>
          <a:xfrm>
            <a:off x="1280160" y="1463040"/>
            <a:ext cx="10332720" cy="1371600"/>
          </a:xfrm>
          <a:prstGeom prst="rect">
            <a:avLst/>
          </a:prstGeom>
          <a:noFill/>
          <a:ln/>
        </p:spPr>
        <p:txBody>
          <a:bodyPr wrap="square" rtlCol="0" anchor="t"/>
          <a:lstStyle/>
          <a:p>
            <a:pPr indent="0" marL="0">
              <a:lnSpc>
                <a:spcPct val="120000"/>
              </a:lnSpc>
              <a:buNone/>
            </a:pPr>
            <a:r>
              <a:rPr lang="en-US" sz="1200" dirty="0">
                <a:solidFill>
                  <a:srgbClr val="1F2937"/>
                </a:solidFill>
                <a:latin typeface="Calibri" pitchFamily="34" charset="0"/>
                <a:ea typeface="Calibri" pitchFamily="34" charset="-122"/>
                <a:cs typeface="Calibri" pitchFamily="34" charset="-120"/>
              </a:rPr>
              <a:t>Diagnostic definitions aren't consistent across cultures. Japan requires 6+ months of withdrawal for a hikikomori classification; South Korea, Hong Kong, and some European countries use a 3-month threshold instead. Age ranges studied also differ — some research covers children and adolescents, other research adults. Both differences make cross-cultural prevalence comparisons hard to trust at face value.</a:t>
            </a:r>
            <a:endParaRPr lang="en-US" sz="1200" dirty="0"/>
          </a:p>
        </p:txBody>
      </p:sp>
      <p:sp>
        <p:nvSpPr>
          <p:cNvPr id="7" name="Shape 4"/>
          <p:cNvSpPr/>
          <p:nvPr/>
        </p:nvSpPr>
        <p:spPr>
          <a:xfrm>
            <a:off x="457200" y="3063240"/>
            <a:ext cx="2103120" cy="1691640"/>
          </a:xfrm>
          <a:prstGeom prst="roundRect">
            <a:avLst>
              <a:gd name="adj" fmla="val 4865"/>
            </a:avLst>
          </a:prstGeom>
          <a:solidFill>
            <a:srgbClr val="00A896"/>
          </a:solidFill>
          <a:ln/>
        </p:spPr>
      </p:sp>
      <p:sp>
        <p:nvSpPr>
          <p:cNvPr id="8" name="Text 5"/>
          <p:cNvSpPr/>
          <p:nvPr/>
        </p:nvSpPr>
        <p:spPr>
          <a:xfrm>
            <a:off x="548640" y="3200400"/>
            <a:ext cx="1920240" cy="36576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Japan</a:t>
            </a:r>
            <a:endParaRPr lang="en-US" sz="1250" dirty="0"/>
          </a:p>
        </p:txBody>
      </p:sp>
      <p:sp>
        <p:nvSpPr>
          <p:cNvPr id="9" name="Text 6"/>
          <p:cNvSpPr/>
          <p:nvPr/>
        </p:nvSpPr>
        <p:spPr>
          <a:xfrm>
            <a:off x="548640" y="3566160"/>
            <a:ext cx="1920240" cy="54864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1.2%</a:t>
            </a:r>
            <a:endParaRPr lang="en-US" sz="2400" dirty="0"/>
          </a:p>
        </p:txBody>
      </p:sp>
      <p:sp>
        <p:nvSpPr>
          <p:cNvPr id="10" name="Text 7"/>
          <p:cNvSpPr/>
          <p:nvPr/>
        </p:nvSpPr>
        <p:spPr>
          <a:xfrm>
            <a:off x="530352" y="4160520"/>
            <a:ext cx="1956816" cy="548640"/>
          </a:xfrm>
          <a:prstGeom prst="rect">
            <a:avLst/>
          </a:prstGeom>
          <a:noFill/>
          <a:ln/>
        </p:spPr>
        <p:txBody>
          <a:bodyPr wrap="square" rtlCol="0" anchor="ctr"/>
          <a:lstStyle/>
          <a:p>
            <a:pPr algn="ctr" indent="0" marL="0">
              <a:lnSpc>
                <a:spcPct val="105000"/>
              </a:lnSpc>
              <a:buNone/>
            </a:pPr>
            <a:r>
              <a:rPr lang="en-US" sz="900" dirty="0">
                <a:solidFill>
                  <a:srgbClr val="FFFFFF"/>
                </a:solidFill>
                <a:latin typeface="Calibri" pitchFamily="34" charset="0"/>
                <a:ea typeface="Calibri" pitchFamily="34" charset="-122"/>
                <a:cs typeface="Calibri" pitchFamily="34" charset="-120"/>
              </a:rPr>
              <a:t>lifetime prevalence, young adults</a:t>
            </a:r>
            <a:endParaRPr lang="en-US" sz="900" dirty="0"/>
          </a:p>
        </p:txBody>
      </p:sp>
      <p:sp>
        <p:nvSpPr>
          <p:cNvPr id="11" name="Shape 8"/>
          <p:cNvSpPr/>
          <p:nvPr/>
        </p:nvSpPr>
        <p:spPr>
          <a:xfrm>
            <a:off x="2743200" y="3063240"/>
            <a:ext cx="2103120" cy="1691640"/>
          </a:xfrm>
          <a:prstGeom prst="roundRect">
            <a:avLst>
              <a:gd name="adj" fmla="val 4865"/>
            </a:avLst>
          </a:prstGeom>
          <a:solidFill>
            <a:srgbClr val="00A896"/>
          </a:solidFill>
          <a:ln/>
        </p:spPr>
      </p:sp>
      <p:sp>
        <p:nvSpPr>
          <p:cNvPr id="12" name="Text 9"/>
          <p:cNvSpPr/>
          <p:nvPr/>
        </p:nvSpPr>
        <p:spPr>
          <a:xfrm>
            <a:off x="2834640" y="3200400"/>
            <a:ext cx="1920240" cy="36576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Hong Kong</a:t>
            </a:r>
            <a:endParaRPr lang="en-US" sz="1250" dirty="0"/>
          </a:p>
        </p:txBody>
      </p:sp>
      <p:sp>
        <p:nvSpPr>
          <p:cNvPr id="13" name="Text 10"/>
          <p:cNvSpPr/>
          <p:nvPr/>
        </p:nvSpPr>
        <p:spPr>
          <a:xfrm>
            <a:off x="2834640" y="3566160"/>
            <a:ext cx="1920240" cy="54864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1.9%</a:t>
            </a:r>
            <a:endParaRPr lang="en-US" sz="2400" dirty="0"/>
          </a:p>
        </p:txBody>
      </p:sp>
      <p:sp>
        <p:nvSpPr>
          <p:cNvPr id="14" name="Text 11"/>
          <p:cNvSpPr/>
          <p:nvPr/>
        </p:nvSpPr>
        <p:spPr>
          <a:xfrm>
            <a:off x="2816352" y="4160520"/>
            <a:ext cx="1956816" cy="548640"/>
          </a:xfrm>
          <a:prstGeom prst="rect">
            <a:avLst/>
          </a:prstGeom>
          <a:noFill/>
          <a:ln/>
        </p:spPr>
        <p:txBody>
          <a:bodyPr wrap="square" rtlCol="0" anchor="ctr"/>
          <a:lstStyle/>
          <a:p>
            <a:pPr algn="ctr" indent="0" marL="0">
              <a:lnSpc>
                <a:spcPct val="105000"/>
              </a:lnSpc>
              <a:buNone/>
            </a:pPr>
            <a:r>
              <a:rPr lang="en-US" sz="900" dirty="0">
                <a:solidFill>
                  <a:srgbClr val="FFFFFF"/>
                </a:solidFill>
                <a:latin typeface="Calibri" pitchFamily="34" charset="0"/>
                <a:ea typeface="Calibri" pitchFamily="34" charset="-122"/>
                <a:cs typeface="Calibri" pitchFamily="34" charset="-120"/>
              </a:rPr>
              <a:t>reported prevalence</a:t>
            </a:r>
            <a:endParaRPr lang="en-US" sz="900" dirty="0"/>
          </a:p>
        </p:txBody>
      </p:sp>
      <p:sp>
        <p:nvSpPr>
          <p:cNvPr id="15" name="Shape 12"/>
          <p:cNvSpPr/>
          <p:nvPr/>
        </p:nvSpPr>
        <p:spPr>
          <a:xfrm>
            <a:off x="5029200" y="3063240"/>
            <a:ext cx="2103120" cy="1691640"/>
          </a:xfrm>
          <a:prstGeom prst="roundRect">
            <a:avLst>
              <a:gd name="adj" fmla="val 4865"/>
            </a:avLst>
          </a:prstGeom>
          <a:solidFill>
            <a:srgbClr val="00A896"/>
          </a:solidFill>
          <a:ln/>
        </p:spPr>
      </p:sp>
      <p:sp>
        <p:nvSpPr>
          <p:cNvPr id="16" name="Text 13"/>
          <p:cNvSpPr/>
          <p:nvPr/>
        </p:nvSpPr>
        <p:spPr>
          <a:xfrm>
            <a:off x="5120640" y="3200400"/>
            <a:ext cx="1920240" cy="36576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South Korea</a:t>
            </a:r>
            <a:endParaRPr lang="en-US" sz="1250" dirty="0"/>
          </a:p>
        </p:txBody>
      </p:sp>
      <p:sp>
        <p:nvSpPr>
          <p:cNvPr id="17" name="Text 14"/>
          <p:cNvSpPr/>
          <p:nvPr/>
        </p:nvSpPr>
        <p:spPr>
          <a:xfrm>
            <a:off x="5120640" y="3566160"/>
            <a:ext cx="1920240" cy="54864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2.3%</a:t>
            </a:r>
            <a:endParaRPr lang="en-US" sz="2400" dirty="0"/>
          </a:p>
        </p:txBody>
      </p:sp>
      <p:sp>
        <p:nvSpPr>
          <p:cNvPr id="18" name="Text 15"/>
          <p:cNvSpPr/>
          <p:nvPr/>
        </p:nvSpPr>
        <p:spPr>
          <a:xfrm>
            <a:off x="5102352" y="4160520"/>
            <a:ext cx="1956816" cy="548640"/>
          </a:xfrm>
          <a:prstGeom prst="rect">
            <a:avLst/>
          </a:prstGeom>
          <a:noFill/>
          <a:ln/>
        </p:spPr>
        <p:txBody>
          <a:bodyPr wrap="square" rtlCol="0" anchor="ctr"/>
          <a:lstStyle/>
          <a:p>
            <a:pPr algn="ctr" indent="0" marL="0">
              <a:lnSpc>
                <a:spcPct val="105000"/>
              </a:lnSpc>
              <a:buNone/>
            </a:pPr>
            <a:r>
              <a:rPr lang="en-US" sz="900" dirty="0">
                <a:solidFill>
                  <a:srgbClr val="FFFFFF"/>
                </a:solidFill>
                <a:latin typeface="Calibri" pitchFamily="34" charset="0"/>
                <a:ea typeface="Calibri" pitchFamily="34" charset="-122"/>
                <a:cs typeface="Calibri" pitchFamily="34" charset="-120"/>
              </a:rPr>
              <a:t>reported prevalence</a:t>
            </a:r>
            <a:endParaRPr lang="en-US" sz="900" dirty="0"/>
          </a:p>
        </p:txBody>
      </p:sp>
      <p:sp>
        <p:nvSpPr>
          <p:cNvPr id="19" name="Shape 16"/>
          <p:cNvSpPr/>
          <p:nvPr/>
        </p:nvSpPr>
        <p:spPr>
          <a:xfrm>
            <a:off x="7315200" y="3063240"/>
            <a:ext cx="2103120" cy="1691640"/>
          </a:xfrm>
          <a:prstGeom prst="roundRect">
            <a:avLst>
              <a:gd name="adj" fmla="val 4865"/>
            </a:avLst>
          </a:prstGeom>
          <a:solidFill>
            <a:srgbClr val="00A896"/>
          </a:solidFill>
          <a:ln/>
        </p:spPr>
      </p:sp>
      <p:sp>
        <p:nvSpPr>
          <p:cNvPr id="20" name="Text 17"/>
          <p:cNvSpPr/>
          <p:nvPr/>
        </p:nvSpPr>
        <p:spPr>
          <a:xfrm>
            <a:off x="7406640" y="3200400"/>
            <a:ext cx="1920240" cy="36576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Italy</a:t>
            </a:r>
            <a:endParaRPr lang="en-US" sz="1250" dirty="0"/>
          </a:p>
        </p:txBody>
      </p:sp>
      <p:sp>
        <p:nvSpPr>
          <p:cNvPr id="21" name="Text 18"/>
          <p:cNvSpPr/>
          <p:nvPr/>
        </p:nvSpPr>
        <p:spPr>
          <a:xfrm>
            <a:off x="7406640" y="3566160"/>
            <a:ext cx="1920240" cy="54864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1.2%</a:t>
            </a:r>
            <a:endParaRPr lang="en-US" sz="2400" dirty="0"/>
          </a:p>
        </p:txBody>
      </p:sp>
      <p:sp>
        <p:nvSpPr>
          <p:cNvPr id="22" name="Text 19"/>
          <p:cNvSpPr/>
          <p:nvPr/>
        </p:nvSpPr>
        <p:spPr>
          <a:xfrm>
            <a:off x="7388352" y="4160520"/>
            <a:ext cx="1956816" cy="548640"/>
          </a:xfrm>
          <a:prstGeom prst="rect">
            <a:avLst/>
          </a:prstGeom>
          <a:noFill/>
          <a:ln/>
        </p:spPr>
        <p:txBody>
          <a:bodyPr wrap="square" rtlCol="0" anchor="ctr"/>
          <a:lstStyle/>
          <a:p>
            <a:pPr algn="ctr" indent="0" marL="0">
              <a:lnSpc>
                <a:spcPct val="105000"/>
              </a:lnSpc>
              <a:buNone/>
            </a:pPr>
            <a:r>
              <a:rPr lang="en-US" sz="900" dirty="0">
                <a:solidFill>
                  <a:srgbClr val="FFFFFF"/>
                </a:solidFill>
                <a:latin typeface="Calibri" pitchFamily="34" charset="0"/>
                <a:ea typeface="Calibri" pitchFamily="34" charset="-122"/>
                <a:cs typeface="Calibri" pitchFamily="34" charset="-120"/>
              </a:rPr>
              <a:t>ages 0–18</a:t>
            </a:r>
            <a:endParaRPr lang="en-US" sz="900" dirty="0"/>
          </a:p>
        </p:txBody>
      </p:sp>
      <p:sp>
        <p:nvSpPr>
          <p:cNvPr id="23" name="Shape 20"/>
          <p:cNvSpPr/>
          <p:nvPr/>
        </p:nvSpPr>
        <p:spPr>
          <a:xfrm>
            <a:off x="9601200" y="3063240"/>
            <a:ext cx="2103120" cy="1691640"/>
          </a:xfrm>
          <a:prstGeom prst="roundRect">
            <a:avLst>
              <a:gd name="adj" fmla="val 4865"/>
            </a:avLst>
          </a:prstGeom>
          <a:solidFill>
            <a:srgbClr val="00A896"/>
          </a:solidFill>
          <a:ln/>
        </p:spPr>
      </p:sp>
      <p:sp>
        <p:nvSpPr>
          <p:cNvPr id="24" name="Text 21"/>
          <p:cNvSpPr/>
          <p:nvPr/>
        </p:nvSpPr>
        <p:spPr>
          <a:xfrm>
            <a:off x="9692640" y="3200400"/>
            <a:ext cx="1920240" cy="36576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Spain</a:t>
            </a:r>
            <a:endParaRPr lang="en-US" sz="1250" dirty="0"/>
          </a:p>
        </p:txBody>
      </p:sp>
      <p:sp>
        <p:nvSpPr>
          <p:cNvPr id="25" name="Text 22"/>
          <p:cNvSpPr/>
          <p:nvPr/>
        </p:nvSpPr>
        <p:spPr>
          <a:xfrm>
            <a:off x="9692640" y="3566160"/>
            <a:ext cx="1920240" cy="54864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12.6%</a:t>
            </a:r>
            <a:endParaRPr lang="en-US" sz="2400" dirty="0"/>
          </a:p>
        </p:txBody>
      </p:sp>
      <p:sp>
        <p:nvSpPr>
          <p:cNvPr id="26" name="Text 23"/>
          <p:cNvSpPr/>
          <p:nvPr/>
        </p:nvSpPr>
        <p:spPr>
          <a:xfrm>
            <a:off x="9674352" y="4160520"/>
            <a:ext cx="1956816" cy="548640"/>
          </a:xfrm>
          <a:prstGeom prst="rect">
            <a:avLst/>
          </a:prstGeom>
          <a:noFill/>
          <a:ln/>
        </p:spPr>
        <p:txBody>
          <a:bodyPr wrap="square" rtlCol="0" anchor="ctr"/>
          <a:lstStyle/>
          <a:p>
            <a:pPr algn="ctr" indent="0" marL="0">
              <a:lnSpc>
                <a:spcPct val="105000"/>
              </a:lnSpc>
              <a:buNone/>
            </a:pPr>
            <a:r>
              <a:rPr lang="en-US" sz="900" dirty="0">
                <a:solidFill>
                  <a:srgbClr val="FFFFFF"/>
                </a:solidFill>
                <a:latin typeface="Calibri" pitchFamily="34" charset="0"/>
                <a:ea typeface="Calibri" pitchFamily="34" charset="-122"/>
                <a:cs typeface="Calibri" pitchFamily="34" charset="-120"/>
              </a:rPr>
              <a:t>of those with social withdrawal</a:t>
            </a:r>
            <a:endParaRPr lang="en-US" sz="900" dirty="0"/>
          </a:p>
        </p:txBody>
      </p:sp>
      <p:sp>
        <p:nvSpPr>
          <p:cNvPr id="27" name="Text 24"/>
          <p:cNvSpPr/>
          <p:nvPr/>
        </p:nvSpPr>
        <p:spPr>
          <a:xfrm>
            <a:off x="457200" y="5029200"/>
            <a:ext cx="10332720" cy="640080"/>
          </a:xfrm>
          <a:prstGeom prst="rect">
            <a:avLst/>
          </a:prstGeom>
          <a:noFill/>
          <a:ln/>
        </p:spPr>
        <p:txBody>
          <a:bodyPr wrap="square" rtlCol="0" anchor="ctr"/>
          <a:lstStyle/>
          <a:p>
            <a:pPr indent="0" marL="0">
              <a:lnSpc>
                <a:spcPct val="115000"/>
              </a:lnSpc>
              <a:buNone/>
            </a:pPr>
            <a:r>
              <a:rPr lang="en-US" sz="1150" i="1" dirty="0">
                <a:solidFill>
                  <a:srgbClr val="5B6B70"/>
                </a:solidFill>
                <a:latin typeface="Calibri" pitchFamily="34" charset="0"/>
                <a:ea typeface="Calibri" pitchFamily="34" charset="-122"/>
                <a:cs typeface="Calibri" pitchFamily="34" charset="-120"/>
              </a:rPr>
              <a:t>Under-detection compounds the problem: hikikomori individuals often avoid seeking help, or may not see their own withdrawal as a disorder — as in Singapore, where enforced family living reframes it as "just" emotional withdrawal.</a:t>
            </a:r>
            <a:endParaRPr lang="en-US" sz="1150" dirty="0"/>
          </a:p>
        </p:txBody>
      </p:sp>
      <p:sp>
        <p:nvSpPr>
          <p:cNvPr id="28" name="Text 25"/>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Cultural factors • Measurement</a:t>
            </a:r>
            <a:endParaRPr lang="en-US" sz="1100" dirty="0"/>
          </a:p>
        </p:txBody>
      </p:sp>
      <p:sp>
        <p:nvSpPr>
          <p:cNvPr id="29" name="Text 26"/>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Cultural Differences: SAD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515600" cy="548640"/>
          </a:xfrm>
          <a:prstGeom prst="rect">
            <a:avLst/>
          </a:prstGeom>
          <a:noFill/>
          <a:ln/>
        </p:spPr>
        <p:txBody>
          <a:bodyPr wrap="square" rtlCol="0" anchor="ctr"/>
          <a:lstStyle/>
          <a:p>
            <a:pPr indent="0" marL="0">
              <a:buNone/>
            </a:pPr>
            <a:r>
              <a:rPr lang="en-US" sz="2900" b="1" dirty="0">
                <a:solidFill>
                  <a:srgbClr val="013A40"/>
                </a:solidFill>
                <a:latin typeface="Cambria" pitchFamily="34" charset="0"/>
                <a:ea typeface="Cambria" pitchFamily="34" charset="-122"/>
                <a:cs typeface="Cambria" pitchFamily="34" charset="-120"/>
              </a:rPr>
              <a:t>Cultural Perspectives &amp; Stigma</a:t>
            </a:r>
            <a:endParaRPr lang="en-US" sz="29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Diagnosis and prevalence shift with what a society values</a:t>
            </a:r>
            <a:endParaRPr lang="en-US" sz="1400" dirty="0"/>
          </a:p>
        </p:txBody>
      </p:sp>
      <p:sp>
        <p:nvSpPr>
          <p:cNvPr id="4" name="Shape 2"/>
          <p:cNvSpPr/>
          <p:nvPr/>
        </p:nvSpPr>
        <p:spPr>
          <a:xfrm>
            <a:off x="457200" y="1600200"/>
            <a:ext cx="5440680" cy="2468880"/>
          </a:xfrm>
          <a:prstGeom prst="roundRect">
            <a:avLst>
              <a:gd name="adj" fmla="val 3704"/>
            </a:avLst>
          </a:prstGeom>
          <a:solidFill>
            <a:srgbClr val="FFFFFF"/>
          </a:solidFill>
          <a:ln w="12700">
            <a:solidFill>
              <a:srgbClr val="00A896"/>
            </a:solidFill>
            <a:prstDash val="solid"/>
          </a:ln>
        </p:spPr>
      </p:sp>
      <p:sp>
        <p:nvSpPr>
          <p:cNvPr id="5" name="Text 3"/>
          <p:cNvSpPr/>
          <p:nvPr/>
        </p:nvSpPr>
        <p:spPr>
          <a:xfrm>
            <a:off x="731520" y="1783080"/>
            <a:ext cx="4892040" cy="457200"/>
          </a:xfrm>
          <a:prstGeom prst="rect">
            <a:avLst/>
          </a:prstGeom>
          <a:noFill/>
          <a:ln/>
        </p:spPr>
        <p:txBody>
          <a:bodyPr wrap="square" rtlCol="0" anchor="ctr"/>
          <a:lstStyle/>
          <a:p>
            <a:pPr indent="0" marL="0">
              <a:buNone/>
            </a:pPr>
            <a:r>
              <a:rPr lang="en-US" sz="1600" b="1" dirty="0">
                <a:solidFill>
                  <a:srgbClr val="013A40"/>
                </a:solidFill>
                <a:latin typeface="Cambria" pitchFamily="34" charset="0"/>
                <a:ea typeface="Cambria" pitchFamily="34" charset="-122"/>
                <a:cs typeface="Cambria" pitchFamily="34" charset="-120"/>
              </a:rPr>
              <a:t>Individualist Societies</a:t>
            </a:r>
            <a:endParaRPr lang="en-US" sz="1600" dirty="0"/>
          </a:p>
        </p:txBody>
      </p:sp>
      <p:sp>
        <p:nvSpPr>
          <p:cNvPr id="6" name="Text 4"/>
          <p:cNvSpPr/>
          <p:nvPr/>
        </p:nvSpPr>
        <p:spPr>
          <a:xfrm>
            <a:off x="731520" y="2286000"/>
            <a:ext cx="4892040" cy="1691640"/>
          </a:xfrm>
          <a:prstGeom prst="rect">
            <a:avLst/>
          </a:prstGeom>
          <a:noFill/>
          <a:ln/>
        </p:spPr>
        <p:txBody>
          <a:bodyPr wrap="square" rtlCol="0" anchor="t"/>
          <a:lstStyle/>
          <a:p>
            <a:pPr indent="0" marL="0">
              <a:lnSpc>
                <a:spcPct val="120000"/>
              </a:lnSpc>
              <a:buNone/>
            </a:pPr>
            <a:r>
              <a:rPr lang="en-US" sz="1200" dirty="0">
                <a:solidFill>
                  <a:srgbClr val="1F2937"/>
                </a:solidFill>
                <a:latin typeface="Calibri" pitchFamily="34" charset="0"/>
                <a:ea typeface="Calibri" pitchFamily="34" charset="-122"/>
                <a:cs typeface="Calibri" pitchFamily="34" charset="-120"/>
              </a:rPr>
              <a:t>Socialization emphasizes self-confidence and independence from parents and peers, especially in adolescence. This emphasis on autonomy may actively discourage the reliance on others for food and shelter that hikikomori involves.</a:t>
            </a:r>
            <a:endParaRPr lang="en-US" sz="1200" dirty="0"/>
          </a:p>
        </p:txBody>
      </p:sp>
      <p:sp>
        <p:nvSpPr>
          <p:cNvPr id="7" name="Shape 5"/>
          <p:cNvSpPr/>
          <p:nvPr/>
        </p:nvSpPr>
        <p:spPr>
          <a:xfrm>
            <a:off x="6263640" y="1600200"/>
            <a:ext cx="5440680" cy="2468880"/>
          </a:xfrm>
          <a:prstGeom prst="roundRect">
            <a:avLst>
              <a:gd name="adj" fmla="val 3704"/>
            </a:avLst>
          </a:prstGeom>
          <a:solidFill>
            <a:srgbClr val="FFFFFF"/>
          </a:solidFill>
          <a:ln w="12700">
            <a:solidFill>
              <a:srgbClr val="00A896"/>
            </a:solidFill>
            <a:prstDash val="solid"/>
          </a:ln>
        </p:spPr>
      </p:sp>
      <p:sp>
        <p:nvSpPr>
          <p:cNvPr id="8" name="Text 6"/>
          <p:cNvSpPr/>
          <p:nvPr/>
        </p:nvSpPr>
        <p:spPr>
          <a:xfrm>
            <a:off x="6537960" y="1783080"/>
            <a:ext cx="4892040" cy="457200"/>
          </a:xfrm>
          <a:prstGeom prst="rect">
            <a:avLst/>
          </a:prstGeom>
          <a:noFill/>
          <a:ln/>
        </p:spPr>
        <p:txBody>
          <a:bodyPr wrap="square" rtlCol="0" anchor="ctr"/>
          <a:lstStyle/>
          <a:p>
            <a:pPr indent="0" marL="0">
              <a:buNone/>
            </a:pPr>
            <a:r>
              <a:rPr lang="en-US" sz="1600" b="1" dirty="0">
                <a:solidFill>
                  <a:srgbClr val="013A40"/>
                </a:solidFill>
                <a:latin typeface="Cambria" pitchFamily="34" charset="0"/>
                <a:ea typeface="Cambria" pitchFamily="34" charset="-122"/>
                <a:cs typeface="Cambria" pitchFamily="34" charset="-120"/>
              </a:rPr>
              <a:t>Stigma Cuts Both Ways</a:t>
            </a:r>
            <a:endParaRPr lang="en-US" sz="1600" dirty="0"/>
          </a:p>
        </p:txBody>
      </p:sp>
      <p:sp>
        <p:nvSpPr>
          <p:cNvPr id="9" name="Text 7"/>
          <p:cNvSpPr/>
          <p:nvPr/>
        </p:nvSpPr>
        <p:spPr>
          <a:xfrm>
            <a:off x="6537960" y="2286000"/>
            <a:ext cx="4892040" cy="1691640"/>
          </a:xfrm>
          <a:prstGeom prst="rect">
            <a:avLst/>
          </a:prstGeom>
          <a:noFill/>
          <a:ln/>
        </p:spPr>
        <p:txBody>
          <a:bodyPr wrap="square" rtlCol="0" anchor="t"/>
          <a:lstStyle/>
          <a:p>
            <a:pPr indent="0" marL="0">
              <a:lnSpc>
                <a:spcPct val="120000"/>
              </a:lnSpc>
              <a:buNone/>
            </a:pPr>
            <a:r>
              <a:rPr lang="en-US" sz="1200" dirty="0">
                <a:solidFill>
                  <a:srgbClr val="1F2937"/>
                </a:solidFill>
                <a:latin typeface="Calibri" pitchFamily="34" charset="0"/>
                <a:ea typeface="Calibri" pitchFamily="34" charset="-122"/>
                <a:cs typeface="Calibri" pitchFamily="34" charset="-120"/>
              </a:rPr>
              <a:t>Acceptability of social withdrawal — and the stigma attached to it — varies by culture. In Western societies, withdrawal directly conflicts with valued goals of independence, which may make it feel more distressing or shameful to those experiencing it.</a:t>
            </a:r>
            <a:endParaRPr lang="en-US" sz="1200" dirty="0"/>
          </a:p>
        </p:txBody>
      </p:sp>
      <p:sp>
        <p:nvSpPr>
          <p:cNvPr id="10" name="Text 8"/>
          <p:cNvSpPr/>
          <p:nvPr/>
        </p:nvSpPr>
        <p:spPr>
          <a:xfrm>
            <a:off x="457200" y="4297680"/>
            <a:ext cx="10332720" cy="731520"/>
          </a:xfrm>
          <a:prstGeom prst="rect">
            <a:avLst/>
          </a:prstGeom>
          <a:noFill/>
          <a:ln/>
        </p:spPr>
        <p:txBody>
          <a:bodyPr wrap="square" rtlCol="0" anchor="ctr"/>
          <a:lstStyle/>
          <a:p>
            <a:pPr indent="0" marL="0">
              <a:lnSpc>
                <a:spcPct val="120000"/>
              </a:lnSpc>
              <a:buNone/>
            </a:pPr>
            <a:r>
              <a:rPr lang="en-US" sz="1200" i="1" dirty="0">
                <a:solidFill>
                  <a:srgbClr val="5B6B70"/>
                </a:solidFill>
                <a:latin typeface="Calibri" pitchFamily="34" charset="0"/>
                <a:ea typeface="Calibri" pitchFamily="34" charset="-122"/>
                <a:cs typeface="Calibri" pitchFamily="34" charset="-120"/>
              </a:rPr>
              <a:t>The bigger picture: hikikomori research clearly exists beyond Japan, but a full account needs both Western and non-Western studies, and needs to weigh the economic and social pressures shaping how it's expressed — not culture alone.</a:t>
            </a:r>
            <a:endParaRPr lang="en-US" sz="1200" dirty="0"/>
          </a:p>
        </p:txBody>
      </p:sp>
      <p:sp>
        <p:nvSpPr>
          <p:cNvPr id="11" name="Text 9"/>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Cultural factors • Perspective</a:t>
            </a:r>
            <a:endParaRPr lang="en-US" sz="1100" dirty="0"/>
          </a:p>
        </p:txBody>
      </p:sp>
      <p:sp>
        <p:nvSpPr>
          <p:cNvPr id="12" name="Text 10"/>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Cultural Differences: SAD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13A40"/>
        </a:solidFill>
      </p:bgPr>
    </p:bg>
    <p:spTree>
      <p:nvGrpSpPr>
        <p:cNvPr id="1" name=""/>
        <p:cNvGrpSpPr/>
        <p:nvPr/>
      </p:nvGrpSpPr>
      <p:grpSpPr>
        <a:xfrm>
          <a:off x="0" y="0"/>
          <a:ext cx="0" cy="0"/>
          <a:chOff x="0" y="0"/>
          <a:chExt cx="0" cy="0"/>
        </a:xfrm>
      </p:grpSpPr>
      <p:sp>
        <p:nvSpPr>
          <p:cNvPr id="2" name="Text 0"/>
          <p:cNvSpPr/>
          <p:nvPr/>
        </p:nvSpPr>
        <p:spPr>
          <a:xfrm>
            <a:off x="548640" y="457200"/>
            <a:ext cx="10515600" cy="5486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Living With Hikikomori: Yuto Unishi</a:t>
            </a:r>
            <a:endParaRPr lang="en-US" sz="2800" dirty="0"/>
          </a:p>
        </p:txBody>
      </p:sp>
      <p:sp>
        <p:nvSpPr>
          <p:cNvPr id="3" name="Text 1"/>
          <p:cNvSpPr/>
          <p:nvPr/>
        </p:nvSpPr>
        <p:spPr>
          <a:xfrm>
            <a:off x="548640" y="1005840"/>
            <a:ext cx="10515600" cy="365760"/>
          </a:xfrm>
          <a:prstGeom prst="rect">
            <a:avLst/>
          </a:prstGeom>
          <a:noFill/>
          <a:ln/>
        </p:spPr>
        <p:txBody>
          <a:bodyPr wrap="square" rtlCol="0" anchor="ctr"/>
          <a:lstStyle/>
          <a:p>
            <a:pPr indent="0" marL="0">
              <a:buNone/>
            </a:pPr>
            <a:r>
              <a:rPr lang="en-US" sz="1400" i="1" dirty="0">
                <a:solidFill>
                  <a:srgbClr val="F2F9F8"/>
                </a:solidFill>
                <a:latin typeface="Calibri" pitchFamily="34" charset="0"/>
                <a:ea typeface="Calibri" pitchFamily="34" charset="-122"/>
                <a:cs typeface="Calibri" pitchFamily="34" charset="-120"/>
              </a:rPr>
              <a:t>One young man's account — and how closely it echoes SAD</a:t>
            </a:r>
            <a:endParaRPr lang="en-US" sz="1400" dirty="0"/>
          </a:p>
        </p:txBody>
      </p:sp>
      <p:sp>
        <p:nvSpPr>
          <p:cNvPr id="4" name="Shape 2"/>
          <p:cNvSpPr/>
          <p:nvPr/>
        </p:nvSpPr>
        <p:spPr>
          <a:xfrm>
            <a:off x="548640" y="1828800"/>
            <a:ext cx="731520" cy="731520"/>
          </a:xfrm>
          <a:prstGeom prst="ellipse">
            <a:avLst/>
          </a:prstGeom>
          <a:solidFill>
            <a:srgbClr val="02C39A"/>
          </a:solidFill>
          <a:ln/>
        </p:spPr>
      </p:sp>
      <p:pic>
        <p:nvPicPr>
          <p:cNvPr id="5" name="Image 0" descr="icons/quote.png">    </p:cNvPr>
          <p:cNvPicPr>
            <a:picLocks noChangeAspect="1"/>
          </p:cNvPicPr>
          <p:nvPr/>
        </p:nvPicPr>
        <p:blipFill>
          <a:blip r:embed="rId1"/>
          <a:stretch>
            <a:fillRect/>
          </a:stretch>
        </p:blipFill>
        <p:spPr>
          <a:xfrm>
            <a:off x="738835" y="2018995"/>
            <a:ext cx="351130" cy="351130"/>
          </a:xfrm>
          <a:prstGeom prst="rect">
            <a:avLst/>
          </a:prstGeom>
        </p:spPr>
      </p:pic>
      <p:sp>
        <p:nvSpPr>
          <p:cNvPr id="6" name="Shape 3"/>
          <p:cNvSpPr/>
          <p:nvPr/>
        </p:nvSpPr>
        <p:spPr>
          <a:xfrm>
            <a:off x="1554480" y="1783080"/>
            <a:ext cx="9966960" cy="1920240"/>
          </a:xfrm>
          <a:prstGeom prst="roundRect">
            <a:avLst>
              <a:gd name="adj" fmla="val 4762"/>
            </a:avLst>
          </a:prstGeom>
          <a:solidFill>
            <a:srgbClr val="028090">
              <a:alpha val="75000"/>
            </a:srgbClr>
          </a:solidFill>
          <a:ln w="12700">
            <a:solidFill>
              <a:srgbClr val="02C39A"/>
            </a:solidFill>
            <a:prstDash val="solid"/>
          </a:ln>
        </p:spPr>
      </p:sp>
      <p:sp>
        <p:nvSpPr>
          <p:cNvPr id="7" name="Text 4"/>
          <p:cNvSpPr/>
          <p:nvPr/>
        </p:nvSpPr>
        <p:spPr>
          <a:xfrm>
            <a:off x="1828800" y="1920240"/>
            <a:ext cx="9418320" cy="320040"/>
          </a:xfrm>
          <a:prstGeom prst="rect">
            <a:avLst/>
          </a:prstGeom>
          <a:noFill/>
          <a:ln/>
        </p:spPr>
        <p:txBody>
          <a:bodyPr wrap="square" rtlCol="0" anchor="ctr"/>
          <a:lstStyle/>
          <a:p>
            <a:pPr indent="0" marL="0">
              <a:buNone/>
            </a:pPr>
            <a:r>
              <a:rPr lang="en-US" sz="1100" b="1" spc="100" kern="0" dirty="0">
                <a:solidFill>
                  <a:srgbClr val="02C39A"/>
                </a:solidFill>
                <a:latin typeface="Calibri" pitchFamily="34" charset="0"/>
                <a:ea typeface="Calibri" pitchFamily="34" charset="-122"/>
                <a:cs typeface="Calibri" pitchFamily="34" charset="-120"/>
              </a:rPr>
              <a:t>Reflection prompt</a:t>
            </a:r>
            <a:endParaRPr lang="en-US" sz="1100" dirty="0"/>
          </a:p>
        </p:txBody>
      </p:sp>
      <p:sp>
        <p:nvSpPr>
          <p:cNvPr id="8" name="Text 5"/>
          <p:cNvSpPr/>
          <p:nvPr/>
        </p:nvSpPr>
        <p:spPr>
          <a:xfrm>
            <a:off x="1828800" y="2240280"/>
            <a:ext cx="9418320" cy="1371600"/>
          </a:xfrm>
          <a:prstGeom prst="rect">
            <a:avLst/>
          </a:prstGeom>
          <a:noFill/>
          <a:ln/>
        </p:spPr>
        <p:txBody>
          <a:bodyPr wrap="square" rtlCol="0" anchor="t"/>
          <a:lstStyle/>
          <a:p>
            <a:pPr indent="0" marL="0">
              <a:lnSpc>
                <a:spcPct val="125000"/>
              </a:lnSpc>
              <a:buNone/>
            </a:pPr>
            <a:r>
              <a:rPr lang="en-US" sz="1500" i="1" dirty="0">
                <a:solidFill>
                  <a:srgbClr val="FFFFFF"/>
                </a:solidFill>
                <a:latin typeface="Calibri" pitchFamily="34" charset="0"/>
                <a:ea typeface="Calibri" pitchFamily="34" charset="-122"/>
                <a:cs typeface="Calibri" pitchFamily="34" charset="-120"/>
              </a:rPr>
              <a:t>How does his description of why he stays in his room compare to what drives avoidance in Social Anxiety Disorder?</a:t>
            </a:r>
            <a:endParaRPr lang="en-US" sz="1500" dirty="0"/>
          </a:p>
        </p:txBody>
      </p:sp>
      <p:sp>
        <p:nvSpPr>
          <p:cNvPr id="9" name="Shape 6"/>
          <p:cNvSpPr/>
          <p:nvPr/>
        </p:nvSpPr>
        <p:spPr>
          <a:xfrm>
            <a:off x="640080" y="4041648"/>
            <a:ext cx="256032" cy="256032"/>
          </a:xfrm>
          <a:prstGeom prst="ellipse">
            <a:avLst/>
          </a:prstGeom>
          <a:solidFill>
            <a:srgbClr val="00A896"/>
          </a:solidFill>
          <a:ln/>
        </p:spPr>
      </p:sp>
      <p:sp>
        <p:nvSpPr>
          <p:cNvPr id="10" name="Text 7"/>
          <p:cNvSpPr/>
          <p:nvPr/>
        </p:nvSpPr>
        <p:spPr>
          <a:xfrm>
            <a:off x="1051560" y="3950208"/>
            <a:ext cx="10058400" cy="548640"/>
          </a:xfrm>
          <a:prstGeom prst="rect">
            <a:avLst/>
          </a:prstGeom>
          <a:noFill/>
          <a:ln/>
        </p:spPr>
        <p:txBody>
          <a:bodyPr wrap="square" rtlCol="0" anchor="t"/>
          <a:lstStyle/>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His room felt safe — a retreat from external pressure</a:t>
            </a:r>
            <a:endParaRPr lang="en-US" sz="1300" dirty="0"/>
          </a:p>
        </p:txBody>
      </p:sp>
      <p:sp>
        <p:nvSpPr>
          <p:cNvPr id="11" name="Shape 8"/>
          <p:cNvSpPr/>
          <p:nvPr/>
        </p:nvSpPr>
        <p:spPr>
          <a:xfrm>
            <a:off x="640080" y="4663440"/>
            <a:ext cx="256032" cy="256032"/>
          </a:xfrm>
          <a:prstGeom prst="ellipse">
            <a:avLst/>
          </a:prstGeom>
          <a:solidFill>
            <a:srgbClr val="00A896"/>
          </a:solidFill>
          <a:ln/>
        </p:spPr>
      </p:sp>
      <p:sp>
        <p:nvSpPr>
          <p:cNvPr id="12" name="Text 9"/>
          <p:cNvSpPr/>
          <p:nvPr/>
        </p:nvSpPr>
        <p:spPr>
          <a:xfrm>
            <a:off x="1051560" y="4572000"/>
            <a:ext cx="10058400" cy="548640"/>
          </a:xfrm>
          <a:prstGeom prst="rect">
            <a:avLst/>
          </a:prstGeom>
          <a:noFill/>
          <a:ln/>
        </p:spPr>
        <p:txBody>
          <a:bodyPr wrap="square" rtlCol="0" anchor="t"/>
          <a:lstStyle/>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Staying inside let him avoid others' judgment after he felt he'd failed as a class leader</a:t>
            </a:r>
            <a:endParaRPr lang="en-US" sz="1300" dirty="0"/>
          </a:p>
        </p:txBody>
      </p:sp>
      <p:sp>
        <p:nvSpPr>
          <p:cNvPr id="13" name="Shape 10"/>
          <p:cNvSpPr/>
          <p:nvPr/>
        </p:nvSpPr>
        <p:spPr>
          <a:xfrm>
            <a:off x="640080" y="5285232"/>
            <a:ext cx="256032" cy="256032"/>
          </a:xfrm>
          <a:prstGeom prst="ellipse">
            <a:avLst/>
          </a:prstGeom>
          <a:solidFill>
            <a:srgbClr val="00A896"/>
          </a:solidFill>
          <a:ln/>
        </p:spPr>
      </p:sp>
      <p:sp>
        <p:nvSpPr>
          <p:cNvPr id="14" name="Text 11"/>
          <p:cNvSpPr/>
          <p:nvPr/>
        </p:nvSpPr>
        <p:spPr>
          <a:xfrm>
            <a:off x="1051560" y="5193792"/>
            <a:ext cx="10058400" cy="548640"/>
          </a:xfrm>
          <a:prstGeom prst="rect">
            <a:avLst/>
          </a:prstGeom>
          <a:noFill/>
          <a:ln/>
        </p:spPr>
        <p:txBody>
          <a:bodyPr wrap="square" rtlCol="0" anchor="t"/>
          <a:lstStyle/>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Withdrawal functioned as escape from broader societal pressure to succeed</a:t>
            </a:r>
            <a:endParaRPr lang="en-US" sz="1300" dirty="0"/>
          </a:p>
        </p:txBody>
      </p:sp>
      <p:sp>
        <p:nvSpPr>
          <p:cNvPr id="15" name="Text 12"/>
          <p:cNvSpPr/>
          <p:nvPr/>
        </p:nvSpPr>
        <p:spPr>
          <a:xfrm>
            <a:off x="548640" y="5989320"/>
            <a:ext cx="10698480" cy="548640"/>
          </a:xfrm>
          <a:prstGeom prst="rect">
            <a:avLst/>
          </a:prstGeom>
          <a:noFill/>
          <a:ln/>
        </p:spPr>
        <p:txBody>
          <a:bodyPr wrap="square" rtlCol="0" anchor="ctr"/>
          <a:lstStyle/>
          <a:p>
            <a:pPr indent="0" marL="0">
              <a:lnSpc>
                <a:spcPct val="115000"/>
              </a:lnSpc>
              <a:buNone/>
            </a:pPr>
            <a:r>
              <a:rPr lang="en-US" sz="1150" i="1" dirty="0">
                <a:solidFill>
                  <a:srgbClr val="F2F9F8"/>
                </a:solidFill>
                <a:latin typeface="Calibri" pitchFamily="34" charset="0"/>
                <a:ea typeface="Calibri" pitchFamily="34" charset="-122"/>
                <a:cs typeface="Calibri" pitchFamily="34" charset="-120"/>
              </a:rPr>
              <a:t>The parallel to SAD: fear of judgment and a disproportionate need to escape social evaluation — the same core mechanism, expressed through extreme withdrawal rather than situational avoidance.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9F8"/>
        </a:solidFill>
      </p:bgPr>
    </p:bg>
    <p:spTree>
      <p:nvGrpSpPr>
        <p:cNvPr id="1" name=""/>
        <p:cNvGrpSpPr/>
        <p:nvPr/>
      </p:nvGrpSpPr>
      <p:grpSpPr>
        <a:xfrm>
          <a:off x="0" y="0"/>
          <a:ext cx="0" cy="0"/>
          <a:chOff x="0" y="0"/>
          <a:chExt cx="0" cy="0"/>
        </a:xfrm>
      </p:grpSpPr>
      <p:sp>
        <p:nvSpPr>
          <p:cNvPr id="2" name="Text 0"/>
          <p:cNvSpPr/>
          <p:nvPr/>
        </p:nvSpPr>
        <p:spPr>
          <a:xfrm>
            <a:off x="457200" y="365760"/>
            <a:ext cx="10515600" cy="548640"/>
          </a:xfrm>
          <a:prstGeom prst="rect">
            <a:avLst/>
          </a:prstGeom>
          <a:noFill/>
          <a:ln/>
        </p:spPr>
        <p:txBody>
          <a:bodyPr wrap="square" rtlCol="0" anchor="ctr"/>
          <a:lstStyle/>
          <a:p>
            <a:pPr indent="0" marL="0">
              <a:buNone/>
            </a:pPr>
            <a:r>
              <a:rPr lang="en-US" sz="2900" b="1" dirty="0">
                <a:solidFill>
                  <a:srgbClr val="013A40"/>
                </a:solidFill>
                <a:latin typeface="Cambria" pitchFamily="34" charset="0"/>
                <a:ea typeface="Cambria" pitchFamily="34" charset="-122"/>
                <a:cs typeface="Cambria" pitchFamily="34" charset="-120"/>
              </a:rPr>
              <a:t>Evaluating Hikikomori Research</a:t>
            </a:r>
            <a:endParaRPr lang="en-US" sz="2900" dirty="0"/>
          </a:p>
        </p:txBody>
      </p:sp>
      <p:sp>
        <p:nvSpPr>
          <p:cNvPr id="3" name="Text 1"/>
          <p:cNvSpPr/>
          <p:nvPr/>
        </p:nvSpPr>
        <p:spPr>
          <a:xfrm>
            <a:off x="457200" y="868680"/>
            <a:ext cx="10515600" cy="365760"/>
          </a:xfrm>
          <a:prstGeom prst="rect">
            <a:avLst/>
          </a:prstGeom>
          <a:noFill/>
          <a:ln/>
        </p:spPr>
        <p:txBody>
          <a:bodyPr wrap="square" rtlCol="0" anchor="ctr"/>
          <a:lstStyle/>
          <a:p>
            <a:pPr indent="0" marL="0">
              <a:buNone/>
            </a:pPr>
            <a:r>
              <a:rPr lang="en-US" sz="1400" i="1" dirty="0">
                <a:solidFill>
                  <a:srgbClr val="5B6B70"/>
                </a:solidFill>
                <a:latin typeface="Calibri" pitchFamily="34" charset="0"/>
                <a:ea typeface="Calibri" pitchFamily="34" charset="-122"/>
                <a:cs typeface="Calibri" pitchFamily="34" charset="-120"/>
              </a:rPr>
              <a:t>Strengths and limitations of the cultural approach</a:t>
            </a:r>
            <a:endParaRPr lang="en-US" sz="1400" dirty="0"/>
          </a:p>
        </p:txBody>
      </p:sp>
      <p:sp>
        <p:nvSpPr>
          <p:cNvPr id="4" name="Shape 2"/>
          <p:cNvSpPr/>
          <p:nvPr/>
        </p:nvSpPr>
        <p:spPr>
          <a:xfrm>
            <a:off x="457200" y="1600200"/>
            <a:ext cx="5212080" cy="4206240"/>
          </a:xfrm>
          <a:prstGeom prst="roundRect">
            <a:avLst>
              <a:gd name="adj" fmla="val 2174"/>
            </a:avLst>
          </a:prstGeom>
          <a:solidFill>
            <a:srgbClr val="FFFFFF"/>
          </a:solidFill>
          <a:ln w="19050">
            <a:solidFill>
              <a:srgbClr val="02C39A"/>
            </a:solidFill>
            <a:prstDash val="solid"/>
          </a:ln>
        </p:spPr>
      </p:sp>
      <p:sp>
        <p:nvSpPr>
          <p:cNvPr id="5" name="Text 3"/>
          <p:cNvSpPr/>
          <p:nvPr/>
        </p:nvSpPr>
        <p:spPr>
          <a:xfrm>
            <a:off x="685800" y="1737360"/>
            <a:ext cx="548640" cy="548640"/>
          </a:xfrm>
          <a:prstGeom prst="rect">
            <a:avLst/>
          </a:prstGeom>
          <a:noFill/>
          <a:ln/>
        </p:spPr>
        <p:txBody>
          <a:bodyPr wrap="square" rtlCol="0" anchor="ctr"/>
          <a:lstStyle/>
          <a:p>
            <a:pPr indent="0" marL="0">
              <a:buNone/>
            </a:pPr>
            <a:r>
              <a:rPr lang="en-US" sz="3000" b="1" dirty="0">
                <a:solidFill>
                  <a:srgbClr val="02C39A"/>
                </a:solidFill>
                <a:latin typeface="Cambria" pitchFamily="34" charset="0"/>
                <a:ea typeface="Cambria" pitchFamily="34" charset="-122"/>
                <a:cs typeface="Cambria" pitchFamily="34" charset="-120"/>
              </a:rPr>
              <a:t>+</a:t>
            </a:r>
            <a:endParaRPr lang="en-US" sz="3000" dirty="0"/>
          </a:p>
        </p:txBody>
      </p:sp>
      <p:sp>
        <p:nvSpPr>
          <p:cNvPr id="6" name="Text 4"/>
          <p:cNvSpPr/>
          <p:nvPr/>
        </p:nvSpPr>
        <p:spPr>
          <a:xfrm>
            <a:off x="1280160" y="1783080"/>
            <a:ext cx="4114800" cy="457200"/>
          </a:xfrm>
          <a:prstGeom prst="rect">
            <a:avLst/>
          </a:prstGeom>
          <a:noFill/>
          <a:ln/>
        </p:spPr>
        <p:txBody>
          <a:bodyPr wrap="square" rtlCol="0" anchor="ctr"/>
          <a:lstStyle/>
          <a:p>
            <a:pPr indent="0" marL="0">
              <a:buNone/>
            </a:pPr>
            <a:r>
              <a:rPr lang="en-US" sz="1800" b="1" dirty="0">
                <a:solidFill>
                  <a:srgbClr val="013A40"/>
                </a:solidFill>
                <a:latin typeface="Cambria" pitchFamily="34" charset="0"/>
                <a:ea typeface="Cambria" pitchFamily="34" charset="-122"/>
                <a:cs typeface="Cambria" pitchFamily="34" charset="-120"/>
              </a:rPr>
              <a:t>Strengths</a:t>
            </a:r>
            <a:endParaRPr lang="en-US" sz="1800" dirty="0"/>
          </a:p>
        </p:txBody>
      </p:sp>
      <p:sp>
        <p:nvSpPr>
          <p:cNvPr id="7" name="Text 5"/>
          <p:cNvSpPr/>
          <p:nvPr/>
        </p:nvSpPr>
        <p:spPr>
          <a:xfrm>
            <a:off x="731520" y="2514600"/>
            <a:ext cx="4663440" cy="960120"/>
          </a:xfrm>
          <a:prstGeom prst="rect">
            <a:avLst/>
          </a:prstGeom>
          <a:noFill/>
          <a:ln/>
        </p:spPr>
        <p:txBody>
          <a:bodyPr wrap="square" rtlCol="0" anchor="t"/>
          <a:lstStyle/>
          <a:p>
            <a:pPr indent="0" marL="0">
              <a:lnSpc>
                <a:spcPct val="120000"/>
              </a:lnSpc>
              <a:buNone/>
            </a:pPr>
            <a:r>
              <a:rPr lang="en-US" sz="1150" dirty="0">
                <a:solidFill>
                  <a:srgbClr val="1F2937"/>
                </a:solidFill>
                <a:latin typeface="Calibri" pitchFamily="34" charset="0"/>
                <a:ea typeface="Calibri" pitchFamily="34" charset="-122"/>
                <a:cs typeface="Calibri" pitchFamily="34" charset="-120"/>
              </a:rPr>
              <a:t>•  Relatively large sample sizes (e.g. 416 in Lin et al.) support some generalizability.</a:t>
            </a:r>
            <a:endParaRPr lang="en-US" sz="1150" dirty="0"/>
          </a:p>
        </p:txBody>
      </p:sp>
      <p:sp>
        <p:nvSpPr>
          <p:cNvPr id="8" name="Text 6"/>
          <p:cNvSpPr/>
          <p:nvPr/>
        </p:nvSpPr>
        <p:spPr>
          <a:xfrm>
            <a:off x="731520" y="3593592"/>
            <a:ext cx="4663440" cy="960120"/>
          </a:xfrm>
          <a:prstGeom prst="rect">
            <a:avLst/>
          </a:prstGeom>
          <a:noFill/>
          <a:ln/>
        </p:spPr>
        <p:txBody>
          <a:bodyPr wrap="square" rtlCol="0" anchor="t"/>
          <a:lstStyle/>
          <a:p>
            <a:pPr indent="0" marL="0">
              <a:lnSpc>
                <a:spcPct val="120000"/>
              </a:lnSpc>
              <a:buNone/>
            </a:pPr>
            <a:r>
              <a:rPr lang="en-US" sz="1150" dirty="0">
                <a:solidFill>
                  <a:srgbClr val="1F2937"/>
                </a:solidFill>
                <a:latin typeface="Calibri" pitchFamily="34" charset="0"/>
                <a:ea typeface="Calibri" pitchFamily="34" charset="-122"/>
                <a:cs typeface="Calibri" pitchFamily="34" charset="-120"/>
              </a:rPr>
              <a:t>•  Norasakkunkit &amp; Uchida ground their findings in a clear theoretical model (Berry &amp; Sam's acculturation framework), not just description.</a:t>
            </a:r>
            <a:endParaRPr lang="en-US" sz="1150" dirty="0"/>
          </a:p>
        </p:txBody>
      </p:sp>
      <p:sp>
        <p:nvSpPr>
          <p:cNvPr id="9" name="Text 7"/>
          <p:cNvSpPr/>
          <p:nvPr/>
        </p:nvSpPr>
        <p:spPr>
          <a:xfrm>
            <a:off x="731520" y="4672584"/>
            <a:ext cx="4663440" cy="960120"/>
          </a:xfrm>
          <a:prstGeom prst="rect">
            <a:avLst/>
          </a:prstGeom>
          <a:noFill/>
          <a:ln/>
        </p:spPr>
        <p:txBody>
          <a:bodyPr wrap="square" rtlCol="0" anchor="t"/>
          <a:lstStyle/>
          <a:p>
            <a:pPr indent="0" marL="0">
              <a:lnSpc>
                <a:spcPct val="120000"/>
              </a:lnSpc>
              <a:buNone/>
            </a:pPr>
            <a:r>
              <a:rPr lang="en-US" sz="1150" dirty="0">
                <a:solidFill>
                  <a:srgbClr val="1F2937"/>
                </a:solidFill>
                <a:latin typeface="Calibri" pitchFamily="34" charset="0"/>
                <a:ea typeface="Calibri" pitchFamily="34" charset="-122"/>
                <a:cs typeface="Calibri" pitchFamily="34" charset="-120"/>
              </a:rPr>
              <a:t>•  Lin et al. shows how hikikomori's presentation shifts with cultural, social, and economic pressures — not a fixed, uniform pattern.</a:t>
            </a:r>
            <a:endParaRPr lang="en-US" sz="1150" dirty="0"/>
          </a:p>
        </p:txBody>
      </p:sp>
      <p:sp>
        <p:nvSpPr>
          <p:cNvPr id="10" name="Shape 8"/>
          <p:cNvSpPr/>
          <p:nvPr/>
        </p:nvSpPr>
        <p:spPr>
          <a:xfrm>
            <a:off x="5943600" y="1600200"/>
            <a:ext cx="5760720" cy="4206240"/>
          </a:xfrm>
          <a:prstGeom prst="roundRect">
            <a:avLst>
              <a:gd name="adj" fmla="val 2174"/>
            </a:avLst>
          </a:prstGeom>
          <a:solidFill>
            <a:srgbClr val="FFFFFF"/>
          </a:solidFill>
          <a:ln w="19050">
            <a:solidFill>
              <a:srgbClr val="028090"/>
            </a:solidFill>
            <a:prstDash val="solid"/>
          </a:ln>
        </p:spPr>
      </p:sp>
      <p:sp>
        <p:nvSpPr>
          <p:cNvPr id="11" name="Text 9"/>
          <p:cNvSpPr/>
          <p:nvPr/>
        </p:nvSpPr>
        <p:spPr>
          <a:xfrm>
            <a:off x="6172200" y="1737360"/>
            <a:ext cx="548640" cy="548640"/>
          </a:xfrm>
          <a:prstGeom prst="rect">
            <a:avLst/>
          </a:prstGeom>
          <a:noFill/>
          <a:ln/>
        </p:spPr>
        <p:txBody>
          <a:bodyPr wrap="square"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a:t>
            </a:r>
            <a:endParaRPr lang="en-US" sz="3000" dirty="0"/>
          </a:p>
        </p:txBody>
      </p:sp>
      <p:sp>
        <p:nvSpPr>
          <p:cNvPr id="12" name="Text 10"/>
          <p:cNvSpPr/>
          <p:nvPr/>
        </p:nvSpPr>
        <p:spPr>
          <a:xfrm>
            <a:off x="6766560" y="1783080"/>
            <a:ext cx="4663440" cy="457200"/>
          </a:xfrm>
          <a:prstGeom prst="rect">
            <a:avLst/>
          </a:prstGeom>
          <a:noFill/>
          <a:ln/>
        </p:spPr>
        <p:txBody>
          <a:bodyPr wrap="square" rtlCol="0" anchor="ctr"/>
          <a:lstStyle/>
          <a:p>
            <a:pPr indent="0" marL="0">
              <a:buNone/>
            </a:pPr>
            <a:r>
              <a:rPr lang="en-US" sz="1800" b="1" dirty="0">
                <a:solidFill>
                  <a:srgbClr val="013A40"/>
                </a:solidFill>
                <a:latin typeface="Cambria" pitchFamily="34" charset="0"/>
                <a:ea typeface="Cambria" pitchFamily="34" charset="-122"/>
                <a:cs typeface="Cambria" pitchFamily="34" charset="-120"/>
              </a:rPr>
              <a:t>Limitations</a:t>
            </a:r>
            <a:endParaRPr lang="en-US" sz="1800" dirty="0"/>
          </a:p>
        </p:txBody>
      </p:sp>
      <p:sp>
        <p:nvSpPr>
          <p:cNvPr id="13" name="Text 11"/>
          <p:cNvSpPr/>
          <p:nvPr/>
        </p:nvSpPr>
        <p:spPr>
          <a:xfrm>
            <a:off x="6217920" y="2514600"/>
            <a:ext cx="5212080" cy="86868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All correlational — cause and effect cannot be established.</a:t>
            </a:r>
            <a:endParaRPr lang="en-US" sz="1100" dirty="0"/>
          </a:p>
        </p:txBody>
      </p:sp>
      <p:sp>
        <p:nvSpPr>
          <p:cNvPr id="14" name="Text 12"/>
          <p:cNvSpPr/>
          <p:nvPr/>
        </p:nvSpPr>
        <p:spPr>
          <a:xfrm>
            <a:off x="6217920" y="3447288"/>
            <a:ext cx="5212080" cy="86868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Studies often use analogous, at-risk samples rather than diagnosed hikikomori individuals, so how well findings generalize is uncertain.</a:t>
            </a:r>
            <a:endParaRPr lang="en-US" sz="1100" dirty="0"/>
          </a:p>
        </p:txBody>
      </p:sp>
      <p:sp>
        <p:nvSpPr>
          <p:cNvPr id="15" name="Text 13"/>
          <p:cNvSpPr/>
          <p:nvPr/>
        </p:nvSpPr>
        <p:spPr>
          <a:xfrm>
            <a:off x="6217920" y="4379976"/>
            <a:ext cx="5212080" cy="86868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Self-reported data throughout, leaving results open to demand characteristics.</a:t>
            </a:r>
            <a:endParaRPr lang="en-US" sz="1100" dirty="0"/>
          </a:p>
        </p:txBody>
      </p:sp>
      <p:sp>
        <p:nvSpPr>
          <p:cNvPr id="16" name="Text 14"/>
          <p:cNvSpPr/>
          <p:nvPr/>
        </p:nvSpPr>
        <p:spPr>
          <a:xfrm>
            <a:off x="6217920" y="5312664"/>
            <a:ext cx="5212080" cy="868680"/>
          </a:xfrm>
          <a:prstGeom prst="rect">
            <a:avLst/>
          </a:prstGeom>
          <a:noFill/>
          <a:ln/>
        </p:spPr>
        <p:txBody>
          <a:bodyPr wrap="square" rtlCol="0" anchor="t"/>
          <a:lstStyle/>
          <a:p>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  A focus on young people may distort the picture: a 2018 KHJ survey put the average hikikomori age at 34.4 — four years older than a decade earlier.</a:t>
            </a:r>
            <a:endParaRPr lang="en-US" sz="1100" dirty="0"/>
          </a:p>
        </p:txBody>
      </p:sp>
      <p:sp>
        <p:nvSpPr>
          <p:cNvPr id="17" name="Text 15"/>
          <p:cNvSpPr/>
          <p:nvPr/>
        </p:nvSpPr>
        <p:spPr>
          <a:xfrm>
            <a:off x="457200" y="5989320"/>
            <a:ext cx="7315200" cy="274320"/>
          </a:xfrm>
          <a:prstGeom prst="rect">
            <a:avLst/>
          </a:prstGeom>
          <a:noFill/>
          <a:ln/>
        </p:spPr>
        <p:txBody>
          <a:bodyPr wrap="square"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Cultural factors • Evaluation</a:t>
            </a:r>
            <a:endParaRPr lang="en-US" sz="1100" dirty="0"/>
          </a:p>
        </p:txBody>
      </p:sp>
      <p:sp>
        <p:nvSpPr>
          <p:cNvPr id="18" name="Text 16"/>
          <p:cNvSpPr/>
          <p:nvPr/>
        </p:nvSpPr>
        <p:spPr>
          <a:xfrm>
            <a:off x="7589520" y="6510528"/>
            <a:ext cx="411480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Cultural Differences: SAD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13A40"/>
        </a:solidFill>
      </p:bgPr>
    </p:bg>
    <p:spTree>
      <p:nvGrpSpPr>
        <p:cNvPr id="1" name=""/>
        <p:cNvGrpSpPr/>
        <p:nvPr/>
      </p:nvGrpSpPr>
      <p:grpSpPr>
        <a:xfrm>
          <a:off x="0" y="0"/>
          <a:ext cx="0" cy="0"/>
          <a:chOff x="0" y="0"/>
          <a:chExt cx="0" cy="0"/>
        </a:xfrm>
      </p:grpSpPr>
      <p:sp>
        <p:nvSpPr>
          <p:cNvPr id="2" name="Text 0"/>
          <p:cNvSpPr/>
          <p:nvPr/>
        </p:nvSpPr>
        <p:spPr>
          <a:xfrm>
            <a:off x="548640" y="457200"/>
            <a:ext cx="1069848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Full Picture, Culturally Contextualized</a:t>
            </a:r>
            <a:endParaRPr lang="en-US" sz="2800" dirty="0"/>
          </a:p>
        </p:txBody>
      </p:sp>
      <p:sp>
        <p:nvSpPr>
          <p:cNvPr id="3" name="Text 1"/>
          <p:cNvSpPr/>
          <p:nvPr/>
        </p:nvSpPr>
        <p:spPr>
          <a:xfrm>
            <a:off x="548640" y="1051560"/>
            <a:ext cx="10698480" cy="457200"/>
          </a:xfrm>
          <a:prstGeom prst="rect">
            <a:avLst/>
          </a:prstGeom>
          <a:noFill/>
          <a:ln/>
        </p:spPr>
        <p:txBody>
          <a:bodyPr wrap="square" rtlCol="0" anchor="ctr"/>
          <a:lstStyle/>
          <a:p>
            <a:pPr indent="0" marL="0">
              <a:buNone/>
            </a:pPr>
            <a:r>
              <a:rPr lang="en-US" sz="1300" i="1" dirty="0">
                <a:solidFill>
                  <a:srgbClr val="F2F9F8"/>
                </a:solidFill>
                <a:latin typeface="Calibri" pitchFamily="34" charset="0"/>
                <a:ea typeface="Calibri" pitchFamily="34" charset="-122"/>
                <a:cs typeface="Calibri" pitchFamily="34" charset="-120"/>
              </a:rPr>
              <a:t>Culture doesn't add a fifth cause — it shapes how every other factor is expressed and recognized</a:t>
            </a:r>
            <a:endParaRPr lang="en-US" sz="1300" dirty="0"/>
          </a:p>
        </p:txBody>
      </p:sp>
      <p:sp>
        <p:nvSpPr>
          <p:cNvPr id="4" name="Text 2"/>
          <p:cNvSpPr/>
          <p:nvPr/>
        </p:nvSpPr>
        <p:spPr>
          <a:xfrm>
            <a:off x="548640" y="1691640"/>
            <a:ext cx="10698480" cy="822960"/>
          </a:xfrm>
          <a:prstGeom prst="rect">
            <a:avLst/>
          </a:prstGeom>
          <a:noFill/>
          <a:ln/>
        </p:spPr>
        <p:txBody>
          <a:bodyPr wrap="square" rtlCol="0" anchor="t"/>
          <a:lstStyle/>
          <a:p>
            <a:pPr indent="0" marL="0">
              <a:lnSpc>
                <a:spcPct val="120000"/>
              </a:lnSpc>
              <a:buNone/>
            </a:pPr>
            <a:r>
              <a:rPr lang="en-US" sz="1250" dirty="0">
                <a:solidFill>
                  <a:srgbClr val="F2F9F8"/>
                </a:solidFill>
                <a:latin typeface="Calibri" pitchFamily="34" charset="0"/>
                <a:ea typeface="Calibri" pitchFamily="34" charset="-122"/>
                <a:cs typeface="Calibri" pitchFamily="34" charset="-120"/>
              </a:rPr>
              <a:t>Genetic risk, neurochemical sensitivity, cognitive processing, and environmental context all interact to produce SAD — but culture determines what that interaction looks like on the outside, what gets labelled a disorder, and who ends up being diagnosed at all.</a:t>
            </a:r>
            <a:endParaRPr lang="en-US" sz="1250" dirty="0"/>
          </a:p>
        </p:txBody>
      </p:sp>
      <p:sp>
        <p:nvSpPr>
          <p:cNvPr id="5" name="Shape 3"/>
          <p:cNvSpPr/>
          <p:nvPr/>
        </p:nvSpPr>
        <p:spPr>
          <a:xfrm>
            <a:off x="548640" y="2743200"/>
            <a:ext cx="2051914" cy="1691640"/>
          </a:xfrm>
          <a:prstGeom prst="roundRect">
            <a:avLst>
              <a:gd name="adj" fmla="val 5405"/>
            </a:avLst>
          </a:prstGeom>
          <a:solidFill>
            <a:srgbClr val="028090"/>
          </a:solidFill>
          <a:ln/>
        </p:spPr>
      </p:sp>
      <p:sp>
        <p:nvSpPr>
          <p:cNvPr id="6" name="Text 4"/>
          <p:cNvSpPr/>
          <p:nvPr/>
        </p:nvSpPr>
        <p:spPr>
          <a:xfrm>
            <a:off x="658368" y="2880360"/>
            <a:ext cx="1832458" cy="640080"/>
          </a:xfrm>
          <a:prstGeom prst="rect">
            <a:avLst/>
          </a:prstGeom>
          <a:noFill/>
          <a:ln/>
        </p:spPr>
        <p:txBody>
          <a:bodyPr wrap="square" rtlCol="0" anchor="ctr"/>
          <a:lstStyle/>
          <a:p>
            <a:pPr indent="0" marL="0">
              <a:lnSpc>
                <a:spcPct val="105000"/>
              </a:lnSpc>
              <a:buNone/>
            </a:pPr>
            <a:r>
              <a:rPr lang="en-US" sz="1250" b="1" dirty="0">
                <a:solidFill>
                  <a:srgbClr val="FFFFFF"/>
                </a:solidFill>
                <a:latin typeface="Cambria" pitchFamily="34" charset="0"/>
                <a:ea typeface="Cambria" pitchFamily="34" charset="-122"/>
                <a:cs typeface="Cambria" pitchFamily="34" charset="-120"/>
              </a:rPr>
              <a:t>Genetics</a:t>
            </a:r>
            <a:endParaRPr lang="en-US" sz="1250" dirty="0"/>
          </a:p>
        </p:txBody>
      </p:sp>
      <p:sp>
        <p:nvSpPr>
          <p:cNvPr id="7" name="Text 5"/>
          <p:cNvSpPr/>
          <p:nvPr/>
        </p:nvSpPr>
        <p:spPr>
          <a:xfrm>
            <a:off x="658368" y="3520440"/>
            <a:ext cx="1832458" cy="777240"/>
          </a:xfrm>
          <a:prstGeom prst="rect">
            <a:avLst/>
          </a:prstGeom>
          <a:noFill/>
          <a:ln/>
        </p:spPr>
        <p:txBody>
          <a:bodyPr wrap="square" rtlCol="0" anchor="ctr"/>
          <a:lstStyle/>
          <a:p>
            <a:pPr indent="0" marL="0">
              <a:lnSpc>
                <a:spcPct val="115000"/>
              </a:lnSpc>
              <a:buNone/>
            </a:pPr>
            <a:r>
              <a:rPr lang="en-US" sz="950" dirty="0">
                <a:solidFill>
                  <a:srgbClr val="FFFFFF"/>
                </a:solidFill>
                <a:latin typeface="Calibri" pitchFamily="34" charset="0"/>
                <a:ea typeface="Calibri" pitchFamily="34" charset="-122"/>
                <a:cs typeface="Calibri" pitchFamily="34" charset="-120"/>
              </a:rPr>
              <a:t>Heritable</a:t>
            </a:r>
            <a:endParaRPr lang="en-US" sz="950" dirty="0"/>
          </a:p>
          <a:p>
            <a:pPr indent="0" marL="0">
              <a:lnSpc>
                <a:spcPct val="115000"/>
              </a:lnSpc>
              <a:buNone/>
            </a:pPr>
            <a:r>
              <a:rPr lang="en-US" sz="950" dirty="0">
                <a:solidFill>
                  <a:srgbClr val="FFFFFF"/>
                </a:solidFill>
                <a:latin typeface="Calibri" pitchFamily="34" charset="0"/>
                <a:ea typeface="Calibri" pitchFamily="34" charset="-122"/>
                <a:cs typeface="Calibri" pitchFamily="34" charset="-120"/>
              </a:rPr>
              <a:t>predisposition</a:t>
            </a:r>
            <a:endParaRPr lang="en-US" sz="950" dirty="0"/>
          </a:p>
        </p:txBody>
      </p:sp>
      <p:sp>
        <p:nvSpPr>
          <p:cNvPr id="8" name="Shape 6"/>
          <p:cNvSpPr/>
          <p:nvPr/>
        </p:nvSpPr>
        <p:spPr>
          <a:xfrm>
            <a:off x="2801722" y="2743200"/>
            <a:ext cx="2051914" cy="1691640"/>
          </a:xfrm>
          <a:prstGeom prst="roundRect">
            <a:avLst>
              <a:gd name="adj" fmla="val 5405"/>
            </a:avLst>
          </a:prstGeom>
          <a:solidFill>
            <a:srgbClr val="028090"/>
          </a:solidFill>
          <a:ln/>
        </p:spPr>
      </p:sp>
      <p:sp>
        <p:nvSpPr>
          <p:cNvPr id="9" name="Text 7"/>
          <p:cNvSpPr/>
          <p:nvPr/>
        </p:nvSpPr>
        <p:spPr>
          <a:xfrm>
            <a:off x="2911450" y="2880360"/>
            <a:ext cx="1832458" cy="640080"/>
          </a:xfrm>
          <a:prstGeom prst="rect">
            <a:avLst/>
          </a:prstGeom>
          <a:noFill/>
          <a:ln/>
        </p:spPr>
        <p:txBody>
          <a:bodyPr wrap="square" rtlCol="0" anchor="ctr"/>
          <a:lstStyle/>
          <a:p>
            <a:pPr indent="0" marL="0">
              <a:lnSpc>
                <a:spcPct val="105000"/>
              </a:lnSpc>
              <a:buNone/>
            </a:pPr>
            <a:r>
              <a:rPr lang="en-US" sz="1250" b="1" dirty="0">
                <a:solidFill>
                  <a:srgbClr val="FFFFFF"/>
                </a:solidFill>
                <a:latin typeface="Cambria" pitchFamily="34" charset="0"/>
                <a:ea typeface="Cambria" pitchFamily="34" charset="-122"/>
                <a:cs typeface="Cambria" pitchFamily="34" charset="-120"/>
              </a:rPr>
              <a:t>Neurochemistry</a:t>
            </a:r>
            <a:endParaRPr lang="en-US" sz="1250" dirty="0"/>
          </a:p>
        </p:txBody>
      </p:sp>
      <p:sp>
        <p:nvSpPr>
          <p:cNvPr id="10" name="Text 8"/>
          <p:cNvSpPr/>
          <p:nvPr/>
        </p:nvSpPr>
        <p:spPr>
          <a:xfrm>
            <a:off x="2911450" y="3520440"/>
            <a:ext cx="1832458" cy="777240"/>
          </a:xfrm>
          <a:prstGeom prst="rect">
            <a:avLst/>
          </a:prstGeom>
          <a:noFill/>
          <a:ln/>
        </p:spPr>
        <p:txBody>
          <a:bodyPr wrap="square" rtlCol="0" anchor="ctr"/>
          <a:lstStyle/>
          <a:p>
            <a:pPr indent="0" marL="0">
              <a:lnSpc>
                <a:spcPct val="115000"/>
              </a:lnSpc>
              <a:buNone/>
            </a:pPr>
            <a:r>
              <a:rPr lang="en-US" sz="950" dirty="0">
                <a:solidFill>
                  <a:srgbClr val="FFFFFF"/>
                </a:solidFill>
                <a:latin typeface="Calibri" pitchFamily="34" charset="0"/>
                <a:ea typeface="Calibri" pitchFamily="34" charset="-122"/>
                <a:cs typeface="Calibri" pitchFamily="34" charset="-120"/>
              </a:rPr>
              <a:t>Oxytocin &amp;</a:t>
            </a:r>
            <a:endParaRPr lang="en-US" sz="950" dirty="0"/>
          </a:p>
          <a:p>
            <a:pPr indent="0" marL="0">
              <a:lnSpc>
                <a:spcPct val="115000"/>
              </a:lnSpc>
              <a:buNone/>
            </a:pPr>
            <a:r>
              <a:rPr lang="en-US" sz="950" dirty="0">
                <a:solidFill>
                  <a:srgbClr val="FFFFFF"/>
                </a:solidFill>
                <a:latin typeface="Calibri" pitchFamily="34" charset="0"/>
                <a:ea typeface="Calibri" pitchFamily="34" charset="-122"/>
                <a:cs typeface="Calibri" pitchFamily="34" charset="-120"/>
              </a:rPr>
              <a:t>amygdala response</a:t>
            </a:r>
            <a:endParaRPr lang="en-US" sz="950" dirty="0"/>
          </a:p>
        </p:txBody>
      </p:sp>
      <p:sp>
        <p:nvSpPr>
          <p:cNvPr id="11" name="Shape 9"/>
          <p:cNvSpPr/>
          <p:nvPr/>
        </p:nvSpPr>
        <p:spPr>
          <a:xfrm>
            <a:off x="5054803" y="2743200"/>
            <a:ext cx="2051914" cy="1691640"/>
          </a:xfrm>
          <a:prstGeom prst="roundRect">
            <a:avLst>
              <a:gd name="adj" fmla="val 5405"/>
            </a:avLst>
          </a:prstGeom>
          <a:solidFill>
            <a:srgbClr val="028090"/>
          </a:solidFill>
          <a:ln/>
        </p:spPr>
      </p:sp>
      <p:sp>
        <p:nvSpPr>
          <p:cNvPr id="12" name="Text 10"/>
          <p:cNvSpPr/>
          <p:nvPr/>
        </p:nvSpPr>
        <p:spPr>
          <a:xfrm>
            <a:off x="5164531" y="2880360"/>
            <a:ext cx="1832458" cy="640080"/>
          </a:xfrm>
          <a:prstGeom prst="rect">
            <a:avLst/>
          </a:prstGeom>
          <a:noFill/>
          <a:ln/>
        </p:spPr>
        <p:txBody>
          <a:bodyPr wrap="square" rtlCol="0" anchor="ctr"/>
          <a:lstStyle/>
          <a:p>
            <a:pPr indent="0" marL="0">
              <a:lnSpc>
                <a:spcPct val="105000"/>
              </a:lnSpc>
              <a:buNone/>
            </a:pPr>
            <a:r>
              <a:rPr lang="en-US" sz="1250" b="1" dirty="0">
                <a:solidFill>
                  <a:srgbClr val="FFFFFF"/>
                </a:solidFill>
                <a:latin typeface="Cambria" pitchFamily="34" charset="0"/>
                <a:ea typeface="Cambria" pitchFamily="34" charset="-122"/>
                <a:cs typeface="Cambria" pitchFamily="34" charset="-120"/>
              </a:rPr>
              <a:t>Cognition</a:t>
            </a:r>
            <a:endParaRPr lang="en-US" sz="1250" dirty="0"/>
          </a:p>
        </p:txBody>
      </p:sp>
      <p:sp>
        <p:nvSpPr>
          <p:cNvPr id="13" name="Text 11"/>
          <p:cNvSpPr/>
          <p:nvPr/>
        </p:nvSpPr>
        <p:spPr>
          <a:xfrm>
            <a:off x="5164531" y="3520440"/>
            <a:ext cx="1832458" cy="777240"/>
          </a:xfrm>
          <a:prstGeom prst="rect">
            <a:avLst/>
          </a:prstGeom>
          <a:noFill/>
          <a:ln/>
        </p:spPr>
        <p:txBody>
          <a:bodyPr wrap="square" rtlCol="0" anchor="ctr"/>
          <a:lstStyle/>
          <a:p>
            <a:pPr indent="0" marL="0">
              <a:lnSpc>
                <a:spcPct val="115000"/>
              </a:lnSpc>
              <a:buNone/>
            </a:pPr>
            <a:r>
              <a:rPr lang="en-US" sz="950" dirty="0">
                <a:solidFill>
                  <a:srgbClr val="FFFFFF"/>
                </a:solidFill>
                <a:latin typeface="Calibri" pitchFamily="34" charset="0"/>
                <a:ea typeface="Calibri" pitchFamily="34" charset="-122"/>
                <a:cs typeface="Calibri" pitchFamily="34" charset="-120"/>
              </a:rPr>
              <a:t>Conditioning &amp;</a:t>
            </a:r>
            <a:endParaRPr lang="en-US" sz="950" dirty="0"/>
          </a:p>
          <a:p>
            <a:pPr indent="0" marL="0">
              <a:lnSpc>
                <a:spcPct val="115000"/>
              </a:lnSpc>
              <a:buNone/>
            </a:pPr>
            <a:r>
              <a:rPr lang="en-US" sz="950" dirty="0">
                <a:solidFill>
                  <a:srgbClr val="FFFFFF"/>
                </a:solidFill>
                <a:latin typeface="Calibri" pitchFamily="34" charset="0"/>
                <a:ea typeface="Calibri" pitchFamily="34" charset="-122"/>
                <a:cs typeface="Calibri" pitchFamily="34" charset="-120"/>
              </a:rPr>
              <a:t>rumination</a:t>
            </a:r>
            <a:endParaRPr lang="en-US" sz="950" dirty="0"/>
          </a:p>
        </p:txBody>
      </p:sp>
      <p:sp>
        <p:nvSpPr>
          <p:cNvPr id="14" name="Shape 12"/>
          <p:cNvSpPr/>
          <p:nvPr/>
        </p:nvSpPr>
        <p:spPr>
          <a:xfrm>
            <a:off x="7307885" y="2743200"/>
            <a:ext cx="2051914" cy="1691640"/>
          </a:xfrm>
          <a:prstGeom prst="roundRect">
            <a:avLst>
              <a:gd name="adj" fmla="val 5405"/>
            </a:avLst>
          </a:prstGeom>
          <a:solidFill>
            <a:srgbClr val="028090"/>
          </a:solidFill>
          <a:ln/>
        </p:spPr>
      </p:sp>
      <p:sp>
        <p:nvSpPr>
          <p:cNvPr id="15" name="Text 13"/>
          <p:cNvSpPr/>
          <p:nvPr/>
        </p:nvSpPr>
        <p:spPr>
          <a:xfrm>
            <a:off x="7417613" y="2880360"/>
            <a:ext cx="1832458" cy="640080"/>
          </a:xfrm>
          <a:prstGeom prst="rect">
            <a:avLst/>
          </a:prstGeom>
          <a:noFill/>
          <a:ln/>
        </p:spPr>
        <p:txBody>
          <a:bodyPr wrap="square" rtlCol="0" anchor="ctr"/>
          <a:lstStyle/>
          <a:p>
            <a:pPr indent="0" marL="0">
              <a:lnSpc>
                <a:spcPct val="105000"/>
              </a:lnSpc>
              <a:buNone/>
            </a:pPr>
            <a:r>
              <a:rPr lang="en-US" sz="1250" b="1" dirty="0">
                <a:solidFill>
                  <a:srgbClr val="FFFFFF"/>
                </a:solidFill>
                <a:latin typeface="Cambria" pitchFamily="34" charset="0"/>
                <a:ea typeface="Cambria" pitchFamily="34" charset="-122"/>
                <a:cs typeface="Cambria" pitchFamily="34" charset="-120"/>
              </a:rPr>
              <a:t>Environment</a:t>
            </a:r>
            <a:endParaRPr lang="en-US" sz="1250" dirty="0"/>
          </a:p>
        </p:txBody>
      </p:sp>
      <p:sp>
        <p:nvSpPr>
          <p:cNvPr id="16" name="Text 14"/>
          <p:cNvSpPr/>
          <p:nvPr/>
        </p:nvSpPr>
        <p:spPr>
          <a:xfrm>
            <a:off x="7417613" y="3520440"/>
            <a:ext cx="1832458" cy="777240"/>
          </a:xfrm>
          <a:prstGeom prst="rect">
            <a:avLst/>
          </a:prstGeom>
          <a:noFill/>
          <a:ln/>
        </p:spPr>
        <p:txBody>
          <a:bodyPr wrap="square" rtlCol="0" anchor="ctr"/>
          <a:lstStyle/>
          <a:p>
            <a:pPr indent="0" marL="0">
              <a:lnSpc>
                <a:spcPct val="115000"/>
              </a:lnSpc>
              <a:buNone/>
            </a:pPr>
            <a:r>
              <a:rPr lang="en-US" sz="950" dirty="0">
                <a:solidFill>
                  <a:srgbClr val="FFFFFF"/>
                </a:solidFill>
                <a:latin typeface="Calibri" pitchFamily="34" charset="0"/>
                <a:ea typeface="Calibri" pitchFamily="34" charset="-122"/>
                <a:cs typeface="Calibri" pitchFamily="34" charset="-120"/>
              </a:rPr>
              <a:t>Family &amp;</a:t>
            </a:r>
            <a:endParaRPr lang="en-US" sz="950" dirty="0"/>
          </a:p>
          <a:p>
            <a:pPr indent="0" marL="0">
              <a:lnSpc>
                <a:spcPct val="115000"/>
              </a:lnSpc>
              <a:buNone/>
            </a:pPr>
            <a:r>
              <a:rPr lang="en-US" sz="950" dirty="0">
                <a:solidFill>
                  <a:srgbClr val="FFFFFF"/>
                </a:solidFill>
                <a:latin typeface="Calibri" pitchFamily="34" charset="0"/>
                <a:ea typeface="Calibri" pitchFamily="34" charset="-122"/>
                <a:cs typeface="Calibri" pitchFamily="34" charset="-120"/>
              </a:rPr>
              <a:t>disruptive events</a:t>
            </a:r>
            <a:endParaRPr lang="en-US" sz="950" dirty="0"/>
          </a:p>
        </p:txBody>
      </p:sp>
      <p:sp>
        <p:nvSpPr>
          <p:cNvPr id="17" name="Shape 15"/>
          <p:cNvSpPr/>
          <p:nvPr/>
        </p:nvSpPr>
        <p:spPr>
          <a:xfrm>
            <a:off x="9560966" y="2743200"/>
            <a:ext cx="2051914" cy="1691640"/>
          </a:xfrm>
          <a:prstGeom prst="roundRect">
            <a:avLst>
              <a:gd name="adj" fmla="val 5405"/>
            </a:avLst>
          </a:prstGeom>
          <a:solidFill>
            <a:srgbClr val="02C39A"/>
          </a:solidFill>
          <a:ln/>
        </p:spPr>
      </p:sp>
      <p:sp>
        <p:nvSpPr>
          <p:cNvPr id="18" name="Text 16"/>
          <p:cNvSpPr/>
          <p:nvPr/>
        </p:nvSpPr>
        <p:spPr>
          <a:xfrm>
            <a:off x="9670694" y="2880360"/>
            <a:ext cx="1832458" cy="640080"/>
          </a:xfrm>
          <a:prstGeom prst="rect">
            <a:avLst/>
          </a:prstGeom>
          <a:noFill/>
          <a:ln/>
        </p:spPr>
        <p:txBody>
          <a:bodyPr wrap="square" rtlCol="0" anchor="ctr"/>
          <a:lstStyle/>
          <a:p>
            <a:pPr indent="0" marL="0">
              <a:lnSpc>
                <a:spcPct val="105000"/>
              </a:lnSpc>
              <a:buNone/>
            </a:pPr>
            <a:r>
              <a:rPr lang="en-US" sz="1250" b="1" dirty="0">
                <a:solidFill>
                  <a:srgbClr val="FFFFFF"/>
                </a:solidFill>
                <a:latin typeface="Cambria" pitchFamily="34" charset="0"/>
                <a:ea typeface="Cambria" pitchFamily="34" charset="-122"/>
                <a:cs typeface="Cambria" pitchFamily="34" charset="-120"/>
              </a:rPr>
              <a:t>Culture</a:t>
            </a:r>
            <a:endParaRPr lang="en-US" sz="1250" dirty="0"/>
          </a:p>
        </p:txBody>
      </p:sp>
      <p:sp>
        <p:nvSpPr>
          <p:cNvPr id="19" name="Text 17"/>
          <p:cNvSpPr/>
          <p:nvPr/>
        </p:nvSpPr>
        <p:spPr>
          <a:xfrm>
            <a:off x="9670694" y="3520440"/>
            <a:ext cx="1832458" cy="777240"/>
          </a:xfrm>
          <a:prstGeom prst="rect">
            <a:avLst/>
          </a:prstGeom>
          <a:noFill/>
          <a:ln/>
        </p:spPr>
        <p:txBody>
          <a:bodyPr wrap="square" rtlCol="0" anchor="ctr"/>
          <a:lstStyle/>
          <a:p>
            <a:pPr indent="0" marL="0">
              <a:lnSpc>
                <a:spcPct val="115000"/>
              </a:lnSpc>
              <a:buNone/>
            </a:pPr>
            <a:r>
              <a:rPr lang="en-US" sz="950" dirty="0">
                <a:solidFill>
                  <a:srgbClr val="FFFFFF"/>
                </a:solidFill>
                <a:latin typeface="Calibri" pitchFamily="34" charset="0"/>
                <a:ea typeface="Calibri" pitchFamily="34" charset="-122"/>
                <a:cs typeface="Calibri" pitchFamily="34" charset="-120"/>
              </a:rPr>
              <a:t>Norms, stigma &amp;</a:t>
            </a:r>
            <a:endParaRPr lang="en-US" sz="950" dirty="0"/>
          </a:p>
          <a:p>
            <a:pPr indent="0" marL="0">
              <a:lnSpc>
                <a:spcPct val="115000"/>
              </a:lnSpc>
              <a:buNone/>
            </a:pPr>
            <a:r>
              <a:rPr lang="en-US" sz="950" dirty="0">
                <a:solidFill>
                  <a:srgbClr val="FFFFFF"/>
                </a:solidFill>
                <a:latin typeface="Calibri" pitchFamily="34" charset="0"/>
                <a:ea typeface="Calibri" pitchFamily="34" charset="-122"/>
                <a:cs typeface="Calibri" pitchFamily="34" charset="-120"/>
              </a:rPr>
              <a:t>diagnostic criteria</a:t>
            </a:r>
            <a:endParaRPr lang="en-US" sz="950" dirty="0"/>
          </a:p>
        </p:txBody>
      </p:sp>
      <p:sp>
        <p:nvSpPr>
          <p:cNvPr id="20" name="Shape 18"/>
          <p:cNvSpPr/>
          <p:nvPr/>
        </p:nvSpPr>
        <p:spPr>
          <a:xfrm>
            <a:off x="548640" y="4709160"/>
            <a:ext cx="11064240" cy="1417320"/>
          </a:xfrm>
          <a:prstGeom prst="roundRect">
            <a:avLst>
              <a:gd name="adj" fmla="val 6452"/>
            </a:avLst>
          </a:prstGeom>
          <a:solidFill>
            <a:srgbClr val="028090">
              <a:alpha val="85000"/>
            </a:srgbClr>
          </a:solidFill>
          <a:ln w="12700">
            <a:solidFill>
              <a:srgbClr val="02C39A"/>
            </a:solidFill>
            <a:prstDash val="solid"/>
          </a:ln>
        </p:spPr>
      </p:sp>
      <p:sp>
        <p:nvSpPr>
          <p:cNvPr id="21" name="Text 19"/>
          <p:cNvSpPr/>
          <p:nvPr/>
        </p:nvSpPr>
        <p:spPr>
          <a:xfrm>
            <a:off x="822960" y="4846320"/>
            <a:ext cx="10515600" cy="1143000"/>
          </a:xfrm>
          <a:prstGeom prst="rect">
            <a:avLst/>
          </a:prstGeom>
          <a:noFill/>
          <a:ln/>
        </p:spPr>
        <p:txBody>
          <a:bodyPr wrap="square" rtlCol="0" anchor="ctr"/>
          <a:lstStyle/>
          <a:p>
            <a:pPr indent="0" marL="0">
              <a:lnSpc>
                <a:spcPct val="120000"/>
              </a:lnSpc>
              <a:buNone/>
            </a:pPr>
            <a:r>
              <a:rPr lang="en-US" sz="1200" i="1" dirty="0">
                <a:solidFill>
                  <a:srgbClr val="FFFFFF"/>
                </a:solidFill>
                <a:latin typeface="Calibri" pitchFamily="34" charset="0"/>
                <a:ea typeface="Calibri" pitchFamily="34" charset="-122"/>
                <a:cs typeface="Calibri" pitchFamily="34" charset="-120"/>
              </a:rPr>
              <a:t>Hikikomori makes this vivid: the same underlying vulnerability to social fear can surface as Western-diagnosed SAD, as culturally specific withdrawal in Japan, or as enforced emotional withdrawal in Singapore — depending entirely on the cultural and economic context around it.</a:t>
            </a:r>
            <a:endParaRPr lang="en-US" sz="1200" dirty="0"/>
          </a:p>
        </p:txBody>
      </p:sp>
      <p:sp>
        <p:nvSpPr>
          <p:cNvPr id="22" name="Text 20"/>
          <p:cNvSpPr/>
          <p:nvPr/>
        </p:nvSpPr>
        <p:spPr>
          <a:xfrm>
            <a:off x="548640" y="6400800"/>
            <a:ext cx="5486400" cy="274320"/>
          </a:xfrm>
          <a:prstGeom prst="rect">
            <a:avLst/>
          </a:prstGeom>
          <a:noFill/>
          <a:ln/>
        </p:spPr>
        <p:txBody>
          <a:bodyPr wrap="square"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Synthesis • Conclusion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2026-08-11T13:13:14Z</dcterms:created>
  <dcterms:modified xsi:type="dcterms:W3CDTF">2026-08-11T13:13:15Z</dcterms:modified>
</cp:coreProperties>
</file>