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114800" cy="4114800"/>
          </a:xfrm>
          <a:prstGeom prst="ellipse">
            <a:avLst/>
          </a:prstGeom>
          <a:solidFill>
            <a:srgbClr val="8B6FB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F2A65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PSYCHOLOGY  ·  BIOLOGICAL LEVEL OF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Brain &amp; the Neuron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Lobes, structures, and the building blocks of the nervous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365760" cy="109728"/>
          </a:xfrm>
          <a:prstGeom prst="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4297680"/>
            <a:ext cx="365760" cy="109728"/>
          </a:xfrm>
          <a:prstGeom prst="rect">
            <a:avLst>
              <a:gd name="adj" fmla="val 50000"/>
            </a:avLst>
          </a:prstGeom>
          <a:solidFill>
            <a:srgbClr val="8B6FB3"/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4297680"/>
            <a:ext cx="365760" cy="109728"/>
          </a:xfrm>
          <a:prstGeom prst="rect">
            <a:avLst>
              <a:gd name="adj" fmla="val 50000"/>
            </a:avLst>
          </a:prstGeom>
          <a:solidFill>
            <a:srgbClr val="5FA8A0"/>
          </a:solidFill>
          <a:ln/>
        </p:spPr>
      </p:sp>
      <p:sp>
        <p:nvSpPr>
          <p:cNvPr id="10" name="Shape 8"/>
          <p:cNvSpPr/>
          <p:nvPr/>
        </p:nvSpPr>
        <p:spPr>
          <a:xfrm>
            <a:off x="2331720" y="4297680"/>
            <a:ext cx="365760" cy="109728"/>
          </a:xfrm>
          <a:prstGeom prst="rect">
            <a:avLst>
              <a:gd name="adj" fmla="val 50000"/>
            </a:avLst>
          </a:prstGeom>
          <a:solidFill>
            <a:srgbClr val="D9636C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4297680"/>
            <a:ext cx="365760" cy="109728"/>
          </a:xfrm>
          <a:prstGeom prst="rect">
            <a:avLst>
              <a:gd name="adj" fmla="val 50000"/>
            </a:avLst>
          </a:prstGeom>
          <a:solidFill>
            <a:srgbClr val="F4D3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Major Divisions of the Brain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19272" cy="374904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27000" dist="38100" dir="5400000">
              <a:srgbClr val="3A2C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71800"/>
            <a:ext cx="2679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Cerebrum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6791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region. Two hemispheres, four lobes each. Handles higher-order thinking: reasoning, language, movement, and personality.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87952" y="1828800"/>
            <a:ext cx="3319272" cy="374904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27000" dist="38100" dir="5400000">
              <a:srgbClr val="3A2C5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07992" y="2148840"/>
            <a:ext cx="640080" cy="640080"/>
          </a:xfrm>
          <a:prstGeom prst="ellipse">
            <a:avLst/>
          </a:prstGeom>
          <a:solidFill>
            <a:srgbClr val="F4D35E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2971800"/>
            <a:ext cx="2679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Cerebellum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07992" y="3429000"/>
            <a:ext cx="26791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Tucked under the back of the cerebrum. Coordinates balance, posture, and smooth, precise movement — often called the “little brain.”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27264" y="1828800"/>
            <a:ext cx="3319272" cy="374904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27000" dist="38100" dir="5400000">
              <a:srgbClr val="3A2C5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7304" y="2148840"/>
            <a:ext cx="640080" cy="640080"/>
          </a:xfrm>
          <a:prstGeom prst="ellipse">
            <a:avLst/>
          </a:prstGeom>
          <a:solidFill>
            <a:srgbClr val="D9636C"/>
          </a:solidFill>
          <a:ln/>
        </p:spPr>
      </p:sp>
      <p:sp>
        <p:nvSpPr>
          <p:cNvPr id="14" name="Text 12"/>
          <p:cNvSpPr/>
          <p:nvPr/>
        </p:nvSpPr>
        <p:spPr>
          <a:xfrm>
            <a:off x="8147304" y="2971800"/>
            <a:ext cx="2679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Brainstem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47304" y="3429000"/>
            <a:ext cx="26791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brain to the spinal cord. Controls automatic, life-sustaining functions like breathing, heart rate, and reflexes.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CEREBRAL CORTEX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Lobes, at a Glance</a:t>
            </a:r>
            <a:endParaRPr lang="en-US" sz="3200" dirty="0"/>
          </a:p>
        </p:txBody>
      </p:sp>
      <p:pic>
        <p:nvPicPr>
          <p:cNvPr id="4" name="Image 0" descr="brain-diagram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965960"/>
            <a:ext cx="6720840" cy="3803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6916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91404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6184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 Lobe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19476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planning, movement, personality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086600" y="26060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C800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25328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Parietal Lobe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0" y="28620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Touch, spatial awareness, sensory integration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86600" y="35204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B85BA0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0" y="34472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Lobe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98080" y="37764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Hearing, language comprehension, memory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086600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8EC1E8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0" y="43616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 Lobe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98080" y="46908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processing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086600" y="53492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D98A3D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0" y="52760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Cerebellum &amp; Brainstem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498080" y="56052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and vital automatic functions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CEREBRAL CORTEX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Lobe Functions in Detail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27000" dist="38100" dir="5400000">
              <a:srgbClr val="3A2C5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04825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Frontal Lobe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45920" y="245059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brain's executive &amp; motor centre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Prefrontal cortex: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judgment, and impulse control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cortex: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voluntary movement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Broca's area: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speech production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27000" dist="38100" dir="5400000">
              <a:srgbClr val="3A2C5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11680"/>
            <a:ext cx="594360" cy="594360"/>
          </a:xfrm>
          <a:prstGeom prst="ellipse">
            <a:avLst/>
          </a:prstGeom>
          <a:solidFill>
            <a:srgbClr val="8B6FB3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204825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Parietal Lobe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69480" y="245059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brain's sensory integration hub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06324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Somatosensory cortex: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touch, pressure, temperature, and pain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awareness: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judge distance, direction, and body position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integration: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input from multiple senses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CEREBRAL CORTEX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Lobe Functions in Detail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27000" dist="38100" dir="5400000">
              <a:srgbClr val="3A2C5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D9636C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04825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Lobe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45920" y="245059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6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Hearing, language, and memory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Auditory cortex: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sound and pitch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Wernicke's area: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language comprehension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Hippocampus: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medial structure vital for forming new memories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27000" dist="38100" dir="5400000">
              <a:srgbClr val="3A2C5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11680"/>
            <a:ext cx="594360" cy="594360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204825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Occipital Lobe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69480" y="245059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brain's visual centre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06324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cortex: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what the eyes see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&amp; motion: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colour, movement, and depth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effects:  </a:t>
            </a:r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impair or eliminate vision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CORTEX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Cerebellum &amp; Brainstem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27000" dist="38100" dir="5400000">
              <a:srgbClr val="3A2C5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F4D35E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011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Cerebellum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posture:  </a:t>
            </a:r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body upright and stable</a:t>
            </a:r>
            <a:endParaRPr lang="en-US" sz="1450" dirty="0"/>
          </a:p>
          <a:p>
            <a:pPr marL="228600" indent="-228600">
              <a:lnSpc>
                <a:spcPct val="140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Coordination:  </a:t>
            </a:r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and times voluntary movement</a:t>
            </a:r>
            <a:endParaRPr lang="en-US" sz="1450" dirty="0"/>
          </a:p>
          <a:p>
            <a:pPr marL="228600" indent="-228600">
              <a:lnSpc>
                <a:spcPct val="140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learning:  </a:t>
            </a:r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motor skills and habits through practice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27000" dist="38100" dir="5400000">
              <a:srgbClr val="3A2C5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D9636C"/>
          </a:solidFill>
          <a:ln/>
        </p:spPr>
      </p:sp>
      <p:sp>
        <p:nvSpPr>
          <p:cNvPr id="10" name="Text 8"/>
          <p:cNvSpPr/>
          <p:nvPr/>
        </p:nvSpPr>
        <p:spPr>
          <a:xfrm>
            <a:off x="7269480" y="2011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Brainstem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Medulla:  </a:t>
            </a:r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regulates heart rate and breathing</a:t>
            </a:r>
            <a:endParaRPr lang="en-US" sz="1450" dirty="0"/>
          </a:p>
          <a:p>
            <a:pPr marL="228600" indent="-228600">
              <a:lnSpc>
                <a:spcPct val="140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Pons:  </a:t>
            </a:r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signals between brain regions; supports sleep</a:t>
            </a:r>
            <a:endParaRPr lang="en-US" sz="1450" dirty="0"/>
          </a:p>
          <a:p>
            <a:pPr marL="228600" indent="-228600">
              <a:lnSpc>
                <a:spcPct val="140000"/>
              </a:lnSpc>
              <a:spcAft>
                <a:spcPts val="1600"/>
              </a:spcAft>
              <a:buSzPct val="100000"/>
              <a:buChar char="●"/>
            </a:pPr>
            <a:r>
              <a:rPr lang="en-US" sz="14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Midbrain:  </a:t>
            </a:r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reflexes and eye movement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BENEATH THE CORTEX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Limbic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structures that governs emotion, memory, and regulation.</a:t>
            </a:r>
            <a:endParaRPr lang="en-US" sz="1350" dirty="0"/>
          </a:p>
        </p:txBody>
      </p:sp>
      <p:pic>
        <p:nvPicPr>
          <p:cNvPr id="5" name="Image 0" descr="limb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83080"/>
            <a:ext cx="5074920" cy="4727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7373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8998D"/>
          </a:solidFill>
          <a:ln/>
        </p:spPr>
      </p:sp>
      <p:sp>
        <p:nvSpPr>
          <p:cNvPr id="7" name="Text 4"/>
          <p:cNvSpPr/>
          <p:nvPr/>
        </p:nvSpPr>
        <p:spPr>
          <a:xfrm>
            <a:off x="6153912" y="165506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Prefrontal Cortex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53912" y="193852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Regulates emotional responses from the limbic system; supports decision-making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06440" y="249631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7FB069"/>
          </a:solidFill>
          <a:ln/>
        </p:spPr>
      </p:sp>
      <p:sp>
        <p:nvSpPr>
          <p:cNvPr id="10" name="Text 7"/>
          <p:cNvSpPr/>
          <p:nvPr/>
        </p:nvSpPr>
        <p:spPr>
          <a:xfrm>
            <a:off x="6153912" y="241401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53912" y="26974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homeostasis — hunger, thirst, temperature, and hormone release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06440" y="32552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4D35E"/>
          </a:solidFill>
          <a:ln/>
        </p:spPr>
      </p:sp>
      <p:sp>
        <p:nvSpPr>
          <p:cNvPr id="13" name="Text 10"/>
          <p:cNvSpPr/>
          <p:nvPr/>
        </p:nvSpPr>
        <p:spPr>
          <a:xfrm>
            <a:off x="6153912" y="317296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 Gland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53912" y="34564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“master gland”; releases hormones directed by the hypothalamus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06440" y="401421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C97B63"/>
          </a:solidFill>
          <a:ln/>
        </p:spPr>
      </p:sp>
      <p:sp>
        <p:nvSpPr>
          <p:cNvPr id="16" name="Text 13"/>
          <p:cNvSpPr/>
          <p:nvPr/>
        </p:nvSpPr>
        <p:spPr>
          <a:xfrm>
            <a:off x="6153912" y="393192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Amygdala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53912" y="42153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emotion, especially fear and threat detection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806440" y="477316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8B6FB3"/>
          </a:solidFill>
          <a:ln/>
        </p:spPr>
      </p:sp>
      <p:sp>
        <p:nvSpPr>
          <p:cNvPr id="19" name="Text 16"/>
          <p:cNvSpPr/>
          <p:nvPr/>
        </p:nvSpPr>
        <p:spPr>
          <a:xfrm>
            <a:off x="6153912" y="469087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Hippocampus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53912" y="4974336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consolidates new long-term memories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806440" y="55321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D9636C"/>
          </a:solidFill>
          <a:ln/>
        </p:spPr>
      </p:sp>
      <p:sp>
        <p:nvSpPr>
          <p:cNvPr id="22" name="Text 19"/>
          <p:cNvSpPr/>
          <p:nvPr/>
        </p:nvSpPr>
        <p:spPr>
          <a:xfrm>
            <a:off x="6153912" y="544982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Stem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53912" y="573328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Regulates automatic survival functions; links brain to spinal cord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cerebellum is shown for anatomical context but is not classically considered part of the limbic system.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ANATOMY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Social Phobia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regions above interact to produce a real psychological disorder.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01600" dist="25400" dir="5400000">
              <a:srgbClr val="3A2C5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30552"/>
            <a:ext cx="384048" cy="384048"/>
          </a:xfrm>
          <a:prstGeom prst="ellipse">
            <a:avLst/>
          </a:prstGeom>
          <a:solidFill>
            <a:srgbClr val="2E1F4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0756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Threat Is Detected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b="1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Fusiform gyrus: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increased processing of faces, especially socially relevant cues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b="1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Amygdala: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increased detection of threat, e.g. an angry or disapproving face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b="1" dirty="0">
                <a:solidFill>
                  <a:srgbClr val="B5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BNST: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sustained, anticipatory anxiety — “something bad might happen”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8745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01600" dist="25400" dir="5400000">
              <a:srgbClr val="3A2C5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130552"/>
            <a:ext cx="384048" cy="384048"/>
          </a:xfrm>
          <a:prstGeom prst="ellipse">
            <a:avLst/>
          </a:prstGeom>
          <a:solidFill>
            <a:srgbClr val="2E1F4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20756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Shifts to Threat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55080" y="265176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b="1" dirty="0">
                <a:solidFill>
                  <a:srgbClr val="5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narrows: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becomes highly focused on faces, reactions, and signs of rejection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b="1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hemisphere: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studies find greater relative activation, though less consistently than the amygdala finding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01600" dist="25400" dir="5400000">
              <a:srgbClr val="3A2C5C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645152"/>
            <a:ext cx="384048" cy="384048"/>
          </a:xfrm>
          <a:prstGeom prst="ellipse">
            <a:avLst/>
          </a:prstGeom>
          <a:solidFill>
            <a:srgbClr val="2E1F4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5902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Processing Is Altered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b="1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cingulate cortex: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deactivation of this default-mode / self-referential region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b="1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from internally directed thought toward monitoring the external social environment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43891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01600" dist="25400" dir="5400000">
              <a:srgbClr val="3A2C5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4645152"/>
            <a:ext cx="384048" cy="384048"/>
          </a:xfrm>
          <a:prstGeom prst="ellipse">
            <a:avLst/>
          </a:prstGeom>
          <a:solidFill>
            <a:srgbClr val="2E1F47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4590288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&amp; Language Affected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355080" y="516636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Broca's area: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may decrease in some studies or conditions</a:t>
            </a:r>
            <a:endParaRPr lang="en-US" sz="1150" dirty="0"/>
          </a:p>
          <a:p>
            <a:pPr marL="177800" indent="-1778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</a:t>
            </a:r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experience of “going blank” or struggling to formulate a response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ANATOMY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371600" cy="502920"/>
          </a:xfrm>
          <a:prstGeom prst="roundRect">
            <a:avLst>
              <a:gd name="adj" fmla="val 25455"/>
            </a:avLst>
          </a:prstGeom>
          <a:solidFill>
            <a:srgbClr val="8A7FA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83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965960" y="17830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31720" y="1783080"/>
            <a:ext cx="1737360" cy="502920"/>
          </a:xfrm>
          <a:prstGeom prst="roundRect">
            <a:avLst>
              <a:gd name="adj" fmla="val 25455"/>
            </a:avLst>
          </a:prstGeom>
          <a:solidFill>
            <a:srgbClr val="5FA8A0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1783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Fusiform gyrus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0520" y="17830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1783080"/>
            <a:ext cx="1188720" cy="502920"/>
          </a:xfrm>
          <a:prstGeom prst="roundRect">
            <a:avLst>
              <a:gd name="adj" fmla="val 25455"/>
            </a:avLst>
          </a:prstGeom>
          <a:solidFill>
            <a:srgbClr val="C97B6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783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Amygdala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06440" y="17830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822960" cy="502920"/>
          </a:xfrm>
          <a:prstGeom prst="roundRect">
            <a:avLst>
              <a:gd name="adj" fmla="val 25455"/>
            </a:avLst>
          </a:prstGeom>
          <a:solidFill>
            <a:srgbClr val="B5563C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7830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86600" y="17830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52360" y="1783080"/>
            <a:ext cx="2103120" cy="502920"/>
          </a:xfrm>
          <a:prstGeom prst="roundRect">
            <a:avLst>
              <a:gd name="adj" fmla="val 25455"/>
            </a:avLst>
          </a:prstGeom>
          <a:solidFill>
            <a:srgbClr val="8A7FA0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1783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→ threat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46920" y="17830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2560320"/>
            <a:ext cx="1828800" cy="502920"/>
          </a:xfrm>
          <a:prstGeom prst="roundRect">
            <a:avLst>
              <a:gd name="adj" fmla="val 25455"/>
            </a:avLst>
          </a:prstGeom>
          <a:solidFill>
            <a:srgbClr val="B49FD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560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 ↓ / Broca ↓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23160" y="25603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88920" y="2560320"/>
            <a:ext cx="2194560" cy="502920"/>
          </a:xfrm>
          <a:prstGeom prst="roundRect">
            <a:avLst>
              <a:gd name="adj" fmla="val 25455"/>
            </a:avLst>
          </a:prstGeom>
          <a:solidFill>
            <a:srgbClr val="8A7FA0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2560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speaking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D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Way to Remember It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5FA8A0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950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Fusiform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423160" y="395020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face is that?”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53542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C97B63"/>
          </a:solidFill>
          <a:ln/>
        </p:spPr>
      </p:sp>
      <p:sp>
        <p:nvSpPr>
          <p:cNvPr id="29" name="Text 27"/>
          <p:cNvSpPr/>
          <p:nvPr/>
        </p:nvSpPr>
        <p:spPr>
          <a:xfrm>
            <a:off x="896112" y="44622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Amygdala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423160" y="44622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threatening?”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04748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B5563C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" y="49743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423160" y="49743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something bad happens?”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55955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B49FDB"/>
          </a:solidFill>
          <a:ln/>
        </p:spPr>
      </p:sp>
      <p:sp>
        <p:nvSpPr>
          <p:cNvPr id="35" name="Text 33"/>
          <p:cNvSpPr/>
          <p:nvPr/>
        </p:nvSpPr>
        <p:spPr>
          <a:xfrm>
            <a:off x="896112" y="5486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2423160" y="5486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 / my internal world” — reduced during threat-focused processing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607161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2A65A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" y="59984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Broca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423160" y="59984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say?” — may become less active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NERVOUS SYSTEM'S BUILDING BLOCK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Neuron</a:t>
            </a:r>
            <a:endParaRPr lang="en-US" sz="3200" dirty="0"/>
          </a:p>
        </p:txBody>
      </p:sp>
      <p:pic>
        <p:nvPicPr>
          <p:cNvPr id="4" name="Image 0" descr="neur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148840"/>
            <a:ext cx="8138160" cy="33924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23960" y="169164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8B6FB3"/>
          </a:solidFill>
          <a:ln/>
        </p:spPr>
      </p:sp>
      <p:sp>
        <p:nvSpPr>
          <p:cNvPr id="6" name="Text 3"/>
          <p:cNvSpPr/>
          <p:nvPr/>
        </p:nvSpPr>
        <p:spPr>
          <a:xfrm>
            <a:off x="9171432" y="16002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71432" y="18928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signals from other neurons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823960" y="258775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2A65A"/>
          </a:solidFill>
          <a:ln/>
        </p:spPr>
      </p:sp>
      <p:sp>
        <p:nvSpPr>
          <p:cNvPr id="9" name="Text 6"/>
          <p:cNvSpPr/>
          <p:nvPr/>
        </p:nvSpPr>
        <p:spPr>
          <a:xfrm>
            <a:off x="9171432" y="24963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(cell body)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71432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incoming signals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823960" y="3483864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D9636C"/>
          </a:solidFill>
          <a:ln/>
        </p:spPr>
      </p:sp>
      <p:sp>
        <p:nvSpPr>
          <p:cNvPr id="12" name="Text 9"/>
          <p:cNvSpPr/>
          <p:nvPr/>
        </p:nvSpPr>
        <p:spPr>
          <a:xfrm>
            <a:off x="9171432" y="33924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171432" y="36850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cell's genetic material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823960" y="4379976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5FA8A0"/>
          </a:solidFill>
          <a:ln/>
        </p:spPr>
      </p:sp>
      <p:sp>
        <p:nvSpPr>
          <p:cNvPr id="15" name="Text 12"/>
          <p:cNvSpPr/>
          <p:nvPr/>
        </p:nvSpPr>
        <p:spPr>
          <a:xfrm>
            <a:off x="9171432" y="428853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Myelin sheath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171432" y="458114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fatty coating that speeds transmission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823960" y="5276088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4D35E"/>
          </a:solidFill>
          <a:ln/>
        </p:spPr>
      </p:sp>
      <p:sp>
        <p:nvSpPr>
          <p:cNvPr id="18" name="Text 15"/>
          <p:cNvSpPr/>
          <p:nvPr/>
        </p:nvSpPr>
        <p:spPr>
          <a:xfrm>
            <a:off x="9171432" y="51846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buttons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171432" y="54772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neurotransmitters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NERVOUS SYSTEM'S BUILDING BLOCK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 Parts, Explained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01600" dist="25400" dir="5400000">
              <a:srgbClr val="3A2C5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8B6FB3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920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Branch-like extensions that receive chemical signals from neighbouring neurons and pass them toward the cell body.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01600" dist="25400" dir="5400000">
              <a:srgbClr val="3A2C5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96596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920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(Cell Body)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nucleus and cell organelles. Integrates incoming signals and decides whether to fire an impulse.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01600" dist="25400" dir="5400000">
              <a:srgbClr val="3A2C5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1965960"/>
            <a:ext cx="384048" cy="384048"/>
          </a:xfrm>
          <a:prstGeom prst="ellipse">
            <a:avLst/>
          </a:prstGeom>
          <a:solidFill>
            <a:srgbClr val="D9636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1920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514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fibre that carries the electrical impulse (action potential) away from the cell body toward other neurons.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01600" dist="25400" dir="5400000">
              <a:srgbClr val="3A2C5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114800"/>
            <a:ext cx="384048" cy="384048"/>
          </a:xfrm>
          <a:prstGeom prst="ellipse">
            <a:avLst/>
          </a:prstGeom>
          <a:solidFill>
            <a:srgbClr val="5FA8A0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Myelin Sheath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6634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fatty layer wrapped around the axon in segments. Speeds up signal transmission; gaps are called Nodes of Ranvier.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01600" dist="25400" dir="5400000">
              <a:srgbClr val="3A2C5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4114800"/>
            <a:ext cx="384048" cy="384048"/>
          </a:xfrm>
          <a:prstGeom prst="ellipse">
            <a:avLst/>
          </a:prstGeom>
          <a:solidFill>
            <a:srgbClr val="F4D35E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 Terminals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6634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at the end of the axon, each ending in a terminal button that stores neurotransmitters.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8862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DEF0"/>
            </a:solidFill>
            <a:prstDash val="solid"/>
          </a:ln>
          <a:effectLst>
            <a:outerShdw sx="100000" sy="100000" kx="0" ky="0" algn="bl" rotWithShape="0" blurRad="101600" dist="25400" dir="5400000">
              <a:srgbClr val="3A2C5C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4114800"/>
            <a:ext cx="384048" cy="38404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0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6634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tiny gap between one neuron's terminal button and the next neuron's dendrite, where neurotransmitters cross.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NEURONS TALK TO EACH OTHER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F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Synaptic Transmission</a:t>
            </a:r>
            <a:endParaRPr lang="en-US" sz="3200" dirty="0"/>
          </a:p>
        </p:txBody>
      </p:sp>
      <p:pic>
        <p:nvPicPr>
          <p:cNvPr id="4" name="Image 0" descr="synaps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783080"/>
            <a:ext cx="6766560" cy="3008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Presynaptic terminal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29184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Synaptic gap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B6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Postsynaptic dendrite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09560" y="1737360"/>
            <a:ext cx="384048" cy="384048"/>
          </a:xfrm>
          <a:prstGeom prst="ellipse">
            <a:avLst/>
          </a:prstGeom>
          <a:solidFill>
            <a:srgbClr val="2E1F47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0" y="1682496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electrical impulse (action potential) travels down the axon to the terminal button.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09560" y="2907792"/>
            <a:ext cx="384048" cy="384048"/>
          </a:xfrm>
          <a:prstGeom prst="ellipse">
            <a:avLst/>
          </a:prstGeom>
          <a:solidFill>
            <a:srgbClr val="2E1F47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285292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Neurotransmitters are released from vesicles into the synaptic gap.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09560" y="4078224"/>
            <a:ext cx="384048" cy="384048"/>
          </a:xfrm>
          <a:prstGeom prst="ellipse">
            <a:avLst/>
          </a:prstGeom>
          <a:solidFill>
            <a:srgbClr val="2E1F47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4078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12480" y="40233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cross the gap and bind to receptors on the next neuron's dendrite.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09560" y="5248656"/>
            <a:ext cx="384048" cy="384048"/>
          </a:xfrm>
          <a:prstGeom prst="ellipse">
            <a:avLst/>
          </a:prstGeom>
          <a:solidFill>
            <a:srgbClr val="2E1F47"/>
          </a:solidFill>
          <a:ln/>
        </p:spPr>
      </p:sp>
      <p:sp>
        <p:nvSpPr>
          <p:cNvPr id="18" name="Text 15"/>
          <p:cNvSpPr/>
          <p:nvPr/>
        </p:nvSpPr>
        <p:spPr>
          <a:xfrm>
            <a:off x="7909560" y="5248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12480" y="519379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continues (excitatory) or is dampened (inhibitory) in the receiving neuron.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D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LABEL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to Know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word bank to check yourself before the labelling activity.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Regions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55802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11558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 lobe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14170" y="2468880"/>
            <a:ext cx="1230782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4170" y="2468880"/>
            <a:ext cx="1230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Parietal lobe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1230782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44368"/>
            <a:ext cx="1230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lobe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89150" y="2944368"/>
            <a:ext cx="1305763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9150" y="2944368"/>
            <a:ext cx="13057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 lobe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1985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Cerebellum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64208" y="3419856"/>
            <a:ext cx="930859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419856"/>
            <a:ext cx="9308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04795" y="3419856"/>
            <a:ext cx="1155802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4795" y="3419856"/>
            <a:ext cx="11558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cortex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95344"/>
            <a:ext cx="1155802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95344"/>
            <a:ext cx="11558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Broca's area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14170" y="3895344"/>
            <a:ext cx="1380744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14170" y="3895344"/>
            <a:ext cx="1380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Wernicke's area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4340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9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Limbic System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343400" y="2468880"/>
            <a:ext cx="1155802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E899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2468880"/>
            <a:ext cx="115580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08930" y="2468880"/>
            <a:ext cx="1380744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E899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08930" y="2468880"/>
            <a:ext cx="1380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 gland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43400" y="2944368"/>
            <a:ext cx="855878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E899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2944368"/>
            <a:ext cx="8558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Amygdala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09006" y="2944368"/>
            <a:ext cx="1080821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E899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9006" y="2944368"/>
            <a:ext cx="10808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Hippocampus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43400" y="3419856"/>
            <a:ext cx="1530706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E899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3419856"/>
            <a:ext cx="15307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Prefrontal cortex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3834" y="3419856"/>
            <a:ext cx="1080821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E899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3834" y="3419856"/>
            <a:ext cx="10808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Homeostasis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3816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 Structures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138160" y="2468880"/>
            <a:ext cx="930859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2468880"/>
            <a:ext cx="9308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78747" y="2468880"/>
            <a:ext cx="1455725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78747" y="2468880"/>
            <a:ext cx="14557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(cell body)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744200" y="2468880"/>
            <a:ext cx="780898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44200" y="2468880"/>
            <a:ext cx="780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38160" y="2944368"/>
            <a:ext cx="555955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2944368"/>
            <a:ext cx="5559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803843" y="2944368"/>
            <a:ext cx="1230782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03843" y="2944368"/>
            <a:ext cx="1230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Myelin sheath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144354" y="2944368"/>
            <a:ext cx="1455725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4354" y="2944368"/>
            <a:ext cx="14557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of Ranvier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138160" y="3419856"/>
            <a:ext cx="1455725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3419856"/>
            <a:ext cx="14557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buttons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703613" y="3419856"/>
            <a:ext cx="780898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03613" y="3419856"/>
            <a:ext cx="780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138160" y="3895344"/>
            <a:ext cx="1530706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3895344"/>
            <a:ext cx="15307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Neurotransmitters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778594" y="3895344"/>
            <a:ext cx="1455725" cy="365760"/>
          </a:xfrm>
          <a:prstGeom prst="roundRect">
            <a:avLst>
              <a:gd name="adj" fmla="val 50000"/>
            </a:avLst>
          </a:prstGeom>
          <a:solidFill>
            <a:srgbClr val="3B2C63"/>
          </a:solidFill>
          <a:ln w="12700">
            <a:solidFill>
              <a:srgbClr val="5FA8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78594" y="3895344"/>
            <a:ext cx="14557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potential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2026-08-17T14:19:28Z</dcterms:created>
  <dcterms:modified xsi:type="dcterms:W3CDTF">2026-08-17T14:19:28Z</dcterms:modified>
</cp:coreProperties>
</file>