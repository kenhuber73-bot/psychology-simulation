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13A40"/>
          </a:solidFill>
          <a:ln/>
        </p:spPr>
      </p:sp>
      <p:sp>
        <p:nvSpPr>
          <p:cNvPr id="3" name="Shape 1"/>
          <p:cNvSpPr/>
          <p:nvPr/>
        </p:nvSpPr>
        <p:spPr>
          <a:xfrm>
            <a:off x="9418320" y="-1371600"/>
            <a:ext cx="4572000" cy="4572000"/>
          </a:xfrm>
          <a:prstGeom prst="ellipse">
            <a:avLst/>
          </a:prstGeom>
          <a:solidFill>
            <a:srgbClr val="028090">
              <a:alpha val="45000"/>
            </a:srgbClr>
          </a:solidFill>
          <a:ln/>
        </p:spPr>
      </p:sp>
      <p:sp>
        <p:nvSpPr>
          <p:cNvPr id="4" name="Shape 2"/>
          <p:cNvSpPr/>
          <p:nvPr/>
        </p:nvSpPr>
        <p:spPr>
          <a:xfrm>
            <a:off x="10607040" y="4206240"/>
            <a:ext cx="2926080" cy="2926080"/>
          </a:xfrm>
          <a:prstGeom prst="ellipse">
            <a:avLst/>
          </a:prstGeom>
          <a:solidFill>
            <a:srgbClr val="02C39A">
              <a:alpha val="40000"/>
            </a:srgbClr>
          </a:solidFill>
          <a:ln/>
        </p:spPr>
      </p:sp>
      <p:sp>
        <p:nvSpPr>
          <p:cNvPr id="5" name="Text 3"/>
          <p:cNvSpPr/>
          <p:nvPr/>
        </p:nvSpPr>
        <p:spPr>
          <a:xfrm>
            <a:off x="822960" y="1417320"/>
            <a:ext cx="9144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HEALTH AND WELL-BEING  •  MENTAL HEALTH DISORDERS</a:t>
            </a:r>
            <a:endParaRPr lang="en-US" sz="1300" dirty="0"/>
          </a:p>
        </p:txBody>
      </p:sp>
      <p:sp>
        <p:nvSpPr>
          <p:cNvPr id="6" name="Text 4"/>
          <p:cNvSpPr/>
          <p:nvPr/>
        </p:nvSpPr>
        <p:spPr>
          <a:xfrm>
            <a:off x="777240" y="1874520"/>
            <a:ext cx="9601200" cy="210312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Cognitive Factors in</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Social Anxiety Disorder</a:t>
            </a:r>
            <a:endParaRPr lang="en-US" sz="4400" dirty="0"/>
          </a:p>
        </p:txBody>
      </p:sp>
      <p:sp>
        <p:nvSpPr>
          <p:cNvPr id="7" name="Text 5"/>
          <p:cNvSpPr/>
          <p:nvPr/>
        </p:nvSpPr>
        <p:spPr>
          <a:xfrm>
            <a:off x="822960" y="3977640"/>
            <a:ext cx="8686800" cy="457200"/>
          </a:xfrm>
          <a:prstGeom prst="rect">
            <a:avLst/>
          </a:prstGeom>
          <a:noFill/>
          <a:ln/>
        </p:spPr>
        <p:txBody>
          <a:bodyPr wrap="square" rtlCol="0" anchor="ctr"/>
          <a:lstStyle/>
          <a:p>
            <a:pPr indent="0" marL="0">
              <a:buNone/>
            </a:pPr>
            <a:r>
              <a:rPr lang="en-US" sz="1800" i="1" dirty="0">
                <a:solidFill>
                  <a:srgbClr val="F2F9F8"/>
                </a:solidFill>
                <a:latin typeface="Calibri" pitchFamily="34" charset="0"/>
                <a:ea typeface="Calibri" pitchFamily="34" charset="-122"/>
                <a:cs typeface="Calibri" pitchFamily="34" charset="-120"/>
              </a:rPr>
              <a:t>Conditioning, rumination, and Clark &amp; Wells' cognitive model</a:t>
            </a:r>
            <a:endParaRPr lang="en-US" sz="1800" dirty="0"/>
          </a:p>
        </p:txBody>
      </p:sp>
      <p:sp>
        <p:nvSpPr>
          <p:cNvPr id="8" name="Shape 6"/>
          <p:cNvSpPr/>
          <p:nvPr/>
        </p:nvSpPr>
        <p:spPr>
          <a:xfrm>
            <a:off x="822960" y="3794760"/>
            <a:ext cx="1005840" cy="0"/>
          </a:xfrm>
          <a:prstGeom prst="line">
            <a:avLst/>
          </a:prstGeom>
          <a:noFill/>
          <a:ln w="38100">
            <a:solidFill>
              <a:srgbClr val="02C39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0584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The 'Psycho' in Biopsychosocial</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Why cognition explains what biology and environment alone cannot</a:t>
            </a:r>
            <a:endParaRPr lang="en-US" sz="1400" dirty="0"/>
          </a:p>
        </p:txBody>
      </p:sp>
      <p:sp>
        <p:nvSpPr>
          <p:cNvPr id="4" name="Shape 2"/>
          <p:cNvSpPr/>
          <p:nvPr/>
        </p:nvSpPr>
        <p:spPr>
          <a:xfrm>
            <a:off x="457200" y="1600200"/>
            <a:ext cx="777240" cy="777240"/>
          </a:xfrm>
          <a:prstGeom prst="ellipse">
            <a:avLst/>
          </a:prstGeom>
          <a:solidFill>
            <a:srgbClr val="028090"/>
          </a:solidFill>
          <a:ln/>
        </p:spPr>
      </p:sp>
      <p:pic>
        <p:nvPicPr>
          <p:cNvPr id="5" name="Image 0" descr="icons/brain.png">    </p:cNvPr>
          <p:cNvPicPr>
            <a:picLocks noChangeAspect="1"/>
          </p:cNvPicPr>
          <p:nvPr/>
        </p:nvPicPr>
        <p:blipFill>
          <a:blip r:embed="rId1"/>
          <a:stretch>
            <a:fillRect/>
          </a:stretch>
        </p:blipFill>
        <p:spPr>
          <a:xfrm>
            <a:off x="659282" y="1802282"/>
            <a:ext cx="373075" cy="373075"/>
          </a:xfrm>
          <a:prstGeom prst="rect">
            <a:avLst/>
          </a:prstGeom>
        </p:spPr>
      </p:pic>
      <p:sp>
        <p:nvSpPr>
          <p:cNvPr id="6" name="Text 3"/>
          <p:cNvSpPr/>
          <p:nvPr/>
        </p:nvSpPr>
        <p:spPr>
          <a:xfrm>
            <a:off x="1463040" y="1572768"/>
            <a:ext cx="4663440" cy="1554480"/>
          </a:xfrm>
          <a:prstGeom prst="rect">
            <a:avLst/>
          </a:prstGeom>
          <a:noFill/>
          <a:ln/>
        </p:spPr>
        <p:txBody>
          <a:bodyPr wrap="square" rtlCol="0" anchor="t"/>
          <a:lstStyle/>
          <a:p>
            <a:pPr indent="0" marL="0">
              <a:lnSpc>
                <a:spcPct val="115000"/>
              </a:lnSpc>
              <a:buNone/>
            </a:pPr>
            <a:r>
              <a:rPr lang="en-US" sz="1500" b="1" dirty="0">
                <a:solidFill>
                  <a:srgbClr val="013A40"/>
                </a:solidFill>
                <a:latin typeface="Calibri" pitchFamily="34" charset="0"/>
                <a:ea typeface="Calibri" pitchFamily="34" charset="-122"/>
                <a:cs typeface="Calibri" pitchFamily="34" charset="-120"/>
              </a:rPr>
              <a:t>The missing link in the diathesis-stress model
</a:t>
            </a:r>
            <a:r>
              <a:rPr lang="en-US" sz="1300" dirty="0">
                <a:solidFill>
                  <a:srgbClr val="1F2937"/>
                </a:solidFill>
                <a:latin typeface="Calibri" pitchFamily="34" charset="0"/>
                <a:ea typeface="Calibri" pitchFamily="34" charset="-122"/>
                <a:cs typeface="Calibri" pitchFamily="34" charset="-120"/>
              </a:rPr>
              <a:t>Genetic predisposition and stressful life events are both risk factors for SAD — but plenty of people carry both and never develop the disorder. Something has to explain that gap.</a:t>
            </a:r>
            <a:endParaRPr lang="en-US" sz="1500" dirty="0"/>
          </a:p>
        </p:txBody>
      </p:sp>
      <p:sp>
        <p:nvSpPr>
          <p:cNvPr id="7" name="Text 4"/>
          <p:cNvSpPr/>
          <p:nvPr/>
        </p:nvSpPr>
        <p:spPr>
          <a:xfrm>
            <a:off x="6309360" y="1572768"/>
            <a:ext cx="5120640" cy="1737360"/>
          </a:xfrm>
          <a:prstGeom prst="rect">
            <a:avLst/>
          </a:prstGeom>
          <a:noFill/>
          <a:ln/>
        </p:spPr>
        <p:txBody>
          <a:bodyPr wrap="square" rtlCol="0" anchor="t"/>
          <a:lstStyle/>
          <a:p>
            <a:pPr indent="0" marL="0">
              <a:lnSpc>
                <a:spcPct val="115000"/>
              </a:lnSpc>
              <a:buNone/>
            </a:pPr>
            <a:r>
              <a:rPr lang="en-US" sz="1500" b="1" dirty="0">
                <a:solidFill>
                  <a:srgbClr val="013A40"/>
                </a:solidFill>
                <a:latin typeface="Calibri" pitchFamily="34" charset="0"/>
                <a:ea typeface="Calibri" pitchFamily="34" charset="-122"/>
                <a:cs typeface="Calibri" pitchFamily="34" charset="-120"/>
              </a:rPr>
              <a:t>Cognition mediates the response
</a:t>
            </a:r>
            <a:r>
              <a:rPr lang="en-US" sz="1300" dirty="0">
                <a:solidFill>
                  <a:srgbClr val="1F2937"/>
                </a:solidFill>
                <a:latin typeface="Calibri" pitchFamily="34" charset="0"/>
                <a:ea typeface="Calibri" pitchFamily="34" charset="-122"/>
                <a:cs typeface="Calibri" pitchFamily="34" charset="-120"/>
              </a:rPr>
              <a:t>How a person interprets and appraises stress determines whether it overwhelms them or not. Some days we problem-solve through a stressor; other days the same event feels unmanageable — the difference is cognitive, not biological.</a:t>
            </a:r>
            <a:endParaRPr lang="en-US" sz="1500" dirty="0"/>
          </a:p>
        </p:txBody>
      </p:sp>
      <p:sp>
        <p:nvSpPr>
          <p:cNvPr id="8" name="Shape 5"/>
          <p:cNvSpPr/>
          <p:nvPr/>
        </p:nvSpPr>
        <p:spPr>
          <a:xfrm>
            <a:off x="457200" y="3977640"/>
            <a:ext cx="2834640" cy="1417320"/>
          </a:xfrm>
          <a:prstGeom prst="roundRect">
            <a:avLst>
              <a:gd name="adj" fmla="val 6452"/>
            </a:avLst>
          </a:prstGeom>
          <a:solidFill>
            <a:srgbClr val="00A896"/>
          </a:solidFill>
          <a:ln/>
        </p:spPr>
      </p:sp>
      <p:sp>
        <p:nvSpPr>
          <p:cNvPr id="9" name="Text 6"/>
          <p:cNvSpPr/>
          <p:nvPr/>
        </p:nvSpPr>
        <p:spPr>
          <a:xfrm>
            <a:off x="594360" y="4142232"/>
            <a:ext cx="2560320" cy="457200"/>
          </a:xfrm>
          <a:prstGeom prst="rect">
            <a:avLst/>
          </a:prstGeom>
          <a:noFill/>
          <a:ln/>
        </p:spPr>
        <p:txBody>
          <a:bodyPr wrap="square"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Genetic Risk +</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Environmental Trigger</a:t>
            </a:r>
            <a:endParaRPr lang="en-US" sz="1400" dirty="0"/>
          </a:p>
        </p:txBody>
      </p:sp>
      <p:sp>
        <p:nvSpPr>
          <p:cNvPr id="10" name="Text 7"/>
          <p:cNvSpPr/>
          <p:nvPr/>
        </p:nvSpPr>
        <p:spPr>
          <a:xfrm>
            <a:off x="594360" y="4599432"/>
            <a:ext cx="2560320" cy="685800"/>
          </a:xfrm>
          <a:prstGeom prst="rect">
            <a:avLst/>
          </a:prstGeom>
          <a:noFill/>
          <a:ln/>
        </p:spPr>
        <p:txBody>
          <a:bodyPr wrap="square"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The biological starting point (see: Biological Factors deck)</a:t>
            </a:r>
            <a:endParaRPr lang="en-US" sz="1050" dirty="0"/>
          </a:p>
        </p:txBody>
      </p:sp>
      <p:sp>
        <p:nvSpPr>
          <p:cNvPr id="11" name="Text 8"/>
          <p:cNvSpPr/>
          <p:nvPr/>
        </p:nvSpPr>
        <p:spPr>
          <a:xfrm>
            <a:off x="3364992" y="4434840"/>
            <a:ext cx="502920" cy="548640"/>
          </a:xfrm>
          <a:prstGeom prst="rect">
            <a:avLst/>
          </a:prstGeom>
          <a:noFill/>
          <a:ln/>
        </p:spPr>
        <p:txBody>
          <a:bodyPr wrap="square" rtlCol="0" anchor="ctr"/>
          <a:lstStyle/>
          <a:p>
            <a:pPr algn="ctr" indent="0" marL="0">
              <a:buNone/>
            </a:pPr>
            <a:r>
              <a:rPr lang="en-US" sz="2600" dirty="0">
                <a:solidFill>
                  <a:srgbClr val="013A40"/>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3977640" y="3977640"/>
            <a:ext cx="3108960" cy="1417320"/>
          </a:xfrm>
          <a:prstGeom prst="roundRect">
            <a:avLst>
              <a:gd name="adj" fmla="val 6452"/>
            </a:avLst>
          </a:prstGeom>
          <a:solidFill>
            <a:srgbClr val="028090"/>
          </a:solidFill>
          <a:ln/>
        </p:spPr>
      </p:sp>
      <p:sp>
        <p:nvSpPr>
          <p:cNvPr id="13" name="Text 10"/>
          <p:cNvSpPr/>
          <p:nvPr/>
        </p:nvSpPr>
        <p:spPr>
          <a:xfrm>
            <a:off x="4114800" y="4142232"/>
            <a:ext cx="2834640" cy="457200"/>
          </a:xfrm>
          <a:prstGeom prst="rect">
            <a:avLst/>
          </a:prstGeom>
          <a:noFill/>
          <a:ln/>
        </p:spPr>
        <p:txBody>
          <a:bodyPr wrap="square"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Cognitive Appraisal</a:t>
            </a:r>
            <a:endParaRPr lang="en-US" sz="1400" dirty="0"/>
          </a:p>
        </p:txBody>
      </p:sp>
      <p:sp>
        <p:nvSpPr>
          <p:cNvPr id="14" name="Text 11"/>
          <p:cNvSpPr/>
          <p:nvPr/>
        </p:nvSpPr>
        <p:spPr>
          <a:xfrm>
            <a:off x="4114800" y="4599432"/>
            <a:ext cx="2834640" cy="685800"/>
          </a:xfrm>
          <a:prstGeom prst="rect">
            <a:avLst/>
          </a:prstGeom>
          <a:noFill/>
          <a:ln/>
        </p:spPr>
        <p:txBody>
          <a:bodyPr wrap="square"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Conditioning history, beliefs, and rumination shape the reaction</a:t>
            </a:r>
            <a:endParaRPr lang="en-US" sz="1050" dirty="0"/>
          </a:p>
        </p:txBody>
      </p:sp>
      <p:sp>
        <p:nvSpPr>
          <p:cNvPr id="15" name="Text 12"/>
          <p:cNvSpPr/>
          <p:nvPr/>
        </p:nvSpPr>
        <p:spPr>
          <a:xfrm>
            <a:off x="7159752" y="4434840"/>
            <a:ext cx="502920" cy="548640"/>
          </a:xfrm>
          <a:prstGeom prst="rect">
            <a:avLst/>
          </a:prstGeom>
          <a:noFill/>
          <a:ln/>
        </p:spPr>
        <p:txBody>
          <a:bodyPr wrap="square" rtlCol="0" anchor="ctr"/>
          <a:lstStyle/>
          <a:p>
            <a:pPr algn="ctr" indent="0" marL="0">
              <a:buNone/>
            </a:pPr>
            <a:r>
              <a:rPr lang="en-US" sz="2600" dirty="0">
                <a:solidFill>
                  <a:srgbClr val="013A40"/>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7772400" y="3977640"/>
            <a:ext cx="3108960" cy="1417320"/>
          </a:xfrm>
          <a:prstGeom prst="roundRect">
            <a:avLst>
              <a:gd name="adj" fmla="val 6452"/>
            </a:avLst>
          </a:prstGeom>
          <a:solidFill>
            <a:srgbClr val="013A40"/>
          </a:solidFill>
          <a:ln/>
        </p:spPr>
      </p:sp>
      <p:sp>
        <p:nvSpPr>
          <p:cNvPr id="17" name="Text 14"/>
          <p:cNvSpPr/>
          <p:nvPr/>
        </p:nvSpPr>
        <p:spPr>
          <a:xfrm>
            <a:off x="7909560" y="4142232"/>
            <a:ext cx="2834640" cy="457200"/>
          </a:xfrm>
          <a:prstGeom prst="rect">
            <a:avLst/>
          </a:prstGeom>
          <a:noFill/>
          <a:ln/>
        </p:spPr>
        <p:txBody>
          <a:bodyPr wrap="square"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Outcome</a:t>
            </a:r>
            <a:endParaRPr lang="en-US" sz="1400" dirty="0"/>
          </a:p>
        </p:txBody>
      </p:sp>
      <p:sp>
        <p:nvSpPr>
          <p:cNvPr id="18" name="Text 15"/>
          <p:cNvSpPr/>
          <p:nvPr/>
        </p:nvSpPr>
        <p:spPr>
          <a:xfrm>
            <a:off x="7909560" y="4599432"/>
            <a:ext cx="2834640" cy="685800"/>
          </a:xfrm>
          <a:prstGeom prst="rect">
            <a:avLst/>
          </a:prstGeom>
          <a:noFill/>
          <a:ln/>
        </p:spPr>
        <p:txBody>
          <a:bodyPr wrap="square"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Resilience — or the onset of Social Anxiety Disorder</a:t>
            </a:r>
            <a:endParaRPr lang="en-US" sz="1050" dirty="0"/>
          </a:p>
        </p:txBody>
      </p:sp>
      <p:sp>
        <p:nvSpPr>
          <p:cNvPr id="19" name="Text 16"/>
          <p:cNvSpPr/>
          <p:nvPr/>
        </p:nvSpPr>
        <p:spPr>
          <a:xfrm>
            <a:off x="457200" y="5989320"/>
            <a:ext cx="54864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Overview • Cognitive approach</a:t>
            </a:r>
            <a:endParaRPr lang="en-US" sz="1100" dirty="0"/>
          </a:p>
        </p:txBody>
      </p:sp>
      <p:sp>
        <p:nvSpPr>
          <p:cNvPr id="20" name="Text 17"/>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21" name="Text 18"/>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How Fear Is Learned: Classical Conditioning</a:t>
            </a:r>
            <a:endParaRPr lang="en-US" sz="28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A single bad social experience can condition a lasting fear response</a:t>
            </a:r>
            <a:endParaRPr lang="en-US" sz="1400" dirty="0"/>
          </a:p>
        </p:txBody>
      </p:sp>
      <p:sp>
        <p:nvSpPr>
          <p:cNvPr id="4" name="Shape 2"/>
          <p:cNvSpPr/>
          <p:nvPr/>
        </p:nvSpPr>
        <p:spPr>
          <a:xfrm>
            <a:off x="457200" y="1463040"/>
            <a:ext cx="731520" cy="731520"/>
          </a:xfrm>
          <a:prstGeom prst="ellipse">
            <a:avLst/>
          </a:prstGeom>
          <a:solidFill>
            <a:srgbClr val="028090"/>
          </a:solidFill>
          <a:ln/>
        </p:spPr>
      </p:sp>
      <p:pic>
        <p:nvPicPr>
          <p:cNvPr id="5" name="Image 0" descr="icons/school.png">    </p:cNvPr>
          <p:cNvPicPr>
            <a:picLocks noChangeAspect="1"/>
          </p:cNvPicPr>
          <p:nvPr/>
        </p:nvPicPr>
        <p:blipFill>
          <a:blip r:embed="rId1"/>
          <a:stretch>
            <a:fillRect/>
          </a:stretch>
        </p:blipFill>
        <p:spPr>
          <a:xfrm>
            <a:off x="647395" y="1653235"/>
            <a:ext cx="351130" cy="351130"/>
          </a:xfrm>
          <a:prstGeom prst="rect">
            <a:avLst/>
          </a:prstGeom>
        </p:spPr>
      </p:pic>
      <p:sp>
        <p:nvSpPr>
          <p:cNvPr id="6" name="Text 3"/>
          <p:cNvSpPr/>
          <p:nvPr/>
        </p:nvSpPr>
        <p:spPr>
          <a:xfrm>
            <a:off x="1371600" y="1444752"/>
            <a:ext cx="10241280" cy="1280160"/>
          </a:xfrm>
          <a:prstGeom prst="rect">
            <a:avLst/>
          </a:prstGeom>
          <a:noFill/>
          <a:ln/>
        </p:spPr>
        <p:txBody>
          <a:bodyPr wrap="square" rtlCol="0" anchor="t"/>
          <a:lstStyle/>
          <a:p>
            <a:pPr indent="0" marL="0">
              <a:lnSpc>
                <a:spcPct val="115000"/>
              </a:lnSpc>
              <a:buNone/>
            </a:pPr>
            <a:r>
              <a:rPr lang="en-US" sz="1400" b="1" dirty="0">
                <a:solidFill>
                  <a:srgbClr val="013A40"/>
                </a:solidFill>
                <a:latin typeface="Calibri" pitchFamily="34" charset="0"/>
                <a:ea typeface="Calibri" pitchFamily="34" charset="-122"/>
                <a:cs typeface="Calibri" pitchFamily="34" charset="-120"/>
              </a:rPr>
              <a:t>Worked example: a child bullied at school
</a:t>
            </a:r>
            <a:r>
              <a:rPr lang="en-US" sz="1250" dirty="0">
                <a:solidFill>
                  <a:srgbClr val="1F2937"/>
                </a:solidFill>
                <a:latin typeface="Calibri" pitchFamily="34" charset="0"/>
                <a:ea typeface="Calibri" pitchFamily="34" charset="-122"/>
                <a:cs typeface="Calibri" pitchFamily="34" charset="-120"/>
              </a:rPr>
              <a:t>Going to school starts out neutral. Bullying is the unconditioned stimulus that automatically produces fear, the unconditioned response. Once the two become paired, school itself turns into a conditioned stimulus — and simply thinking about it now triggers the conditioned response of fear, even on days nothing bad happens.</a:t>
            </a:r>
            <a:endParaRPr lang="en-US" sz="1400" dirty="0"/>
          </a:p>
        </p:txBody>
      </p:sp>
      <p:sp>
        <p:nvSpPr>
          <p:cNvPr id="7" name="Shape 4"/>
          <p:cNvSpPr/>
          <p:nvPr/>
        </p:nvSpPr>
        <p:spPr>
          <a:xfrm>
            <a:off x="457200" y="3063240"/>
            <a:ext cx="2571750" cy="1828800"/>
          </a:xfrm>
          <a:prstGeom prst="roundRect">
            <a:avLst>
              <a:gd name="adj" fmla="val 4000"/>
            </a:avLst>
          </a:prstGeom>
          <a:solidFill>
            <a:srgbClr val="028090"/>
          </a:solidFill>
          <a:ln/>
        </p:spPr>
      </p:sp>
      <p:sp>
        <p:nvSpPr>
          <p:cNvPr id="8" name="Text 5"/>
          <p:cNvSpPr/>
          <p:nvPr/>
        </p:nvSpPr>
        <p:spPr>
          <a:xfrm>
            <a:off x="566928" y="3154680"/>
            <a:ext cx="457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594360" y="3566160"/>
            <a:ext cx="2297430" cy="594360"/>
          </a:xfrm>
          <a:prstGeom prst="rect">
            <a:avLst/>
          </a:prstGeom>
          <a:noFill/>
          <a:ln/>
        </p:spPr>
        <p:txBody>
          <a:bodyPr wrap="square" rtlCol="0" anchor="ctr"/>
          <a:lstStyle/>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NEUTRAL STIMULUS</a:t>
            </a:r>
            <a:endParaRPr lang="en-US" sz="1050" dirty="0"/>
          </a:p>
        </p:txBody>
      </p:sp>
      <p:sp>
        <p:nvSpPr>
          <p:cNvPr id="10" name="Text 7"/>
          <p:cNvSpPr/>
          <p:nvPr/>
        </p:nvSpPr>
        <p:spPr>
          <a:xfrm>
            <a:off x="594360" y="4160520"/>
            <a:ext cx="2297430" cy="685800"/>
          </a:xfrm>
          <a:prstGeom prst="rect">
            <a:avLst/>
          </a:prstGeom>
          <a:noFill/>
          <a:ln/>
        </p:spPr>
        <p:txBody>
          <a:bodyPr wrap="square" rtlCol="0" anchor="ctr"/>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Going to school</a:t>
            </a:r>
            <a:endParaRPr lang="en-US" sz="1050" dirty="0"/>
          </a:p>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(no fear response yet)</a:t>
            </a:r>
            <a:endParaRPr lang="en-US" sz="1050" dirty="0"/>
          </a:p>
        </p:txBody>
      </p:sp>
      <p:sp>
        <p:nvSpPr>
          <p:cNvPr id="11" name="Text 8"/>
          <p:cNvSpPr/>
          <p:nvPr/>
        </p:nvSpPr>
        <p:spPr>
          <a:xfrm>
            <a:off x="3047238" y="3703320"/>
            <a:ext cx="283464" cy="457200"/>
          </a:xfrm>
          <a:prstGeom prst="rect">
            <a:avLst/>
          </a:prstGeom>
          <a:noFill/>
          <a:ln/>
        </p:spPr>
        <p:txBody>
          <a:bodyPr wrap="square" rtlCol="0" anchor="ctr"/>
          <a:lstStyle/>
          <a:p>
            <a:pPr algn="ctr" indent="0" marL="0">
              <a:buNone/>
            </a:pPr>
            <a:r>
              <a:rPr lang="en-US" sz="2000" dirty="0">
                <a:solidFill>
                  <a:srgbClr val="013A40"/>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3348990" y="3063240"/>
            <a:ext cx="2571750" cy="1828800"/>
          </a:xfrm>
          <a:prstGeom prst="roundRect">
            <a:avLst>
              <a:gd name="adj" fmla="val 4000"/>
            </a:avLst>
          </a:prstGeom>
          <a:solidFill>
            <a:srgbClr val="00A896"/>
          </a:solidFill>
          <a:ln/>
        </p:spPr>
      </p:sp>
      <p:sp>
        <p:nvSpPr>
          <p:cNvPr id="13" name="Text 10"/>
          <p:cNvSpPr/>
          <p:nvPr/>
        </p:nvSpPr>
        <p:spPr>
          <a:xfrm>
            <a:off x="3458718" y="3154680"/>
            <a:ext cx="457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3486150" y="3566160"/>
            <a:ext cx="2297430" cy="594360"/>
          </a:xfrm>
          <a:prstGeom prst="rect">
            <a:avLst/>
          </a:prstGeom>
          <a:noFill/>
          <a:ln/>
        </p:spPr>
        <p:txBody>
          <a:bodyPr wrap="square" rtlCol="0" anchor="ctr"/>
          <a:lstStyle/>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UNCONDITIONED</a:t>
            </a:r>
            <a:endParaRPr lang="en-US" sz="1050" dirty="0"/>
          </a:p>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STIMULUS → RESPONSE</a:t>
            </a:r>
            <a:endParaRPr lang="en-US" sz="1050" dirty="0"/>
          </a:p>
        </p:txBody>
      </p:sp>
      <p:sp>
        <p:nvSpPr>
          <p:cNvPr id="15" name="Text 12"/>
          <p:cNvSpPr/>
          <p:nvPr/>
        </p:nvSpPr>
        <p:spPr>
          <a:xfrm>
            <a:off x="3486150" y="4160520"/>
            <a:ext cx="2297430" cy="685800"/>
          </a:xfrm>
          <a:prstGeom prst="rect">
            <a:avLst/>
          </a:prstGeom>
          <a:noFill/>
          <a:ln/>
        </p:spPr>
        <p:txBody>
          <a:bodyPr wrap="square" rtlCol="0" anchor="ctr"/>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Bullying occurs →</a:t>
            </a:r>
            <a:endParaRPr lang="en-US" sz="1050" dirty="0"/>
          </a:p>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automatic fear</a:t>
            </a:r>
            <a:endParaRPr lang="en-US" sz="1050" dirty="0"/>
          </a:p>
        </p:txBody>
      </p:sp>
      <p:sp>
        <p:nvSpPr>
          <p:cNvPr id="16" name="Text 13"/>
          <p:cNvSpPr/>
          <p:nvPr/>
        </p:nvSpPr>
        <p:spPr>
          <a:xfrm>
            <a:off x="5939028" y="3703320"/>
            <a:ext cx="283464" cy="457200"/>
          </a:xfrm>
          <a:prstGeom prst="rect">
            <a:avLst/>
          </a:prstGeom>
          <a:noFill/>
          <a:ln/>
        </p:spPr>
        <p:txBody>
          <a:bodyPr wrap="square" rtlCol="0" anchor="ctr"/>
          <a:lstStyle/>
          <a:p>
            <a:pPr algn="ctr" indent="0" marL="0">
              <a:buNone/>
            </a:pPr>
            <a:r>
              <a:rPr lang="en-US" sz="2000" dirty="0">
                <a:solidFill>
                  <a:srgbClr val="013A40"/>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6240780" y="3063240"/>
            <a:ext cx="2571750" cy="1828800"/>
          </a:xfrm>
          <a:prstGeom prst="roundRect">
            <a:avLst>
              <a:gd name="adj" fmla="val 4000"/>
            </a:avLst>
          </a:prstGeom>
          <a:solidFill>
            <a:srgbClr val="028090"/>
          </a:solidFill>
          <a:ln/>
        </p:spPr>
      </p:sp>
      <p:sp>
        <p:nvSpPr>
          <p:cNvPr id="18" name="Text 15"/>
          <p:cNvSpPr/>
          <p:nvPr/>
        </p:nvSpPr>
        <p:spPr>
          <a:xfrm>
            <a:off x="6350508" y="3154680"/>
            <a:ext cx="457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p:nvPr/>
        </p:nvSpPr>
        <p:spPr>
          <a:xfrm>
            <a:off x="6377940" y="3566160"/>
            <a:ext cx="2297430" cy="594360"/>
          </a:xfrm>
          <a:prstGeom prst="rect">
            <a:avLst/>
          </a:prstGeom>
          <a:noFill/>
          <a:ln/>
        </p:spPr>
        <p:txBody>
          <a:bodyPr wrap="square" rtlCol="0" anchor="ctr"/>
          <a:lstStyle/>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PAIRING</a:t>
            </a:r>
            <a:endParaRPr lang="en-US" sz="1050" dirty="0"/>
          </a:p>
        </p:txBody>
      </p:sp>
      <p:sp>
        <p:nvSpPr>
          <p:cNvPr id="20" name="Text 17"/>
          <p:cNvSpPr/>
          <p:nvPr/>
        </p:nvSpPr>
        <p:spPr>
          <a:xfrm>
            <a:off x="6377940" y="4160520"/>
            <a:ext cx="2297430" cy="685800"/>
          </a:xfrm>
          <a:prstGeom prst="rect">
            <a:avLst/>
          </a:prstGeom>
          <a:noFill/>
          <a:ln/>
        </p:spPr>
        <p:txBody>
          <a:bodyPr wrap="square" rtlCol="0" anchor="ctr"/>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School becomes linked</a:t>
            </a:r>
            <a:endParaRPr lang="en-US" sz="1050" dirty="0"/>
          </a:p>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to the bullying event</a:t>
            </a:r>
            <a:endParaRPr lang="en-US" sz="1050" dirty="0"/>
          </a:p>
        </p:txBody>
      </p:sp>
      <p:sp>
        <p:nvSpPr>
          <p:cNvPr id="21" name="Text 18"/>
          <p:cNvSpPr/>
          <p:nvPr/>
        </p:nvSpPr>
        <p:spPr>
          <a:xfrm>
            <a:off x="8830818" y="3703320"/>
            <a:ext cx="283464" cy="457200"/>
          </a:xfrm>
          <a:prstGeom prst="rect">
            <a:avLst/>
          </a:prstGeom>
          <a:noFill/>
          <a:ln/>
        </p:spPr>
        <p:txBody>
          <a:bodyPr wrap="square" rtlCol="0" anchor="ctr"/>
          <a:lstStyle/>
          <a:p>
            <a:pPr algn="ctr" indent="0" marL="0">
              <a:buNone/>
            </a:pPr>
            <a:r>
              <a:rPr lang="en-US" sz="2000" dirty="0">
                <a:solidFill>
                  <a:srgbClr val="013A40"/>
                </a:solidFill>
                <a:latin typeface="Calibri" pitchFamily="34" charset="0"/>
                <a:ea typeface="Calibri" pitchFamily="34" charset="-122"/>
                <a:cs typeface="Calibri" pitchFamily="34" charset="-120"/>
              </a:rPr>
              <a:t>→</a:t>
            </a:r>
            <a:endParaRPr lang="en-US" sz="2000" dirty="0"/>
          </a:p>
        </p:txBody>
      </p:sp>
      <p:sp>
        <p:nvSpPr>
          <p:cNvPr id="22" name="Shape 19"/>
          <p:cNvSpPr/>
          <p:nvPr/>
        </p:nvSpPr>
        <p:spPr>
          <a:xfrm>
            <a:off x="9132570" y="3063240"/>
            <a:ext cx="2571750" cy="1828800"/>
          </a:xfrm>
          <a:prstGeom prst="roundRect">
            <a:avLst>
              <a:gd name="adj" fmla="val 4000"/>
            </a:avLst>
          </a:prstGeom>
          <a:solidFill>
            <a:srgbClr val="00A896"/>
          </a:solidFill>
          <a:ln/>
        </p:spPr>
      </p:sp>
      <p:sp>
        <p:nvSpPr>
          <p:cNvPr id="23" name="Text 20"/>
          <p:cNvSpPr/>
          <p:nvPr/>
        </p:nvSpPr>
        <p:spPr>
          <a:xfrm>
            <a:off x="9242298" y="3154680"/>
            <a:ext cx="457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p:nvPr/>
        </p:nvSpPr>
        <p:spPr>
          <a:xfrm>
            <a:off x="9269730" y="3566160"/>
            <a:ext cx="2297430" cy="594360"/>
          </a:xfrm>
          <a:prstGeom prst="rect">
            <a:avLst/>
          </a:prstGeom>
          <a:noFill/>
          <a:ln/>
        </p:spPr>
        <p:txBody>
          <a:bodyPr wrap="square" rtlCol="0" anchor="ctr"/>
          <a:lstStyle/>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CONDITIONED</a:t>
            </a:r>
            <a:endParaRPr lang="en-US" sz="1050" dirty="0"/>
          </a:p>
          <a:p>
            <a:pPr indent="0" marL="0">
              <a:lnSpc>
                <a:spcPct val="105000"/>
              </a:lnSpc>
              <a:buNone/>
            </a:pPr>
            <a:r>
              <a:rPr lang="en-US" sz="1050" b="1" dirty="0">
                <a:solidFill>
                  <a:srgbClr val="FFFFFF"/>
                </a:solidFill>
                <a:latin typeface="Calibri" pitchFamily="34" charset="0"/>
                <a:ea typeface="Calibri" pitchFamily="34" charset="-122"/>
                <a:cs typeface="Calibri" pitchFamily="34" charset="-120"/>
              </a:rPr>
              <a:t>STIMULUS → RESPONSE</a:t>
            </a:r>
            <a:endParaRPr lang="en-US" sz="1050" dirty="0"/>
          </a:p>
        </p:txBody>
      </p:sp>
      <p:sp>
        <p:nvSpPr>
          <p:cNvPr id="25" name="Text 22"/>
          <p:cNvSpPr/>
          <p:nvPr/>
        </p:nvSpPr>
        <p:spPr>
          <a:xfrm>
            <a:off x="9269730" y="4160520"/>
            <a:ext cx="2297430" cy="685800"/>
          </a:xfrm>
          <a:prstGeom prst="rect">
            <a:avLst/>
          </a:prstGeom>
          <a:noFill/>
          <a:ln/>
        </p:spPr>
        <p:txBody>
          <a:bodyPr wrap="square" rtlCol="0" anchor="ctr"/>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School alone now</a:t>
            </a:r>
            <a:endParaRPr lang="en-US" sz="1050" dirty="0"/>
          </a:p>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triggers fear + avoidance</a:t>
            </a:r>
            <a:endParaRPr lang="en-US" sz="1050" dirty="0"/>
          </a:p>
        </p:txBody>
      </p:sp>
      <p:sp>
        <p:nvSpPr>
          <p:cNvPr id="26" name="Text 23"/>
          <p:cNvSpPr/>
          <p:nvPr/>
        </p:nvSpPr>
        <p:spPr>
          <a:xfrm>
            <a:off x="457200" y="5166360"/>
            <a:ext cx="11247120" cy="457200"/>
          </a:xfrm>
          <a:prstGeom prst="rect">
            <a:avLst/>
          </a:prstGeom>
          <a:noFill/>
          <a:ln/>
        </p:spPr>
        <p:txBody>
          <a:bodyPr wrap="square" rtlCol="0" anchor="ctr"/>
          <a:lstStyle/>
          <a:p>
            <a:pPr indent="0" marL="0">
              <a:buNone/>
            </a:pPr>
            <a:r>
              <a:rPr lang="en-US" sz="1200" i="1" dirty="0">
                <a:solidFill>
                  <a:srgbClr val="5B6B70"/>
                </a:solidFill>
                <a:latin typeface="Calibri" pitchFamily="34" charset="0"/>
                <a:ea typeface="Calibri" pitchFamily="34" charset="-122"/>
                <a:cs typeface="Calibri" pitchFamily="34" charset="-120"/>
              </a:rPr>
              <a:t>Learning theory has some explanatory power here — but on its own it overlooks the thinking patterns behind the behaviour.</a:t>
            </a:r>
            <a:endParaRPr lang="en-US" sz="1200" dirty="0"/>
          </a:p>
        </p:txBody>
      </p:sp>
      <p:sp>
        <p:nvSpPr>
          <p:cNvPr id="27" name="Text 24"/>
          <p:cNvSpPr/>
          <p:nvPr/>
        </p:nvSpPr>
        <p:spPr>
          <a:xfrm>
            <a:off x="457200" y="5989320"/>
            <a:ext cx="54864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Classical conditioning</a:t>
            </a:r>
            <a:endParaRPr lang="en-US" sz="1100" dirty="0"/>
          </a:p>
        </p:txBody>
      </p:sp>
      <p:sp>
        <p:nvSpPr>
          <p:cNvPr id="28" name="Text 25"/>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29" name="Text 26"/>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Avoidance and Operant Conditioning</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Why avoidance behaviour keeps SAD going, once it starts</a:t>
            </a:r>
            <a:endParaRPr lang="en-US" sz="1400" dirty="0"/>
          </a:p>
        </p:txBody>
      </p:sp>
      <p:sp>
        <p:nvSpPr>
          <p:cNvPr id="4" name="Shape 2"/>
          <p:cNvSpPr/>
          <p:nvPr/>
        </p:nvSpPr>
        <p:spPr>
          <a:xfrm>
            <a:off x="457200" y="1554480"/>
            <a:ext cx="5212080" cy="4297680"/>
          </a:xfrm>
          <a:prstGeom prst="roundRect">
            <a:avLst>
              <a:gd name="adj" fmla="val 2128"/>
            </a:avLst>
          </a:prstGeom>
          <a:solidFill>
            <a:srgbClr val="FFFFFF"/>
          </a:solidFill>
          <a:ln w="12700">
            <a:solidFill>
              <a:srgbClr val="00A896"/>
            </a:solidFill>
            <a:prstDash val="solid"/>
          </a:ln>
        </p:spPr>
      </p:sp>
      <p:sp>
        <p:nvSpPr>
          <p:cNvPr id="5" name="Shape 3"/>
          <p:cNvSpPr/>
          <p:nvPr/>
        </p:nvSpPr>
        <p:spPr>
          <a:xfrm>
            <a:off x="731520" y="1828800"/>
            <a:ext cx="594360" cy="594360"/>
          </a:xfrm>
          <a:prstGeom prst="ellipse">
            <a:avLst/>
          </a:prstGeom>
          <a:solidFill>
            <a:srgbClr val="00A896"/>
          </a:solidFill>
          <a:ln/>
        </p:spPr>
      </p:sp>
      <p:pic>
        <p:nvPicPr>
          <p:cNvPr id="6" name="Image 0" descr="icons/sync.png">    </p:cNvPr>
          <p:cNvPicPr>
            <a:picLocks noChangeAspect="1"/>
          </p:cNvPicPr>
          <p:nvPr/>
        </p:nvPicPr>
        <p:blipFill>
          <a:blip r:embed="rId1"/>
          <a:stretch>
            <a:fillRect/>
          </a:stretch>
        </p:blipFill>
        <p:spPr>
          <a:xfrm>
            <a:off x="886054" y="1983334"/>
            <a:ext cx="285293" cy="285293"/>
          </a:xfrm>
          <a:prstGeom prst="rect">
            <a:avLst/>
          </a:prstGeom>
        </p:spPr>
      </p:pic>
      <p:sp>
        <p:nvSpPr>
          <p:cNvPr id="7" name="Text 4"/>
          <p:cNvSpPr/>
          <p:nvPr/>
        </p:nvSpPr>
        <p:spPr>
          <a:xfrm>
            <a:off x="1508760" y="1874520"/>
            <a:ext cx="3931920" cy="502920"/>
          </a:xfrm>
          <a:prstGeom prst="rect">
            <a:avLst/>
          </a:prstGeom>
          <a:noFill/>
          <a:ln/>
        </p:spPr>
        <p:txBody>
          <a:bodyPr wrap="square" rtlCol="0" anchor="ctr"/>
          <a:lstStyle/>
          <a:p>
            <a:pPr indent="0" marL="0">
              <a:buNone/>
            </a:pPr>
            <a:r>
              <a:rPr lang="en-US" sz="1500" b="1" dirty="0">
                <a:solidFill>
                  <a:srgbClr val="013A40"/>
                </a:solidFill>
                <a:latin typeface="Cambria" pitchFamily="34" charset="0"/>
                <a:ea typeface="Cambria" pitchFamily="34" charset="-122"/>
                <a:cs typeface="Cambria" pitchFamily="34" charset="-120"/>
              </a:rPr>
              <a:t>The Negative Reinforcement Cycle</a:t>
            </a:r>
            <a:endParaRPr lang="en-US" sz="1500" dirty="0"/>
          </a:p>
        </p:txBody>
      </p:sp>
      <p:sp>
        <p:nvSpPr>
          <p:cNvPr id="8" name="Shape 5"/>
          <p:cNvSpPr/>
          <p:nvPr/>
        </p:nvSpPr>
        <p:spPr>
          <a:xfrm>
            <a:off x="731520" y="2606040"/>
            <a:ext cx="292608" cy="292608"/>
          </a:xfrm>
          <a:prstGeom prst="ellipse">
            <a:avLst/>
          </a:prstGeom>
          <a:solidFill>
            <a:srgbClr val="028090"/>
          </a:solidFill>
          <a:ln/>
        </p:spPr>
      </p:sp>
      <p:sp>
        <p:nvSpPr>
          <p:cNvPr id="9" name="Text 6"/>
          <p:cNvSpPr/>
          <p:nvPr/>
        </p:nvSpPr>
        <p:spPr>
          <a:xfrm>
            <a:off x="731520" y="260604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1188720" y="2532888"/>
            <a:ext cx="4114800" cy="640080"/>
          </a:xfrm>
          <a:prstGeom prst="rect">
            <a:avLst/>
          </a:prstGeom>
          <a:noFill/>
          <a:ln/>
        </p:spPr>
        <p:txBody>
          <a:bodyPr wrap="square"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A social situation triggers anxiety</a:t>
            </a:r>
            <a:endParaRPr lang="en-US" sz="1200" dirty="0"/>
          </a:p>
        </p:txBody>
      </p:sp>
      <p:sp>
        <p:nvSpPr>
          <p:cNvPr id="11" name="Shape 8"/>
          <p:cNvSpPr/>
          <p:nvPr/>
        </p:nvSpPr>
        <p:spPr>
          <a:xfrm>
            <a:off x="731520" y="3355848"/>
            <a:ext cx="292608" cy="292608"/>
          </a:xfrm>
          <a:prstGeom prst="ellipse">
            <a:avLst/>
          </a:prstGeom>
          <a:solidFill>
            <a:srgbClr val="028090"/>
          </a:solidFill>
          <a:ln/>
        </p:spPr>
      </p:sp>
      <p:sp>
        <p:nvSpPr>
          <p:cNvPr id="12" name="Text 9"/>
          <p:cNvSpPr/>
          <p:nvPr/>
        </p:nvSpPr>
        <p:spPr>
          <a:xfrm>
            <a:off x="731520" y="335584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188720" y="3282696"/>
            <a:ext cx="4114800" cy="640080"/>
          </a:xfrm>
          <a:prstGeom prst="rect">
            <a:avLst/>
          </a:prstGeom>
          <a:noFill/>
          <a:ln/>
        </p:spPr>
        <p:txBody>
          <a:bodyPr wrap="square"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The person avoids or escapes it (a "safety behaviour")</a:t>
            </a:r>
            <a:endParaRPr lang="en-US" sz="1200" dirty="0"/>
          </a:p>
        </p:txBody>
      </p:sp>
      <p:sp>
        <p:nvSpPr>
          <p:cNvPr id="14" name="Shape 11"/>
          <p:cNvSpPr/>
          <p:nvPr/>
        </p:nvSpPr>
        <p:spPr>
          <a:xfrm>
            <a:off x="731520" y="4105656"/>
            <a:ext cx="292608" cy="292608"/>
          </a:xfrm>
          <a:prstGeom prst="ellipse">
            <a:avLst/>
          </a:prstGeom>
          <a:solidFill>
            <a:srgbClr val="028090"/>
          </a:solidFill>
          <a:ln/>
        </p:spPr>
      </p:sp>
      <p:sp>
        <p:nvSpPr>
          <p:cNvPr id="15" name="Text 12"/>
          <p:cNvSpPr/>
          <p:nvPr/>
        </p:nvSpPr>
        <p:spPr>
          <a:xfrm>
            <a:off x="731520" y="410565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1188720" y="4032504"/>
            <a:ext cx="4114800" cy="640080"/>
          </a:xfrm>
          <a:prstGeom prst="rect">
            <a:avLst/>
          </a:prstGeom>
          <a:noFill/>
          <a:ln/>
        </p:spPr>
        <p:txBody>
          <a:bodyPr wrap="square"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Anxiety drops immediately — a relieving feeling</a:t>
            </a:r>
            <a:endParaRPr lang="en-US" sz="1200" dirty="0"/>
          </a:p>
        </p:txBody>
      </p:sp>
      <p:sp>
        <p:nvSpPr>
          <p:cNvPr id="17" name="Shape 14"/>
          <p:cNvSpPr/>
          <p:nvPr/>
        </p:nvSpPr>
        <p:spPr>
          <a:xfrm>
            <a:off x="731520" y="4855464"/>
            <a:ext cx="292608" cy="292608"/>
          </a:xfrm>
          <a:prstGeom prst="ellipse">
            <a:avLst/>
          </a:prstGeom>
          <a:solidFill>
            <a:srgbClr val="028090"/>
          </a:solidFill>
          <a:ln/>
        </p:spPr>
      </p:sp>
      <p:sp>
        <p:nvSpPr>
          <p:cNvPr id="18" name="Text 15"/>
          <p:cNvSpPr/>
          <p:nvPr/>
        </p:nvSpPr>
        <p:spPr>
          <a:xfrm>
            <a:off x="731520" y="485546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6"/>
          <p:cNvSpPr/>
          <p:nvPr/>
        </p:nvSpPr>
        <p:spPr>
          <a:xfrm>
            <a:off x="1188720" y="4782312"/>
            <a:ext cx="4114800" cy="640080"/>
          </a:xfrm>
          <a:prstGeom prst="rect">
            <a:avLst/>
          </a:prstGeom>
          <a:noFill/>
          <a:ln/>
        </p:spPr>
        <p:txBody>
          <a:bodyPr wrap="square" rtlCol="0" anchor="t"/>
          <a:lstStyle/>
          <a:p>
            <a:pPr indent="0" marL="0">
              <a:lnSpc>
                <a:spcPct val="110000"/>
              </a:lnSpc>
              <a:buNone/>
            </a:pPr>
            <a:r>
              <a:rPr lang="en-US" sz="1200" dirty="0">
                <a:solidFill>
                  <a:srgbClr val="1F2937"/>
                </a:solidFill>
                <a:latin typeface="Calibri" pitchFamily="34" charset="0"/>
                <a:ea typeface="Calibri" pitchFamily="34" charset="-122"/>
                <a:cs typeface="Calibri" pitchFamily="34" charset="-120"/>
              </a:rPr>
              <a:t>The relief reinforces avoidance, so it happens again next time</a:t>
            </a:r>
            <a:endParaRPr lang="en-US" sz="1200" dirty="0"/>
          </a:p>
        </p:txBody>
      </p:sp>
      <p:sp>
        <p:nvSpPr>
          <p:cNvPr id="20" name="Text 17"/>
          <p:cNvSpPr/>
          <p:nvPr/>
        </p:nvSpPr>
        <p:spPr>
          <a:xfrm>
            <a:off x="731520" y="5257800"/>
            <a:ext cx="4663440" cy="457200"/>
          </a:xfrm>
          <a:prstGeom prst="rect">
            <a:avLst/>
          </a:prstGeom>
          <a:noFill/>
          <a:ln/>
        </p:spPr>
        <p:txBody>
          <a:bodyPr wrap="square" rtlCol="0" anchor="ctr"/>
          <a:lstStyle/>
          <a:p>
            <a:pPr indent="0" marL="0">
              <a:buNone/>
            </a:pPr>
            <a:r>
              <a:rPr lang="en-US" sz="1100" i="1" dirty="0">
                <a:solidFill>
                  <a:srgbClr val="5B6B70"/>
                </a:solidFill>
                <a:latin typeface="Calibri" pitchFamily="34" charset="0"/>
                <a:ea typeface="Calibri" pitchFamily="34" charset="-122"/>
                <a:cs typeface="Calibri" pitchFamily="34" charset="-120"/>
              </a:rPr>
              <a:t>Result: avoidance feels adaptive in the moment but maintains the disorder long-term.</a:t>
            </a:r>
            <a:endParaRPr lang="en-US" sz="1100" dirty="0"/>
          </a:p>
        </p:txBody>
      </p:sp>
      <p:sp>
        <p:nvSpPr>
          <p:cNvPr id="21" name="Shape 18"/>
          <p:cNvSpPr/>
          <p:nvPr/>
        </p:nvSpPr>
        <p:spPr>
          <a:xfrm>
            <a:off x="5943600" y="1554480"/>
            <a:ext cx="5760720" cy="4297680"/>
          </a:xfrm>
          <a:prstGeom prst="roundRect">
            <a:avLst>
              <a:gd name="adj" fmla="val 2128"/>
            </a:avLst>
          </a:prstGeom>
          <a:solidFill>
            <a:srgbClr val="FFFFFF"/>
          </a:solidFill>
          <a:ln w="12700">
            <a:solidFill>
              <a:srgbClr val="00A896"/>
            </a:solidFill>
            <a:prstDash val="solid"/>
          </a:ln>
        </p:spPr>
      </p:sp>
      <p:sp>
        <p:nvSpPr>
          <p:cNvPr id="22" name="Shape 19"/>
          <p:cNvSpPr/>
          <p:nvPr/>
        </p:nvSpPr>
        <p:spPr>
          <a:xfrm>
            <a:off x="6217920" y="1828800"/>
            <a:ext cx="594360" cy="594360"/>
          </a:xfrm>
          <a:prstGeom prst="ellipse">
            <a:avLst/>
          </a:prstGeom>
          <a:solidFill>
            <a:srgbClr val="028090"/>
          </a:solidFill>
          <a:ln/>
        </p:spPr>
      </p:sp>
      <p:pic>
        <p:nvPicPr>
          <p:cNvPr id="23" name="Image 1" descr="icons/users.png">    </p:cNvPr>
          <p:cNvPicPr>
            <a:picLocks noChangeAspect="1"/>
          </p:cNvPicPr>
          <p:nvPr/>
        </p:nvPicPr>
        <p:blipFill>
          <a:blip r:embed="rId2"/>
          <a:stretch>
            <a:fillRect/>
          </a:stretch>
        </p:blipFill>
        <p:spPr>
          <a:xfrm>
            <a:off x="6372454" y="1983334"/>
            <a:ext cx="285293" cy="285293"/>
          </a:xfrm>
          <a:prstGeom prst="rect">
            <a:avLst/>
          </a:prstGeom>
        </p:spPr>
      </p:pic>
      <p:sp>
        <p:nvSpPr>
          <p:cNvPr id="24" name="Text 20"/>
          <p:cNvSpPr/>
          <p:nvPr/>
        </p:nvSpPr>
        <p:spPr>
          <a:xfrm>
            <a:off x="6995160" y="1874520"/>
            <a:ext cx="4480560" cy="502920"/>
          </a:xfrm>
          <a:prstGeom prst="rect">
            <a:avLst/>
          </a:prstGeom>
          <a:noFill/>
          <a:ln/>
        </p:spPr>
        <p:txBody>
          <a:bodyPr wrap="square" rtlCol="0" anchor="ctr"/>
          <a:lstStyle/>
          <a:p>
            <a:pPr indent="0" marL="0">
              <a:buNone/>
            </a:pPr>
            <a:r>
              <a:rPr lang="en-US" sz="1500" b="1" dirty="0">
                <a:solidFill>
                  <a:srgbClr val="013A40"/>
                </a:solidFill>
                <a:latin typeface="Cambria" pitchFamily="34" charset="0"/>
                <a:ea typeface="Cambria" pitchFamily="34" charset="-122"/>
                <a:cs typeface="Cambria" pitchFamily="34" charset="-120"/>
              </a:rPr>
              <a:t>Learning by Watching Others</a:t>
            </a:r>
            <a:endParaRPr lang="en-US" sz="1500" dirty="0"/>
          </a:p>
        </p:txBody>
      </p:sp>
      <p:sp>
        <p:nvSpPr>
          <p:cNvPr id="25" name="Text 21"/>
          <p:cNvSpPr/>
          <p:nvPr/>
        </p:nvSpPr>
        <p:spPr>
          <a:xfrm>
            <a:off x="6217920" y="2606040"/>
            <a:ext cx="5212080" cy="2926080"/>
          </a:xfrm>
          <a:prstGeom prst="rect">
            <a:avLst/>
          </a:prstGeom>
          <a:noFill/>
          <a:ln/>
        </p:spPr>
        <p:txBody>
          <a:bodyPr wrap="square" rtlCol="0" anchor="t"/>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Conditioning isn't only about direct experience. Reactions to social situations are also shaped by the people around us.
</a:t>
            </a:r>
            <a:r>
              <a:rPr lang="en-US" sz="1250" dirty="0">
                <a:solidFill>
                  <a:srgbClr val="1F2937"/>
                </a:solidFill>
                <a:latin typeface="Calibri" pitchFamily="34" charset="0"/>
                <a:ea typeface="Calibri" pitchFamily="34" charset="-122"/>
                <a:cs typeface="Calibri" pitchFamily="34" charset="-120"/>
              </a:rPr>
              <a:t>If a parent or close friend consistently reacts to social situations with high anxiety, avoidance, or a tendency to expect the worst, a child or adolescent can pick up that same pattern through observation and imitation — without ever having the bad experience themselves.
</a:t>
            </a:r>
            <a:r>
              <a:rPr lang="en-US" sz="1250" dirty="0">
                <a:solidFill>
                  <a:srgbClr val="1F2937"/>
                </a:solidFill>
                <a:latin typeface="Calibri" pitchFamily="34" charset="0"/>
                <a:ea typeface="Calibri" pitchFamily="34" charset="-122"/>
                <a:cs typeface="Calibri" pitchFamily="34" charset="-120"/>
              </a:rPr>
              <a:t>This modelling process works alongside classical and operant conditioning, not instead of them — together, the three give a fuller learning-based account of how SAD develops and persists.</a:t>
            </a:r>
            <a:endParaRPr lang="en-US" sz="1250" dirty="0"/>
          </a:p>
        </p:txBody>
      </p:sp>
      <p:sp>
        <p:nvSpPr>
          <p:cNvPr id="26" name="Text 22"/>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Operant conditioning &amp; social learning</a:t>
            </a:r>
            <a:endParaRPr lang="en-US" sz="1100" dirty="0"/>
          </a:p>
        </p:txBody>
      </p:sp>
      <p:sp>
        <p:nvSpPr>
          <p:cNvPr id="27" name="Text 23"/>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28" name="Text 2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2004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Clark and Wells' (1995) Cognitive Model</a:t>
            </a:r>
            <a:endParaRPr lang="en-US" sz="2800" dirty="0"/>
          </a:p>
        </p:txBody>
      </p:sp>
      <p:sp>
        <p:nvSpPr>
          <p:cNvPr id="3" name="Text 1"/>
          <p:cNvSpPr/>
          <p:nvPr/>
        </p:nvSpPr>
        <p:spPr>
          <a:xfrm>
            <a:off x="457200" y="82296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What stops people with SAD from updating their negative beliefs</a:t>
            </a:r>
            <a:endParaRPr lang="en-US" sz="1400" dirty="0"/>
          </a:p>
        </p:txBody>
      </p:sp>
      <p:sp>
        <p:nvSpPr>
          <p:cNvPr id="4" name="Shape 2"/>
          <p:cNvSpPr/>
          <p:nvPr/>
        </p:nvSpPr>
        <p:spPr>
          <a:xfrm>
            <a:off x="457200" y="1600200"/>
            <a:ext cx="2066544" cy="2286000"/>
          </a:xfrm>
          <a:prstGeom prst="roundRect">
            <a:avLst>
              <a:gd name="adj" fmla="val 3540"/>
            </a:avLst>
          </a:prstGeom>
          <a:solidFill>
            <a:srgbClr val="028090"/>
          </a:solidFill>
          <a:ln/>
        </p:spPr>
      </p:sp>
      <p:sp>
        <p:nvSpPr>
          <p:cNvPr id="5" name="Text 3"/>
          <p:cNvSpPr/>
          <p:nvPr/>
        </p:nvSpPr>
        <p:spPr>
          <a:xfrm>
            <a:off x="548640" y="1783080"/>
            <a:ext cx="1883664" cy="868680"/>
          </a:xfrm>
          <a:prstGeom prst="rect">
            <a:avLst/>
          </a:prstGeom>
          <a:noFill/>
          <a:ln/>
        </p:spPr>
        <p:txBody>
          <a:bodyPr wrap="square" rtlCol="0" anchor="t"/>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Social</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Situation</a:t>
            </a:r>
            <a:endParaRPr lang="en-US" sz="1250" dirty="0"/>
          </a:p>
        </p:txBody>
      </p:sp>
      <p:sp>
        <p:nvSpPr>
          <p:cNvPr id="6" name="Text 4"/>
          <p:cNvSpPr/>
          <p:nvPr/>
        </p:nvSpPr>
        <p:spPr>
          <a:xfrm>
            <a:off x="548640" y="3017520"/>
            <a:ext cx="1883664" cy="777240"/>
          </a:xfrm>
          <a:prstGeom prst="rect">
            <a:avLst/>
          </a:prstGeom>
          <a:noFill/>
          <a:ln/>
        </p:spPr>
        <p:txBody>
          <a:bodyPr wrap="square" rtlCol="0" anchor="t"/>
          <a:lstStyle/>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e.g. an upcoming</a:t>
            </a:r>
            <a:endParaRPr lang="en-US" sz="1000" dirty="0"/>
          </a:p>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class presentation</a:t>
            </a:r>
            <a:endParaRPr lang="en-US" sz="1000" dirty="0"/>
          </a:p>
        </p:txBody>
      </p:sp>
      <p:sp>
        <p:nvSpPr>
          <p:cNvPr id="7" name="Text 5"/>
          <p:cNvSpPr/>
          <p:nvPr/>
        </p:nvSpPr>
        <p:spPr>
          <a:xfrm>
            <a:off x="2505456" y="2514600"/>
            <a:ext cx="265176" cy="457200"/>
          </a:xfrm>
          <a:prstGeom prst="rect">
            <a:avLst/>
          </a:prstGeom>
          <a:noFill/>
          <a:ln/>
        </p:spPr>
        <p:txBody>
          <a:bodyPr wrap="square" rtlCol="0" anchor="ctr"/>
          <a:lstStyle/>
          <a:p>
            <a:pPr algn="ctr" indent="0" marL="0">
              <a:buNone/>
            </a:pPr>
            <a:r>
              <a:rPr lang="en-US" sz="1800" dirty="0">
                <a:solidFill>
                  <a:srgbClr val="013A40"/>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752344" y="1600200"/>
            <a:ext cx="2066544" cy="2286000"/>
          </a:xfrm>
          <a:prstGeom prst="roundRect">
            <a:avLst>
              <a:gd name="adj" fmla="val 3540"/>
            </a:avLst>
          </a:prstGeom>
          <a:solidFill>
            <a:srgbClr val="00A896"/>
          </a:solidFill>
          <a:ln/>
        </p:spPr>
      </p:sp>
      <p:sp>
        <p:nvSpPr>
          <p:cNvPr id="9" name="Text 7"/>
          <p:cNvSpPr/>
          <p:nvPr/>
        </p:nvSpPr>
        <p:spPr>
          <a:xfrm>
            <a:off x="2843784" y="1783080"/>
            <a:ext cx="1883664" cy="868680"/>
          </a:xfrm>
          <a:prstGeom prst="rect">
            <a:avLst/>
          </a:prstGeom>
          <a:noFill/>
          <a:ln/>
        </p:spPr>
        <p:txBody>
          <a:bodyPr wrap="square" rtlCol="0" anchor="t"/>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Assumptions</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Activated</a:t>
            </a:r>
            <a:endParaRPr lang="en-US" sz="1250" dirty="0"/>
          </a:p>
        </p:txBody>
      </p:sp>
      <p:sp>
        <p:nvSpPr>
          <p:cNvPr id="10" name="Text 8"/>
          <p:cNvSpPr/>
          <p:nvPr/>
        </p:nvSpPr>
        <p:spPr>
          <a:xfrm>
            <a:off x="2843784" y="3017520"/>
            <a:ext cx="1883664" cy="777240"/>
          </a:xfrm>
          <a:prstGeom prst="rect">
            <a:avLst/>
          </a:prstGeom>
          <a:noFill/>
          <a:ln/>
        </p:spPr>
        <p:txBody>
          <a:bodyPr wrap="square" rtlCol="0" anchor="t"/>
          <a:lstStyle/>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past negative</a:t>
            </a:r>
            <a:endParaRPr lang="en-US" sz="1000" dirty="0"/>
          </a:p>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experiences resurface</a:t>
            </a:r>
            <a:endParaRPr lang="en-US" sz="1000" dirty="0"/>
          </a:p>
        </p:txBody>
      </p:sp>
      <p:sp>
        <p:nvSpPr>
          <p:cNvPr id="11" name="Text 9"/>
          <p:cNvSpPr/>
          <p:nvPr/>
        </p:nvSpPr>
        <p:spPr>
          <a:xfrm>
            <a:off x="4800600" y="2514600"/>
            <a:ext cx="265176" cy="457200"/>
          </a:xfrm>
          <a:prstGeom prst="rect">
            <a:avLst/>
          </a:prstGeom>
          <a:noFill/>
          <a:ln/>
        </p:spPr>
        <p:txBody>
          <a:bodyPr wrap="square" rtlCol="0" anchor="ctr"/>
          <a:lstStyle/>
          <a:p>
            <a:pPr algn="ctr" indent="0" marL="0">
              <a:buNone/>
            </a:pPr>
            <a:r>
              <a:rPr lang="en-US" sz="1800" dirty="0">
                <a:solidFill>
                  <a:srgbClr val="013A40"/>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047488" y="1600200"/>
            <a:ext cx="2066544" cy="2286000"/>
          </a:xfrm>
          <a:prstGeom prst="roundRect">
            <a:avLst>
              <a:gd name="adj" fmla="val 3540"/>
            </a:avLst>
          </a:prstGeom>
          <a:solidFill>
            <a:srgbClr val="028090"/>
          </a:solidFill>
          <a:ln/>
        </p:spPr>
      </p:sp>
      <p:sp>
        <p:nvSpPr>
          <p:cNvPr id="13" name="Text 11"/>
          <p:cNvSpPr/>
          <p:nvPr/>
        </p:nvSpPr>
        <p:spPr>
          <a:xfrm>
            <a:off x="5138928" y="1783080"/>
            <a:ext cx="1883664" cy="868680"/>
          </a:xfrm>
          <a:prstGeom prst="rect">
            <a:avLst/>
          </a:prstGeom>
          <a:noFill/>
          <a:ln/>
        </p:spPr>
        <p:txBody>
          <a:bodyPr wrap="square" rtlCol="0" anchor="t"/>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Negative</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Anticipatory</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Processing</a:t>
            </a:r>
            <a:endParaRPr lang="en-US" sz="1250" dirty="0"/>
          </a:p>
        </p:txBody>
      </p:sp>
      <p:sp>
        <p:nvSpPr>
          <p:cNvPr id="14" name="Text 12"/>
          <p:cNvSpPr/>
          <p:nvPr/>
        </p:nvSpPr>
        <p:spPr>
          <a:xfrm>
            <a:off x="5138928" y="3017520"/>
            <a:ext cx="1883664" cy="777240"/>
          </a:xfrm>
          <a:prstGeom prst="rect">
            <a:avLst/>
          </a:prstGeom>
          <a:noFill/>
          <a:ln/>
        </p:spPr>
        <p:txBody>
          <a:bodyPr wrap="square" rtlCol="0" anchor="t"/>
          <a:lstStyle/>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"I'll stumble over</a:t>
            </a:r>
            <a:endParaRPr lang="en-US" sz="1000" dirty="0"/>
          </a:p>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my words"</a:t>
            </a:r>
            <a:endParaRPr lang="en-US" sz="1000" dirty="0"/>
          </a:p>
        </p:txBody>
      </p:sp>
      <p:sp>
        <p:nvSpPr>
          <p:cNvPr id="15" name="Text 13"/>
          <p:cNvSpPr/>
          <p:nvPr/>
        </p:nvSpPr>
        <p:spPr>
          <a:xfrm>
            <a:off x="7095744" y="2514600"/>
            <a:ext cx="265176" cy="457200"/>
          </a:xfrm>
          <a:prstGeom prst="rect">
            <a:avLst/>
          </a:prstGeom>
          <a:noFill/>
          <a:ln/>
        </p:spPr>
        <p:txBody>
          <a:bodyPr wrap="square" rtlCol="0" anchor="ctr"/>
          <a:lstStyle/>
          <a:p>
            <a:pPr algn="ctr" indent="0" marL="0">
              <a:buNone/>
            </a:pPr>
            <a:r>
              <a:rPr lang="en-US" sz="1800" dirty="0">
                <a:solidFill>
                  <a:srgbClr val="013A4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342632" y="1600200"/>
            <a:ext cx="2066544" cy="2286000"/>
          </a:xfrm>
          <a:prstGeom prst="roundRect">
            <a:avLst>
              <a:gd name="adj" fmla="val 3540"/>
            </a:avLst>
          </a:prstGeom>
          <a:solidFill>
            <a:srgbClr val="00A896"/>
          </a:solidFill>
          <a:ln/>
        </p:spPr>
      </p:sp>
      <p:sp>
        <p:nvSpPr>
          <p:cNvPr id="17" name="Text 15"/>
          <p:cNvSpPr/>
          <p:nvPr/>
        </p:nvSpPr>
        <p:spPr>
          <a:xfrm>
            <a:off x="7434072" y="1783080"/>
            <a:ext cx="1883664" cy="868680"/>
          </a:xfrm>
          <a:prstGeom prst="rect">
            <a:avLst/>
          </a:prstGeom>
          <a:noFill/>
          <a:ln/>
        </p:spPr>
        <p:txBody>
          <a:bodyPr wrap="square" rtlCol="0" anchor="t"/>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Self as a</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Social Object</a:t>
            </a:r>
            <a:endParaRPr lang="en-US" sz="1250" dirty="0"/>
          </a:p>
        </p:txBody>
      </p:sp>
      <p:sp>
        <p:nvSpPr>
          <p:cNvPr id="18" name="Text 16"/>
          <p:cNvSpPr/>
          <p:nvPr/>
        </p:nvSpPr>
        <p:spPr>
          <a:xfrm>
            <a:off x="7434072" y="3017520"/>
            <a:ext cx="1883664" cy="777240"/>
          </a:xfrm>
          <a:prstGeom prst="rect">
            <a:avLst/>
          </a:prstGeom>
          <a:noFill/>
          <a:ln/>
        </p:spPr>
        <p:txBody>
          <a:bodyPr wrap="square" rtlCol="0" anchor="t"/>
          <a:lstStyle/>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picturing yourself</a:t>
            </a:r>
            <a:endParaRPr lang="en-US" sz="1000" dirty="0"/>
          </a:p>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from the outside</a:t>
            </a:r>
            <a:endParaRPr lang="en-US" sz="1000" dirty="0"/>
          </a:p>
        </p:txBody>
      </p:sp>
      <p:sp>
        <p:nvSpPr>
          <p:cNvPr id="19" name="Text 17"/>
          <p:cNvSpPr/>
          <p:nvPr/>
        </p:nvSpPr>
        <p:spPr>
          <a:xfrm>
            <a:off x="9390888" y="2514600"/>
            <a:ext cx="265176" cy="457200"/>
          </a:xfrm>
          <a:prstGeom prst="rect">
            <a:avLst/>
          </a:prstGeom>
          <a:noFill/>
          <a:ln/>
        </p:spPr>
        <p:txBody>
          <a:bodyPr wrap="square" rtlCol="0" anchor="ctr"/>
          <a:lstStyle/>
          <a:p>
            <a:pPr algn="ctr" indent="0" marL="0">
              <a:buNone/>
            </a:pPr>
            <a:r>
              <a:rPr lang="en-US" sz="1800" dirty="0">
                <a:solidFill>
                  <a:srgbClr val="013A40"/>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637776" y="1600200"/>
            <a:ext cx="2066544" cy="2286000"/>
          </a:xfrm>
          <a:prstGeom prst="roundRect">
            <a:avLst>
              <a:gd name="adj" fmla="val 3540"/>
            </a:avLst>
          </a:prstGeom>
          <a:solidFill>
            <a:srgbClr val="013A40"/>
          </a:solidFill>
          <a:ln/>
        </p:spPr>
      </p:sp>
      <p:sp>
        <p:nvSpPr>
          <p:cNvPr id="21" name="Text 19"/>
          <p:cNvSpPr/>
          <p:nvPr/>
        </p:nvSpPr>
        <p:spPr>
          <a:xfrm>
            <a:off x="9729216" y="1783080"/>
            <a:ext cx="1883664" cy="868680"/>
          </a:xfrm>
          <a:prstGeom prst="rect">
            <a:avLst/>
          </a:prstGeom>
          <a:noFill/>
          <a:ln/>
        </p:spPr>
        <p:txBody>
          <a:bodyPr wrap="square" rtlCol="0" anchor="t"/>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Safety Behaviours</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 Anxiety</a:t>
            </a:r>
            <a:endParaRPr lang="en-US" sz="1250" dirty="0"/>
          </a:p>
        </p:txBody>
      </p:sp>
      <p:sp>
        <p:nvSpPr>
          <p:cNvPr id="22" name="Text 20"/>
          <p:cNvSpPr/>
          <p:nvPr/>
        </p:nvSpPr>
        <p:spPr>
          <a:xfrm>
            <a:off x="9729216" y="3017520"/>
            <a:ext cx="1883664" cy="777240"/>
          </a:xfrm>
          <a:prstGeom prst="rect">
            <a:avLst/>
          </a:prstGeom>
          <a:noFill/>
          <a:ln/>
        </p:spPr>
        <p:txBody>
          <a:bodyPr wrap="square" rtlCol="0" anchor="t"/>
          <a:lstStyle/>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avoidance, physical</a:t>
            </a:r>
            <a:endParaRPr lang="en-US" sz="1000" dirty="0"/>
          </a:p>
          <a:p>
            <a:pPr algn="ctr" indent="0" marL="0">
              <a:lnSpc>
                <a:spcPct val="110000"/>
              </a:lnSpc>
              <a:buNone/>
            </a:pPr>
            <a:r>
              <a:rPr lang="en-US" sz="1000" i="1" dirty="0">
                <a:solidFill>
                  <a:srgbClr val="FFFFFF"/>
                </a:solidFill>
                <a:latin typeface="Calibri" pitchFamily="34" charset="0"/>
                <a:ea typeface="Calibri" pitchFamily="34" charset="-122"/>
                <a:cs typeface="Calibri" pitchFamily="34" charset="-120"/>
              </a:rPr>
              <a:t>symptoms</a:t>
            </a:r>
            <a:endParaRPr lang="en-US" sz="1000" dirty="0"/>
          </a:p>
        </p:txBody>
      </p:sp>
      <p:sp>
        <p:nvSpPr>
          <p:cNvPr id="23" name="Text 21"/>
          <p:cNvSpPr/>
          <p:nvPr/>
        </p:nvSpPr>
        <p:spPr>
          <a:xfrm>
            <a:off x="457200" y="4023360"/>
            <a:ext cx="11247120" cy="365760"/>
          </a:xfrm>
          <a:prstGeom prst="rect">
            <a:avLst/>
          </a:prstGeom>
          <a:noFill/>
          <a:ln/>
        </p:spPr>
        <p:txBody>
          <a:bodyPr wrap="square" rtlCol="0" anchor="ctr"/>
          <a:lstStyle/>
          <a:p>
            <a:pPr algn="ctr" indent="0" marL="0">
              <a:buNone/>
            </a:pPr>
            <a:r>
              <a:rPr lang="en-US" sz="1150" i="1" dirty="0">
                <a:solidFill>
                  <a:srgbClr val="5B6B70"/>
                </a:solidFill>
                <a:latin typeface="Calibri" pitchFamily="34" charset="0"/>
                <a:ea typeface="Calibri" pitchFamily="34" charset="-122"/>
                <a:cs typeface="Calibri" pitchFamily="34" charset="-120"/>
              </a:rPr>
              <a:t>↻  the cycle feeds back into future situations, keeping the negative beliefs intact</a:t>
            </a:r>
            <a:endParaRPr lang="en-US" sz="1150" dirty="0"/>
          </a:p>
        </p:txBody>
      </p:sp>
      <p:sp>
        <p:nvSpPr>
          <p:cNvPr id="24" name="Shape 22"/>
          <p:cNvSpPr/>
          <p:nvPr/>
        </p:nvSpPr>
        <p:spPr>
          <a:xfrm>
            <a:off x="457200" y="4617720"/>
            <a:ext cx="640080" cy="640080"/>
          </a:xfrm>
          <a:prstGeom prst="ellipse">
            <a:avLst/>
          </a:prstGeom>
          <a:solidFill>
            <a:srgbClr val="028090"/>
          </a:solidFill>
          <a:ln/>
        </p:spPr>
      </p:sp>
      <p:pic>
        <p:nvPicPr>
          <p:cNvPr id="25" name="Image 0" descr="icons/eye.png">    </p:cNvPr>
          <p:cNvPicPr>
            <a:picLocks noChangeAspect="1"/>
          </p:cNvPicPr>
          <p:nvPr/>
        </p:nvPicPr>
        <p:blipFill>
          <a:blip r:embed="rId1"/>
          <a:stretch>
            <a:fillRect/>
          </a:stretch>
        </p:blipFill>
        <p:spPr>
          <a:xfrm>
            <a:off x="623621" y="4784141"/>
            <a:ext cx="307238" cy="307238"/>
          </a:xfrm>
          <a:prstGeom prst="rect">
            <a:avLst/>
          </a:prstGeom>
        </p:spPr>
      </p:pic>
      <p:sp>
        <p:nvSpPr>
          <p:cNvPr id="26" name="Text 23"/>
          <p:cNvSpPr/>
          <p:nvPr/>
        </p:nvSpPr>
        <p:spPr>
          <a:xfrm>
            <a:off x="1234440" y="4572000"/>
            <a:ext cx="10424160" cy="1371600"/>
          </a:xfrm>
          <a:prstGeom prst="rect">
            <a:avLst/>
          </a:prstGeom>
          <a:noFill/>
          <a:ln/>
        </p:spPr>
        <p:txBody>
          <a:bodyPr wrap="square" rtlCol="0" anchor="t"/>
          <a:lstStyle/>
          <a:p>
            <a:pPr indent="0" marL="0">
              <a:lnSpc>
                <a:spcPct val="120000"/>
              </a:lnSpc>
              <a:buNone/>
            </a:pPr>
            <a:r>
              <a:rPr lang="en-US" sz="1250" b="1" dirty="0">
                <a:solidFill>
                  <a:srgbClr val="013A40"/>
                </a:solidFill>
                <a:latin typeface="Calibri" pitchFamily="34" charset="0"/>
                <a:ea typeface="Calibri" pitchFamily="34" charset="-122"/>
                <a:cs typeface="Calibri" pitchFamily="34" charset="-120"/>
              </a:rPr>
              <a:t>Self-focused attention is the key mechanism. </a:t>
            </a:r>
            <a:r>
              <a:rPr lang="en-US" sz="1250" dirty="0">
                <a:solidFill>
                  <a:srgbClr val="1F2937"/>
                </a:solidFill>
                <a:latin typeface="Calibri" pitchFamily="34" charset="0"/>
                <a:ea typeface="Calibri" pitchFamily="34" charset="-122"/>
                <a:cs typeface="Calibri" pitchFamily="34" charset="-120"/>
              </a:rPr>
              <a:t>Once attention turns inward, the person starts monitoring themselves as an object being watched — sweating, stuttering, blushing — rather than reading the actual social cues in the room. Clark and Wells argue this pattern can begin in childhood and persist into adulthood because it prevents people from ever testing whether their fears are accurate.</a:t>
            </a:r>
            <a:endParaRPr lang="en-US" sz="1250" dirty="0"/>
          </a:p>
        </p:txBody>
      </p:sp>
      <p:sp>
        <p:nvSpPr>
          <p:cNvPr id="27" name="Text 24"/>
          <p:cNvSpPr/>
          <p:nvPr/>
        </p:nvSpPr>
        <p:spPr>
          <a:xfrm>
            <a:off x="457200" y="630936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Clark &amp; Wells model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Rumination and Worry</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Two overthinking patterns that keep social anxiety active</a:t>
            </a:r>
            <a:endParaRPr lang="en-US" sz="1400" dirty="0"/>
          </a:p>
        </p:txBody>
      </p:sp>
      <p:sp>
        <p:nvSpPr>
          <p:cNvPr id="4" name="Shape 2"/>
          <p:cNvSpPr/>
          <p:nvPr/>
        </p:nvSpPr>
        <p:spPr>
          <a:xfrm>
            <a:off x="457200" y="1600200"/>
            <a:ext cx="5303520" cy="1828800"/>
          </a:xfrm>
          <a:prstGeom prst="roundRect">
            <a:avLst>
              <a:gd name="adj" fmla="val 5000"/>
            </a:avLst>
          </a:prstGeom>
          <a:solidFill>
            <a:srgbClr val="FFFFFF"/>
          </a:solidFill>
          <a:ln w="12700">
            <a:solidFill>
              <a:srgbClr val="00A896"/>
            </a:solidFill>
            <a:prstDash val="solid"/>
          </a:ln>
        </p:spPr>
      </p:sp>
      <p:sp>
        <p:nvSpPr>
          <p:cNvPr id="5" name="Shape 3"/>
          <p:cNvSpPr/>
          <p:nvPr/>
        </p:nvSpPr>
        <p:spPr>
          <a:xfrm>
            <a:off x="731520" y="1828800"/>
            <a:ext cx="594360" cy="594360"/>
          </a:xfrm>
          <a:prstGeom prst="ellipse">
            <a:avLst/>
          </a:prstGeom>
          <a:solidFill>
            <a:srgbClr val="028090"/>
          </a:solidFill>
          <a:ln/>
        </p:spPr>
      </p:sp>
      <p:pic>
        <p:nvPicPr>
          <p:cNvPr id="6" name="Image 0" descr="icons/cloud.png">    </p:cNvPr>
          <p:cNvPicPr>
            <a:picLocks noChangeAspect="1"/>
          </p:cNvPicPr>
          <p:nvPr/>
        </p:nvPicPr>
        <p:blipFill>
          <a:blip r:embed="rId1"/>
          <a:stretch>
            <a:fillRect/>
          </a:stretch>
        </p:blipFill>
        <p:spPr>
          <a:xfrm>
            <a:off x="886054" y="1983334"/>
            <a:ext cx="285293" cy="285293"/>
          </a:xfrm>
          <a:prstGeom prst="rect">
            <a:avLst/>
          </a:prstGeom>
        </p:spPr>
      </p:pic>
      <p:sp>
        <p:nvSpPr>
          <p:cNvPr id="7" name="Text 4"/>
          <p:cNvSpPr/>
          <p:nvPr/>
        </p:nvSpPr>
        <p:spPr>
          <a:xfrm>
            <a:off x="1508760" y="1828800"/>
            <a:ext cx="384048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Worry</a:t>
            </a:r>
            <a:endParaRPr lang="en-US" sz="1700" dirty="0"/>
          </a:p>
        </p:txBody>
      </p:sp>
      <p:sp>
        <p:nvSpPr>
          <p:cNvPr id="8" name="Text 5"/>
          <p:cNvSpPr/>
          <p:nvPr/>
        </p:nvSpPr>
        <p:spPr>
          <a:xfrm>
            <a:off x="1508760" y="2176272"/>
            <a:ext cx="3840480" cy="274320"/>
          </a:xfrm>
          <a:prstGeom prst="rect">
            <a:avLst/>
          </a:prstGeom>
          <a:noFill/>
          <a:ln/>
        </p:spPr>
        <p:txBody>
          <a:bodyPr wrap="square" rtlCol="0" anchor="ctr"/>
          <a:lstStyle/>
          <a:p>
            <a:pPr indent="0" marL="0">
              <a:buNone/>
            </a:pPr>
            <a:r>
              <a:rPr lang="en-US" sz="1150" i="1" dirty="0">
                <a:solidFill>
                  <a:srgbClr val="00A896"/>
                </a:solidFill>
                <a:latin typeface="Calibri" pitchFamily="34" charset="0"/>
                <a:ea typeface="Calibri" pitchFamily="34" charset="-122"/>
                <a:cs typeface="Calibri" pitchFamily="34" charset="-120"/>
              </a:rPr>
              <a:t>Overthinking the future</a:t>
            </a:r>
            <a:endParaRPr lang="en-US" sz="1150" dirty="0"/>
          </a:p>
        </p:txBody>
      </p:sp>
      <p:sp>
        <p:nvSpPr>
          <p:cNvPr id="9" name="Text 6"/>
          <p:cNvSpPr/>
          <p:nvPr/>
        </p:nvSpPr>
        <p:spPr>
          <a:xfrm>
            <a:off x="731520" y="2606040"/>
            <a:ext cx="4754880" cy="731520"/>
          </a:xfrm>
          <a:prstGeom prst="rect">
            <a:avLst/>
          </a:prstGeom>
          <a:noFill/>
          <a:ln/>
        </p:spPr>
        <p:txBody>
          <a:bodyPr wrap="square" rtlCol="0" anchor="t"/>
          <a:lstStyle/>
          <a:p>
            <a:pPr indent="0" marL="0">
              <a:lnSpc>
                <a:spcPct val="115000"/>
              </a:lnSpc>
              <a:buNone/>
            </a:pPr>
            <a:r>
              <a:rPr lang="en-US" sz="1150" dirty="0">
                <a:solidFill>
                  <a:srgbClr val="1F2937"/>
                </a:solidFill>
                <a:latin typeface="Calibri" pitchFamily="34" charset="0"/>
                <a:ea typeface="Calibri" pitchFamily="34" charset="-122"/>
                <a:cs typeface="Calibri" pitchFamily="34" charset="-120"/>
              </a:rPr>
              <a:t>Anticipating an upcoming social event and rehearsing everything that might go wrong before it even happens.</a:t>
            </a:r>
            <a:endParaRPr lang="en-US" sz="1150" dirty="0"/>
          </a:p>
        </p:txBody>
      </p:sp>
      <p:sp>
        <p:nvSpPr>
          <p:cNvPr id="10" name="Shape 7"/>
          <p:cNvSpPr/>
          <p:nvPr/>
        </p:nvSpPr>
        <p:spPr>
          <a:xfrm>
            <a:off x="6035040" y="1600200"/>
            <a:ext cx="5303520" cy="1828800"/>
          </a:xfrm>
          <a:prstGeom prst="roundRect">
            <a:avLst>
              <a:gd name="adj" fmla="val 5000"/>
            </a:avLst>
          </a:prstGeom>
          <a:solidFill>
            <a:srgbClr val="FFFFFF"/>
          </a:solidFill>
          <a:ln w="12700">
            <a:solidFill>
              <a:srgbClr val="00A896"/>
            </a:solidFill>
            <a:prstDash val="solid"/>
          </a:ln>
        </p:spPr>
      </p:sp>
      <p:sp>
        <p:nvSpPr>
          <p:cNvPr id="11" name="Shape 8"/>
          <p:cNvSpPr/>
          <p:nvPr/>
        </p:nvSpPr>
        <p:spPr>
          <a:xfrm>
            <a:off x="6309360" y="1828800"/>
            <a:ext cx="594360" cy="594360"/>
          </a:xfrm>
          <a:prstGeom prst="ellipse">
            <a:avLst/>
          </a:prstGeom>
          <a:solidFill>
            <a:srgbClr val="028090"/>
          </a:solidFill>
          <a:ln/>
        </p:spPr>
      </p:sp>
      <p:pic>
        <p:nvPicPr>
          <p:cNvPr id="12" name="Image 1" descr="icons/sync.png">    </p:cNvPr>
          <p:cNvPicPr>
            <a:picLocks noChangeAspect="1"/>
          </p:cNvPicPr>
          <p:nvPr/>
        </p:nvPicPr>
        <p:blipFill>
          <a:blip r:embed="rId2"/>
          <a:stretch>
            <a:fillRect/>
          </a:stretch>
        </p:blipFill>
        <p:spPr>
          <a:xfrm>
            <a:off x="6463894" y="1983334"/>
            <a:ext cx="285293" cy="285293"/>
          </a:xfrm>
          <a:prstGeom prst="rect">
            <a:avLst/>
          </a:prstGeom>
        </p:spPr>
      </p:pic>
      <p:sp>
        <p:nvSpPr>
          <p:cNvPr id="13" name="Text 9"/>
          <p:cNvSpPr/>
          <p:nvPr/>
        </p:nvSpPr>
        <p:spPr>
          <a:xfrm>
            <a:off x="7086600" y="1828800"/>
            <a:ext cx="384048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Rumination</a:t>
            </a:r>
            <a:endParaRPr lang="en-US" sz="1700" dirty="0"/>
          </a:p>
        </p:txBody>
      </p:sp>
      <p:sp>
        <p:nvSpPr>
          <p:cNvPr id="14" name="Text 10"/>
          <p:cNvSpPr/>
          <p:nvPr/>
        </p:nvSpPr>
        <p:spPr>
          <a:xfrm>
            <a:off x="7086600" y="2176272"/>
            <a:ext cx="3840480" cy="274320"/>
          </a:xfrm>
          <a:prstGeom prst="rect">
            <a:avLst/>
          </a:prstGeom>
          <a:noFill/>
          <a:ln/>
        </p:spPr>
        <p:txBody>
          <a:bodyPr wrap="square" rtlCol="0" anchor="ctr"/>
          <a:lstStyle/>
          <a:p>
            <a:pPr indent="0" marL="0">
              <a:buNone/>
            </a:pPr>
            <a:r>
              <a:rPr lang="en-US" sz="1150" i="1" dirty="0">
                <a:solidFill>
                  <a:srgbClr val="00A896"/>
                </a:solidFill>
                <a:latin typeface="Calibri" pitchFamily="34" charset="0"/>
                <a:ea typeface="Calibri" pitchFamily="34" charset="-122"/>
                <a:cs typeface="Calibri" pitchFamily="34" charset="-120"/>
              </a:rPr>
              <a:t>Overthinking the past</a:t>
            </a:r>
            <a:endParaRPr lang="en-US" sz="1150" dirty="0"/>
          </a:p>
        </p:txBody>
      </p:sp>
      <p:sp>
        <p:nvSpPr>
          <p:cNvPr id="15" name="Text 11"/>
          <p:cNvSpPr/>
          <p:nvPr/>
        </p:nvSpPr>
        <p:spPr>
          <a:xfrm>
            <a:off x="6309360" y="2606040"/>
            <a:ext cx="4754880" cy="731520"/>
          </a:xfrm>
          <a:prstGeom prst="rect">
            <a:avLst/>
          </a:prstGeom>
          <a:noFill/>
          <a:ln/>
        </p:spPr>
        <p:txBody>
          <a:bodyPr wrap="square" rtlCol="0" anchor="t"/>
          <a:lstStyle/>
          <a:p>
            <a:pPr indent="0" marL="0">
              <a:lnSpc>
                <a:spcPct val="115000"/>
              </a:lnSpc>
              <a:buNone/>
            </a:pPr>
            <a:r>
              <a:rPr lang="en-US" sz="1150" dirty="0">
                <a:solidFill>
                  <a:srgbClr val="1F2937"/>
                </a:solidFill>
                <a:latin typeface="Calibri" pitchFamily="34" charset="0"/>
                <a:ea typeface="Calibri" pitchFamily="34" charset="-122"/>
                <a:cs typeface="Calibri" pitchFamily="34" charset="-120"/>
              </a:rPr>
              <a:t>Replaying a social event afterward — known as post-event rumination — and re-evaluating one's own performance negatively.</a:t>
            </a:r>
            <a:endParaRPr lang="en-US" sz="1150" dirty="0"/>
          </a:p>
        </p:txBody>
      </p:sp>
      <p:sp>
        <p:nvSpPr>
          <p:cNvPr id="16" name="Shape 12"/>
          <p:cNvSpPr/>
          <p:nvPr/>
        </p:nvSpPr>
        <p:spPr>
          <a:xfrm>
            <a:off x="457200" y="3749040"/>
            <a:ext cx="10424160" cy="2103120"/>
          </a:xfrm>
          <a:prstGeom prst="roundRect">
            <a:avLst>
              <a:gd name="adj" fmla="val 4348"/>
            </a:avLst>
          </a:prstGeom>
          <a:solidFill>
            <a:srgbClr val="013A40"/>
          </a:solidFill>
          <a:ln/>
        </p:spPr>
      </p:sp>
      <p:sp>
        <p:nvSpPr>
          <p:cNvPr id="17" name="Text 13"/>
          <p:cNvSpPr/>
          <p:nvPr/>
        </p:nvSpPr>
        <p:spPr>
          <a:xfrm>
            <a:off x="777240" y="3931920"/>
            <a:ext cx="97840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Negative Attentional Bias: how the cycle keeps running</a:t>
            </a:r>
            <a:endParaRPr lang="en-US" sz="1500" dirty="0"/>
          </a:p>
        </p:txBody>
      </p:sp>
      <p:sp>
        <p:nvSpPr>
          <p:cNvPr id="18" name="Shape 14"/>
          <p:cNvSpPr/>
          <p:nvPr/>
        </p:nvSpPr>
        <p:spPr>
          <a:xfrm>
            <a:off x="777240" y="4480560"/>
            <a:ext cx="2240280" cy="1188720"/>
          </a:xfrm>
          <a:prstGeom prst="roundRect">
            <a:avLst>
              <a:gd name="adj" fmla="val 4615"/>
            </a:avLst>
          </a:prstGeom>
          <a:solidFill>
            <a:srgbClr val="028090"/>
          </a:solidFill>
          <a:ln/>
        </p:spPr>
      </p:sp>
      <p:sp>
        <p:nvSpPr>
          <p:cNvPr id="19" name="Text 15"/>
          <p:cNvSpPr/>
          <p:nvPr/>
        </p:nvSpPr>
        <p:spPr>
          <a:xfrm>
            <a:off x="868680" y="4553712"/>
            <a:ext cx="2057400" cy="105156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A neutral social cue occurs</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(e.g. a friend doesn't smile)</a:t>
            </a:r>
            <a:endParaRPr lang="en-US" sz="1050" dirty="0"/>
          </a:p>
        </p:txBody>
      </p:sp>
      <p:sp>
        <p:nvSpPr>
          <p:cNvPr id="20" name="Text 16"/>
          <p:cNvSpPr/>
          <p:nvPr/>
        </p:nvSpPr>
        <p:spPr>
          <a:xfrm>
            <a:off x="2999232" y="4892040"/>
            <a:ext cx="310896" cy="457200"/>
          </a:xfrm>
          <a:prstGeom prst="rect">
            <a:avLst/>
          </a:prstGeom>
          <a:noFill/>
          <a:ln/>
        </p:spPr>
        <p:txBody>
          <a:bodyPr wrap="square" rtlCol="0" anchor="ctr"/>
          <a:lstStyle/>
          <a:p>
            <a:pPr algn="ctr" indent="0" marL="0">
              <a:buNone/>
            </a:pPr>
            <a:r>
              <a:rPr lang="en-US" sz="1600" dirty="0">
                <a:solidFill>
                  <a:srgbClr val="02C39A"/>
                </a:solidFill>
                <a:latin typeface="Calibri" pitchFamily="34" charset="0"/>
                <a:ea typeface="Calibri" pitchFamily="34" charset="-122"/>
                <a:cs typeface="Calibri" pitchFamily="34" charset="-120"/>
              </a:rPr>
              <a:t>→</a:t>
            </a:r>
            <a:endParaRPr lang="en-US" sz="1600" dirty="0"/>
          </a:p>
        </p:txBody>
      </p:sp>
      <p:sp>
        <p:nvSpPr>
          <p:cNvPr id="21" name="Shape 17"/>
          <p:cNvSpPr/>
          <p:nvPr/>
        </p:nvSpPr>
        <p:spPr>
          <a:xfrm>
            <a:off x="3291840" y="4480560"/>
            <a:ext cx="2240280" cy="1188720"/>
          </a:xfrm>
          <a:prstGeom prst="roundRect">
            <a:avLst>
              <a:gd name="adj" fmla="val 4615"/>
            </a:avLst>
          </a:prstGeom>
          <a:solidFill>
            <a:srgbClr val="028090"/>
          </a:solidFill>
          <a:ln/>
        </p:spPr>
      </p:sp>
      <p:sp>
        <p:nvSpPr>
          <p:cNvPr id="22" name="Text 18"/>
          <p:cNvSpPr/>
          <p:nvPr/>
        </p:nvSpPr>
        <p:spPr>
          <a:xfrm>
            <a:off x="3383280" y="4553712"/>
            <a:ext cx="2057400" cy="105156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It gets read as rejection</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or disapproval</a:t>
            </a:r>
            <a:endParaRPr lang="en-US" sz="1050" dirty="0"/>
          </a:p>
        </p:txBody>
      </p:sp>
      <p:sp>
        <p:nvSpPr>
          <p:cNvPr id="23" name="Text 19"/>
          <p:cNvSpPr/>
          <p:nvPr/>
        </p:nvSpPr>
        <p:spPr>
          <a:xfrm>
            <a:off x="5513832" y="4892040"/>
            <a:ext cx="310896" cy="457200"/>
          </a:xfrm>
          <a:prstGeom prst="rect">
            <a:avLst/>
          </a:prstGeom>
          <a:noFill/>
          <a:ln/>
        </p:spPr>
        <p:txBody>
          <a:bodyPr wrap="square" rtlCol="0" anchor="ctr"/>
          <a:lstStyle/>
          <a:p>
            <a:pPr algn="ctr" indent="0" marL="0">
              <a:buNone/>
            </a:pPr>
            <a:r>
              <a:rPr lang="en-US" sz="1600" dirty="0">
                <a:solidFill>
                  <a:srgbClr val="02C39A"/>
                </a:solidFill>
                <a:latin typeface="Calibri" pitchFamily="34" charset="0"/>
                <a:ea typeface="Calibri" pitchFamily="34" charset="-122"/>
                <a:cs typeface="Calibri" pitchFamily="34" charset="-120"/>
              </a:rPr>
              <a:t>→</a:t>
            </a:r>
            <a:endParaRPr lang="en-US" sz="1600" dirty="0"/>
          </a:p>
        </p:txBody>
      </p:sp>
      <p:sp>
        <p:nvSpPr>
          <p:cNvPr id="24" name="Shape 20"/>
          <p:cNvSpPr/>
          <p:nvPr/>
        </p:nvSpPr>
        <p:spPr>
          <a:xfrm>
            <a:off x="5806440" y="4480560"/>
            <a:ext cx="2240280" cy="1188720"/>
          </a:xfrm>
          <a:prstGeom prst="roundRect">
            <a:avLst>
              <a:gd name="adj" fmla="val 4615"/>
            </a:avLst>
          </a:prstGeom>
          <a:solidFill>
            <a:srgbClr val="028090"/>
          </a:solidFill>
          <a:ln/>
        </p:spPr>
      </p:sp>
      <p:sp>
        <p:nvSpPr>
          <p:cNvPr id="25" name="Text 21"/>
          <p:cNvSpPr/>
          <p:nvPr/>
        </p:nvSpPr>
        <p:spPr>
          <a:xfrm>
            <a:off x="5897880" y="4553712"/>
            <a:ext cx="2057400" cy="105156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Post-event rumination</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sets in afterward</a:t>
            </a:r>
            <a:endParaRPr lang="en-US" sz="1050" dirty="0"/>
          </a:p>
        </p:txBody>
      </p:sp>
      <p:sp>
        <p:nvSpPr>
          <p:cNvPr id="26" name="Text 22"/>
          <p:cNvSpPr/>
          <p:nvPr/>
        </p:nvSpPr>
        <p:spPr>
          <a:xfrm>
            <a:off x="8028432" y="4892040"/>
            <a:ext cx="310896" cy="457200"/>
          </a:xfrm>
          <a:prstGeom prst="rect">
            <a:avLst/>
          </a:prstGeom>
          <a:noFill/>
          <a:ln/>
        </p:spPr>
        <p:txBody>
          <a:bodyPr wrap="square" rtlCol="0" anchor="ctr"/>
          <a:lstStyle/>
          <a:p>
            <a:pPr algn="ctr" indent="0" marL="0">
              <a:buNone/>
            </a:pPr>
            <a:r>
              <a:rPr lang="en-US" sz="1600" dirty="0">
                <a:solidFill>
                  <a:srgbClr val="02C39A"/>
                </a:solidFill>
                <a:latin typeface="Calibri" pitchFamily="34" charset="0"/>
                <a:ea typeface="Calibri" pitchFamily="34" charset="-122"/>
                <a:cs typeface="Calibri" pitchFamily="34" charset="-120"/>
              </a:rPr>
              <a:t>→</a:t>
            </a:r>
            <a:endParaRPr lang="en-US" sz="1600" dirty="0"/>
          </a:p>
        </p:txBody>
      </p:sp>
      <p:sp>
        <p:nvSpPr>
          <p:cNvPr id="27" name="Shape 23"/>
          <p:cNvSpPr/>
          <p:nvPr/>
        </p:nvSpPr>
        <p:spPr>
          <a:xfrm>
            <a:off x="8321040" y="4480560"/>
            <a:ext cx="2240280" cy="1188720"/>
          </a:xfrm>
          <a:prstGeom prst="roundRect">
            <a:avLst>
              <a:gd name="adj" fmla="val 4615"/>
            </a:avLst>
          </a:prstGeom>
          <a:solidFill>
            <a:srgbClr val="028090"/>
          </a:solidFill>
          <a:ln/>
        </p:spPr>
      </p:sp>
      <p:sp>
        <p:nvSpPr>
          <p:cNvPr id="28" name="Text 24"/>
          <p:cNvSpPr/>
          <p:nvPr/>
        </p:nvSpPr>
        <p:spPr>
          <a:xfrm>
            <a:off x="8412480" y="4553712"/>
            <a:ext cx="2057400" cy="105156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Anxiety is higher going into</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the next social situation</a:t>
            </a:r>
            <a:endParaRPr lang="en-US" sz="1050" dirty="0"/>
          </a:p>
        </p:txBody>
      </p:sp>
      <p:sp>
        <p:nvSpPr>
          <p:cNvPr id="29" name="Text 25"/>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Rumination &amp; worry</a:t>
            </a:r>
            <a:endParaRPr lang="en-US" sz="1100" dirty="0"/>
          </a:p>
        </p:txBody>
      </p:sp>
      <p:sp>
        <p:nvSpPr>
          <p:cNvPr id="30" name="Text 26"/>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31" name="Text 27"/>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Applied Research: Shaw et al. (2015)</a:t>
            </a:r>
            <a:endParaRPr lang="en-US" sz="28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Social media use, rumination, and social anxiety symptoms</a:t>
            </a:r>
            <a:endParaRPr lang="en-US" sz="1400" dirty="0"/>
          </a:p>
        </p:txBody>
      </p:sp>
      <p:sp>
        <p:nvSpPr>
          <p:cNvPr id="4" name="Shape 2"/>
          <p:cNvSpPr/>
          <p:nvPr/>
        </p:nvSpPr>
        <p:spPr>
          <a:xfrm>
            <a:off x="457200" y="1508760"/>
            <a:ext cx="685800" cy="685800"/>
          </a:xfrm>
          <a:prstGeom prst="ellipse">
            <a:avLst/>
          </a:prstGeom>
          <a:solidFill>
            <a:srgbClr val="028090"/>
          </a:solidFill>
          <a:ln/>
        </p:spPr>
      </p:sp>
      <p:pic>
        <p:nvPicPr>
          <p:cNvPr id="5" name="Image 0" descr="icons/mobile.png">    </p:cNvPr>
          <p:cNvPicPr>
            <a:picLocks noChangeAspect="1"/>
          </p:cNvPicPr>
          <p:nvPr/>
        </p:nvPicPr>
        <p:blipFill>
          <a:blip r:embed="rId1"/>
          <a:stretch>
            <a:fillRect/>
          </a:stretch>
        </p:blipFill>
        <p:spPr>
          <a:xfrm>
            <a:off x="635508" y="1687068"/>
            <a:ext cx="329184" cy="329184"/>
          </a:xfrm>
          <a:prstGeom prst="rect">
            <a:avLst/>
          </a:prstGeom>
        </p:spPr>
      </p:pic>
      <p:sp>
        <p:nvSpPr>
          <p:cNvPr id="6" name="Text 3"/>
          <p:cNvSpPr/>
          <p:nvPr/>
        </p:nvSpPr>
        <p:spPr>
          <a:xfrm>
            <a:off x="1280160" y="1463040"/>
            <a:ext cx="10332720" cy="1280160"/>
          </a:xfrm>
          <a:prstGeom prst="rect">
            <a:avLst/>
          </a:prstGeom>
          <a:noFill/>
          <a:ln/>
        </p:spPr>
        <p:txBody>
          <a:bodyPr wrap="square" rtlCol="0" anchor="t"/>
          <a:lstStyle/>
          <a:p>
            <a:pPr indent="0" marL="0">
              <a:lnSpc>
                <a:spcPct val="115000"/>
              </a:lnSpc>
              <a:buNone/>
            </a:pPr>
            <a:r>
              <a:rPr lang="en-US" sz="1400" b="1" dirty="0">
                <a:solidFill>
                  <a:srgbClr val="013A40"/>
                </a:solidFill>
                <a:latin typeface="Calibri" pitchFamily="34" charset="0"/>
                <a:ea typeface="Calibri" pitchFamily="34" charset="-122"/>
                <a:cs typeface="Calibri" pitchFamily="34" charset="-120"/>
              </a:rPr>
              <a:t>Study rationale
</a:t>
            </a:r>
            <a:r>
              <a:rPr lang="en-US" sz="1250" dirty="0">
                <a:solidFill>
                  <a:srgbClr val="1F2937"/>
                </a:solidFill>
                <a:latin typeface="Calibri" pitchFamily="34" charset="0"/>
                <a:ea typeface="Calibri" pitchFamily="34" charset="-122"/>
                <a:cs typeface="Calibri" pitchFamily="34" charset="-120"/>
              </a:rPr>
              <a:t>People with social anxiety are often drawn to online interaction — it offers more control over self-presentation and lets them mask physical signs of anxiety like blushing or a shaky voice. Shaw and colleagues tested whether the way people use Facebook (rather than just how much) relates to social anxiety, and whether rumination helps explain the link.</a:t>
            </a:r>
            <a:endParaRPr lang="en-US" sz="1400" dirty="0"/>
          </a:p>
        </p:txBody>
      </p:sp>
      <p:sp>
        <p:nvSpPr>
          <p:cNvPr id="7" name="Shape 4"/>
          <p:cNvSpPr/>
          <p:nvPr/>
        </p:nvSpPr>
        <p:spPr>
          <a:xfrm>
            <a:off x="457200" y="2971800"/>
            <a:ext cx="3474720" cy="1417320"/>
          </a:xfrm>
          <a:prstGeom prst="roundRect">
            <a:avLst>
              <a:gd name="adj" fmla="val 6452"/>
            </a:avLst>
          </a:prstGeom>
          <a:solidFill>
            <a:srgbClr val="00A896"/>
          </a:solidFill>
          <a:ln/>
        </p:spPr>
      </p:sp>
      <p:sp>
        <p:nvSpPr>
          <p:cNvPr id="8" name="Text 5"/>
          <p:cNvSpPr/>
          <p:nvPr/>
        </p:nvSpPr>
        <p:spPr>
          <a:xfrm>
            <a:off x="457200" y="3063240"/>
            <a:ext cx="34747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75</a:t>
            </a:r>
            <a:endParaRPr lang="en-US" sz="3200" dirty="0"/>
          </a:p>
        </p:txBody>
      </p:sp>
      <p:sp>
        <p:nvSpPr>
          <p:cNvPr id="9" name="Text 6"/>
          <p:cNvSpPr/>
          <p:nvPr/>
        </p:nvSpPr>
        <p:spPr>
          <a:xfrm>
            <a:off x="640080" y="3749040"/>
            <a:ext cx="3108960" cy="594360"/>
          </a:xfrm>
          <a:prstGeom prst="rect">
            <a:avLst/>
          </a:prstGeom>
          <a:noFill/>
          <a:ln/>
        </p:spPr>
        <p:txBody>
          <a:bodyPr wrap="square"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undergraduate</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Facebook users</a:t>
            </a:r>
            <a:endParaRPr lang="en-US" sz="1100" dirty="0"/>
          </a:p>
        </p:txBody>
      </p:sp>
      <p:sp>
        <p:nvSpPr>
          <p:cNvPr id="10" name="Shape 7"/>
          <p:cNvSpPr/>
          <p:nvPr/>
        </p:nvSpPr>
        <p:spPr>
          <a:xfrm>
            <a:off x="4206240" y="2971800"/>
            <a:ext cx="3474720" cy="1417320"/>
          </a:xfrm>
          <a:prstGeom prst="roundRect">
            <a:avLst>
              <a:gd name="adj" fmla="val 6452"/>
            </a:avLst>
          </a:prstGeom>
          <a:solidFill>
            <a:srgbClr val="00A896"/>
          </a:solidFill>
          <a:ln/>
        </p:spPr>
      </p:sp>
      <p:sp>
        <p:nvSpPr>
          <p:cNvPr id="11" name="Text 8"/>
          <p:cNvSpPr/>
          <p:nvPr/>
        </p:nvSpPr>
        <p:spPr>
          <a:xfrm>
            <a:off x="4206240" y="3063240"/>
            <a:ext cx="34747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17–24</a:t>
            </a:r>
            <a:endParaRPr lang="en-US" sz="3200" dirty="0"/>
          </a:p>
        </p:txBody>
      </p:sp>
      <p:sp>
        <p:nvSpPr>
          <p:cNvPr id="12" name="Text 9"/>
          <p:cNvSpPr/>
          <p:nvPr/>
        </p:nvSpPr>
        <p:spPr>
          <a:xfrm>
            <a:off x="4389120" y="3749040"/>
            <a:ext cx="3108960" cy="594360"/>
          </a:xfrm>
          <a:prstGeom prst="rect">
            <a:avLst/>
          </a:prstGeom>
          <a:noFill/>
          <a:ln/>
        </p:spPr>
        <p:txBody>
          <a:bodyPr wrap="square"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age range of</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participants</a:t>
            </a:r>
            <a:endParaRPr lang="en-US" sz="1100" dirty="0"/>
          </a:p>
        </p:txBody>
      </p:sp>
      <p:sp>
        <p:nvSpPr>
          <p:cNvPr id="13" name="Shape 10"/>
          <p:cNvSpPr/>
          <p:nvPr/>
        </p:nvSpPr>
        <p:spPr>
          <a:xfrm>
            <a:off x="7955280" y="2971800"/>
            <a:ext cx="3474720" cy="1417320"/>
          </a:xfrm>
          <a:prstGeom prst="roundRect">
            <a:avLst>
              <a:gd name="adj" fmla="val 6452"/>
            </a:avLst>
          </a:prstGeom>
          <a:solidFill>
            <a:srgbClr val="00A896"/>
          </a:solidFill>
          <a:ln/>
        </p:spPr>
      </p:sp>
      <p:sp>
        <p:nvSpPr>
          <p:cNvPr id="14" name="Text 11"/>
          <p:cNvSpPr/>
          <p:nvPr/>
        </p:nvSpPr>
        <p:spPr>
          <a:xfrm>
            <a:off x="7955280" y="3063240"/>
            <a:ext cx="34747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15" name="Text 12"/>
          <p:cNvSpPr/>
          <p:nvPr/>
        </p:nvSpPr>
        <p:spPr>
          <a:xfrm>
            <a:off x="8138160" y="3749040"/>
            <a:ext cx="3108960" cy="594360"/>
          </a:xfrm>
          <a:prstGeom prst="rect">
            <a:avLst/>
          </a:prstGeom>
          <a:noFill/>
          <a:ln/>
        </p:spPr>
        <p:txBody>
          <a:bodyPr wrap="square"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Facebook use types compared:</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passive, posting, interacting</a:t>
            </a:r>
            <a:endParaRPr lang="en-US" sz="1100" dirty="0"/>
          </a:p>
        </p:txBody>
      </p:sp>
      <p:sp>
        <p:nvSpPr>
          <p:cNvPr id="16" name="Shape 13"/>
          <p:cNvSpPr/>
          <p:nvPr/>
        </p:nvSpPr>
        <p:spPr>
          <a:xfrm>
            <a:off x="457200" y="4617720"/>
            <a:ext cx="10424160" cy="1234440"/>
          </a:xfrm>
          <a:prstGeom prst="roundRect">
            <a:avLst>
              <a:gd name="adj" fmla="val 7407"/>
            </a:avLst>
          </a:prstGeom>
          <a:solidFill>
            <a:srgbClr val="013A40"/>
          </a:solidFill>
          <a:ln/>
        </p:spPr>
      </p:sp>
      <p:sp>
        <p:nvSpPr>
          <p:cNvPr id="17" name="Text 14"/>
          <p:cNvSpPr/>
          <p:nvPr/>
        </p:nvSpPr>
        <p:spPr>
          <a:xfrm>
            <a:off x="777240" y="4754880"/>
            <a:ext cx="2743200" cy="274320"/>
          </a:xfrm>
          <a:prstGeom prst="rect">
            <a:avLst/>
          </a:prstGeom>
          <a:noFill/>
          <a:ln/>
        </p:spPr>
        <p:txBody>
          <a:bodyPr wrap="square"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KEY FINDING</a:t>
            </a:r>
            <a:endParaRPr lang="en-US" sz="1100" dirty="0"/>
          </a:p>
        </p:txBody>
      </p:sp>
      <p:sp>
        <p:nvSpPr>
          <p:cNvPr id="18" name="Text 15"/>
          <p:cNvSpPr/>
          <p:nvPr/>
        </p:nvSpPr>
        <p:spPr>
          <a:xfrm>
            <a:off x="777240" y="5029200"/>
            <a:ext cx="9784080" cy="77724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More passive Facebook use (scrolling and reading without engaging) was linked to greater social anxiety symptoms. Rumination helped explain this pattern — passive use appears to trigger negative self-beliefs, which spark rumination, which then intensifies social anxiety.</a:t>
            </a:r>
            <a:endParaRPr lang="en-US" sz="1200" dirty="0"/>
          </a:p>
        </p:txBody>
      </p:sp>
      <p:sp>
        <p:nvSpPr>
          <p:cNvPr id="19" name="Text 16"/>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Applied research</a:t>
            </a:r>
            <a:endParaRPr lang="en-US" sz="1100" dirty="0"/>
          </a:p>
        </p:txBody>
      </p:sp>
      <p:sp>
        <p:nvSpPr>
          <p:cNvPr id="20" name="Text 17"/>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21" name="Text 18"/>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Evaluating Shaw et al. (2015)</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Measurement, causality, and change</a:t>
            </a:r>
            <a:endParaRPr lang="en-US" sz="1400" dirty="0"/>
          </a:p>
        </p:txBody>
      </p:sp>
      <p:sp>
        <p:nvSpPr>
          <p:cNvPr id="4" name="Shape 2"/>
          <p:cNvSpPr/>
          <p:nvPr/>
        </p:nvSpPr>
        <p:spPr>
          <a:xfrm>
            <a:off x="457200" y="1508760"/>
            <a:ext cx="3566160" cy="4343400"/>
          </a:xfrm>
          <a:prstGeom prst="roundRect">
            <a:avLst>
              <a:gd name="adj" fmla="val 2564"/>
            </a:avLst>
          </a:prstGeom>
          <a:solidFill>
            <a:srgbClr val="FFFFFF"/>
          </a:solidFill>
          <a:ln w="19050">
            <a:solidFill>
              <a:srgbClr val="028090"/>
            </a:solidFill>
            <a:prstDash val="solid"/>
          </a:ln>
        </p:spPr>
      </p:sp>
      <p:sp>
        <p:nvSpPr>
          <p:cNvPr id="5" name="Shape 3"/>
          <p:cNvSpPr/>
          <p:nvPr/>
        </p:nvSpPr>
        <p:spPr>
          <a:xfrm>
            <a:off x="457200" y="1508760"/>
            <a:ext cx="3566160" cy="594360"/>
          </a:xfrm>
          <a:prstGeom prst="roundRect">
            <a:avLst>
              <a:gd name="adj" fmla="val 15385"/>
            </a:avLst>
          </a:prstGeom>
          <a:solidFill>
            <a:srgbClr val="028090"/>
          </a:solidFill>
          <a:ln/>
        </p:spPr>
      </p:sp>
      <p:sp>
        <p:nvSpPr>
          <p:cNvPr id="6" name="Shape 4"/>
          <p:cNvSpPr/>
          <p:nvPr/>
        </p:nvSpPr>
        <p:spPr>
          <a:xfrm>
            <a:off x="457200" y="1874520"/>
            <a:ext cx="3566160" cy="228600"/>
          </a:xfrm>
          <a:prstGeom prst="rect">
            <a:avLst/>
          </a:prstGeom>
          <a:solidFill>
            <a:srgbClr val="028090"/>
          </a:solidFill>
          <a:ln/>
        </p:spPr>
      </p:sp>
      <p:sp>
        <p:nvSpPr>
          <p:cNvPr id="7" name="Text 5"/>
          <p:cNvSpPr/>
          <p:nvPr/>
        </p:nvSpPr>
        <p:spPr>
          <a:xfrm>
            <a:off x="457200" y="1508760"/>
            <a:ext cx="3566160" cy="5943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Measurement</a:t>
            </a:r>
            <a:endParaRPr lang="en-US" sz="1600" dirty="0"/>
          </a:p>
        </p:txBody>
      </p:sp>
      <p:sp>
        <p:nvSpPr>
          <p:cNvPr id="8" name="Text 6"/>
          <p:cNvSpPr/>
          <p:nvPr/>
        </p:nvSpPr>
        <p:spPr>
          <a:xfrm>
            <a:off x="685800" y="228600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Relies on self-report scales, which can be biased by under- or over-reporting Facebook use.</a:t>
            </a:r>
            <a:endParaRPr lang="en-US" sz="1100" dirty="0"/>
          </a:p>
        </p:txBody>
      </p:sp>
      <p:sp>
        <p:nvSpPr>
          <p:cNvPr id="9" name="Text 7"/>
          <p:cNvSpPr/>
          <p:nvPr/>
        </p:nvSpPr>
        <p:spPr>
          <a:xfrm>
            <a:off x="685800" y="333756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Participants weren't clinically diagnosed with SAD — the study captures symptoms, not the disorder itself.</a:t>
            </a:r>
            <a:endParaRPr lang="en-US" sz="1100" dirty="0"/>
          </a:p>
        </p:txBody>
      </p:sp>
      <p:sp>
        <p:nvSpPr>
          <p:cNvPr id="10" name="Text 8"/>
          <p:cNvSpPr/>
          <p:nvPr/>
        </p:nvSpPr>
        <p:spPr>
          <a:xfrm>
            <a:off x="685800" y="438912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Interviews alongside the questionnaires could add richer, more credible data.</a:t>
            </a:r>
            <a:endParaRPr lang="en-US" sz="1100" dirty="0"/>
          </a:p>
        </p:txBody>
      </p:sp>
      <p:sp>
        <p:nvSpPr>
          <p:cNvPr id="11" name="Shape 9"/>
          <p:cNvSpPr/>
          <p:nvPr/>
        </p:nvSpPr>
        <p:spPr>
          <a:xfrm>
            <a:off x="4297680" y="1508760"/>
            <a:ext cx="3566160" cy="4343400"/>
          </a:xfrm>
          <a:prstGeom prst="roundRect">
            <a:avLst>
              <a:gd name="adj" fmla="val 2564"/>
            </a:avLst>
          </a:prstGeom>
          <a:solidFill>
            <a:srgbClr val="FFFFFF"/>
          </a:solidFill>
          <a:ln w="19050">
            <a:solidFill>
              <a:srgbClr val="00A896"/>
            </a:solidFill>
            <a:prstDash val="solid"/>
          </a:ln>
        </p:spPr>
      </p:sp>
      <p:sp>
        <p:nvSpPr>
          <p:cNvPr id="12" name="Shape 10"/>
          <p:cNvSpPr/>
          <p:nvPr/>
        </p:nvSpPr>
        <p:spPr>
          <a:xfrm>
            <a:off x="4297680" y="1508760"/>
            <a:ext cx="3566160" cy="594360"/>
          </a:xfrm>
          <a:prstGeom prst="roundRect">
            <a:avLst>
              <a:gd name="adj" fmla="val 15385"/>
            </a:avLst>
          </a:prstGeom>
          <a:solidFill>
            <a:srgbClr val="00A896"/>
          </a:solidFill>
          <a:ln/>
        </p:spPr>
      </p:sp>
      <p:sp>
        <p:nvSpPr>
          <p:cNvPr id="13" name="Shape 11"/>
          <p:cNvSpPr/>
          <p:nvPr/>
        </p:nvSpPr>
        <p:spPr>
          <a:xfrm>
            <a:off x="4297680" y="1874520"/>
            <a:ext cx="3566160" cy="228600"/>
          </a:xfrm>
          <a:prstGeom prst="rect">
            <a:avLst/>
          </a:prstGeom>
          <a:solidFill>
            <a:srgbClr val="00A896"/>
          </a:solidFill>
          <a:ln/>
        </p:spPr>
      </p:sp>
      <p:sp>
        <p:nvSpPr>
          <p:cNvPr id="14" name="Text 12"/>
          <p:cNvSpPr/>
          <p:nvPr/>
        </p:nvSpPr>
        <p:spPr>
          <a:xfrm>
            <a:off x="4297680" y="1508760"/>
            <a:ext cx="3566160" cy="5943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Causality</a:t>
            </a:r>
            <a:endParaRPr lang="en-US" sz="1600" dirty="0"/>
          </a:p>
        </p:txBody>
      </p:sp>
      <p:sp>
        <p:nvSpPr>
          <p:cNvPr id="15" name="Text 13"/>
          <p:cNvSpPr/>
          <p:nvPr/>
        </p:nvSpPr>
        <p:spPr>
          <a:xfrm>
            <a:off x="4526280" y="228600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A correlational, cross-sectional design — no manipulation of variables and no random allocation.</a:t>
            </a:r>
            <a:endParaRPr lang="en-US" sz="1100" dirty="0"/>
          </a:p>
        </p:txBody>
      </p:sp>
      <p:sp>
        <p:nvSpPr>
          <p:cNvPr id="16" name="Text 14"/>
          <p:cNvSpPr/>
          <p:nvPr/>
        </p:nvSpPr>
        <p:spPr>
          <a:xfrm>
            <a:off x="4526280" y="333756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Bidirectional ambiguity: passive use may cause anxiety, or anxious people may simply prefer passive use.</a:t>
            </a:r>
            <a:endParaRPr lang="en-US" sz="1100" dirty="0"/>
          </a:p>
        </p:txBody>
      </p:sp>
      <p:sp>
        <p:nvSpPr>
          <p:cNvPr id="17" name="Text 15"/>
          <p:cNvSpPr/>
          <p:nvPr/>
        </p:nvSpPr>
        <p:spPr>
          <a:xfrm>
            <a:off x="4526280" y="438912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A longitudinal design would help establish which comes first.</a:t>
            </a:r>
            <a:endParaRPr lang="en-US" sz="1100" dirty="0"/>
          </a:p>
        </p:txBody>
      </p:sp>
      <p:sp>
        <p:nvSpPr>
          <p:cNvPr id="18" name="Shape 16"/>
          <p:cNvSpPr/>
          <p:nvPr/>
        </p:nvSpPr>
        <p:spPr>
          <a:xfrm>
            <a:off x="8138160" y="1508760"/>
            <a:ext cx="3566160" cy="4343400"/>
          </a:xfrm>
          <a:prstGeom prst="roundRect">
            <a:avLst>
              <a:gd name="adj" fmla="val 2564"/>
            </a:avLst>
          </a:prstGeom>
          <a:solidFill>
            <a:srgbClr val="FFFFFF"/>
          </a:solidFill>
          <a:ln w="19050">
            <a:solidFill>
              <a:srgbClr val="013A40"/>
            </a:solidFill>
            <a:prstDash val="solid"/>
          </a:ln>
        </p:spPr>
      </p:sp>
      <p:sp>
        <p:nvSpPr>
          <p:cNvPr id="19" name="Shape 17"/>
          <p:cNvSpPr/>
          <p:nvPr/>
        </p:nvSpPr>
        <p:spPr>
          <a:xfrm>
            <a:off x="8138160" y="1508760"/>
            <a:ext cx="3566160" cy="594360"/>
          </a:xfrm>
          <a:prstGeom prst="roundRect">
            <a:avLst>
              <a:gd name="adj" fmla="val 15385"/>
            </a:avLst>
          </a:prstGeom>
          <a:solidFill>
            <a:srgbClr val="013A40"/>
          </a:solidFill>
          <a:ln/>
        </p:spPr>
      </p:sp>
      <p:sp>
        <p:nvSpPr>
          <p:cNvPr id="20" name="Shape 18"/>
          <p:cNvSpPr/>
          <p:nvPr/>
        </p:nvSpPr>
        <p:spPr>
          <a:xfrm>
            <a:off x="8138160" y="1874520"/>
            <a:ext cx="3566160" cy="228600"/>
          </a:xfrm>
          <a:prstGeom prst="rect">
            <a:avLst/>
          </a:prstGeom>
          <a:solidFill>
            <a:srgbClr val="013A40"/>
          </a:solidFill>
          <a:ln/>
        </p:spPr>
      </p:sp>
      <p:sp>
        <p:nvSpPr>
          <p:cNvPr id="21" name="Text 19"/>
          <p:cNvSpPr/>
          <p:nvPr/>
        </p:nvSpPr>
        <p:spPr>
          <a:xfrm>
            <a:off x="8138160" y="1508760"/>
            <a:ext cx="3566160" cy="5943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Change</a:t>
            </a:r>
            <a:endParaRPr lang="en-US" sz="1600" dirty="0"/>
          </a:p>
        </p:txBody>
      </p:sp>
      <p:sp>
        <p:nvSpPr>
          <p:cNvPr id="22" name="Text 20"/>
          <p:cNvSpPr/>
          <p:nvPr/>
        </p:nvSpPr>
        <p:spPr>
          <a:xfrm>
            <a:off x="8366760" y="228600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SAD is thought to typically emerge in childhood or adolescence — this sample was slightly older.</a:t>
            </a:r>
            <a:endParaRPr lang="en-US" sz="1100" dirty="0"/>
          </a:p>
        </p:txBody>
      </p:sp>
      <p:sp>
        <p:nvSpPr>
          <p:cNvPr id="23" name="Text 21"/>
          <p:cNvSpPr/>
          <p:nvPr/>
        </p:nvSpPr>
        <p:spPr>
          <a:xfrm>
            <a:off x="8366760" y="333756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Facebook was the platform studied, but usage habits and dominant platforms shift quickly.</a:t>
            </a:r>
            <a:endParaRPr lang="en-US" sz="1100" dirty="0"/>
          </a:p>
        </p:txBody>
      </p:sp>
      <p:sp>
        <p:nvSpPr>
          <p:cNvPr id="24" name="Text 22"/>
          <p:cNvSpPr/>
          <p:nvPr/>
        </p:nvSpPr>
        <p:spPr>
          <a:xfrm>
            <a:off x="8366760" y="4389120"/>
            <a:ext cx="3108960" cy="96012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Findings may not transfer cleanly to today's most-used apps (e.g. Instagram, TikTok).</a:t>
            </a:r>
            <a:endParaRPr lang="en-US" sz="1100" dirty="0"/>
          </a:p>
        </p:txBody>
      </p:sp>
      <p:sp>
        <p:nvSpPr>
          <p:cNvPr id="25" name="Text 2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Evaluation</a:t>
            </a:r>
            <a:endParaRPr lang="en-US" sz="1100" dirty="0"/>
          </a:p>
        </p:txBody>
      </p:sp>
      <p:sp>
        <p:nvSpPr>
          <p:cNvPr id="26" name="Text 24"/>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27" name="Text 25"/>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Evaluating Cognitive Explanations of SAD</a:t>
            </a:r>
            <a:endParaRPr lang="en-US" sz="28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Strengths and limitations of the cognitive approach</a:t>
            </a:r>
            <a:endParaRPr lang="en-US" sz="1400" dirty="0"/>
          </a:p>
        </p:txBody>
      </p:sp>
      <p:sp>
        <p:nvSpPr>
          <p:cNvPr id="4" name="Shape 2"/>
          <p:cNvSpPr/>
          <p:nvPr/>
        </p:nvSpPr>
        <p:spPr>
          <a:xfrm>
            <a:off x="457200" y="1600200"/>
            <a:ext cx="5212080" cy="4206240"/>
          </a:xfrm>
          <a:prstGeom prst="roundRect">
            <a:avLst>
              <a:gd name="adj" fmla="val 2174"/>
            </a:avLst>
          </a:prstGeom>
          <a:solidFill>
            <a:srgbClr val="FFFFFF"/>
          </a:solidFill>
          <a:ln w="19050">
            <a:solidFill>
              <a:srgbClr val="02C39A"/>
            </a:solidFill>
            <a:prstDash val="solid"/>
          </a:ln>
        </p:spPr>
      </p:sp>
      <p:sp>
        <p:nvSpPr>
          <p:cNvPr id="5" name="Text 3"/>
          <p:cNvSpPr/>
          <p:nvPr/>
        </p:nvSpPr>
        <p:spPr>
          <a:xfrm>
            <a:off x="685800" y="1737360"/>
            <a:ext cx="548640" cy="548640"/>
          </a:xfrm>
          <a:prstGeom prst="rect">
            <a:avLst/>
          </a:prstGeom>
          <a:noFill/>
          <a:ln/>
        </p:spPr>
        <p:txBody>
          <a:bodyPr wrap="square"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a:t>
            </a:r>
            <a:endParaRPr lang="en-US" sz="3000" dirty="0"/>
          </a:p>
        </p:txBody>
      </p:sp>
      <p:sp>
        <p:nvSpPr>
          <p:cNvPr id="6" name="Text 4"/>
          <p:cNvSpPr/>
          <p:nvPr/>
        </p:nvSpPr>
        <p:spPr>
          <a:xfrm>
            <a:off x="1280160" y="1783080"/>
            <a:ext cx="411480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Strengths</a:t>
            </a:r>
            <a:endParaRPr lang="en-US" sz="1800" dirty="0"/>
          </a:p>
        </p:txBody>
      </p:sp>
      <p:sp>
        <p:nvSpPr>
          <p:cNvPr id="7" name="Text 5"/>
          <p:cNvSpPr/>
          <p:nvPr/>
        </p:nvSpPr>
        <p:spPr>
          <a:xfrm>
            <a:off x="731520" y="2514600"/>
            <a:ext cx="4663440" cy="100584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Experimental research supports a real link between cognitive processes and anxiety symptoms.</a:t>
            </a:r>
            <a:endParaRPr lang="en-US" sz="1200" dirty="0"/>
          </a:p>
        </p:txBody>
      </p:sp>
      <p:sp>
        <p:nvSpPr>
          <p:cNvPr id="8" name="Text 6"/>
          <p:cNvSpPr/>
          <p:nvPr/>
        </p:nvSpPr>
        <p:spPr>
          <a:xfrm>
            <a:off x="731520" y="3593592"/>
            <a:ext cx="4663440" cy="100584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The model has direct clinical value — it underpins effective treatments like cognitive-behavioural therapy and cognitive restructuring.</a:t>
            </a:r>
            <a:endParaRPr lang="en-US" sz="1200" dirty="0"/>
          </a:p>
        </p:txBody>
      </p:sp>
      <p:sp>
        <p:nvSpPr>
          <p:cNvPr id="9" name="Text 7"/>
          <p:cNvSpPr/>
          <p:nvPr/>
        </p:nvSpPr>
        <p:spPr>
          <a:xfrm>
            <a:off x="731520" y="4672584"/>
            <a:ext cx="4663440" cy="100584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Unlike purely biological accounts, it explains individual differences: why two people with the same risk factors can have very different outcomes.</a:t>
            </a:r>
            <a:endParaRPr lang="en-US" sz="1200" dirty="0"/>
          </a:p>
        </p:txBody>
      </p:sp>
      <p:sp>
        <p:nvSpPr>
          <p:cNvPr id="10" name="Shape 8"/>
          <p:cNvSpPr/>
          <p:nvPr/>
        </p:nvSpPr>
        <p:spPr>
          <a:xfrm>
            <a:off x="5943600" y="1600200"/>
            <a:ext cx="5760720" cy="4206240"/>
          </a:xfrm>
          <a:prstGeom prst="roundRect">
            <a:avLst>
              <a:gd name="adj" fmla="val 2174"/>
            </a:avLst>
          </a:prstGeom>
          <a:solidFill>
            <a:srgbClr val="FFFFFF"/>
          </a:solidFill>
          <a:ln w="19050">
            <a:solidFill>
              <a:srgbClr val="028090"/>
            </a:solidFill>
            <a:prstDash val="solid"/>
          </a:ln>
        </p:spPr>
      </p:sp>
      <p:sp>
        <p:nvSpPr>
          <p:cNvPr id="11" name="Text 9"/>
          <p:cNvSpPr/>
          <p:nvPr/>
        </p:nvSpPr>
        <p:spPr>
          <a:xfrm>
            <a:off x="6172200" y="1737360"/>
            <a:ext cx="548640" cy="548640"/>
          </a:xfrm>
          <a:prstGeom prst="rect">
            <a:avLst/>
          </a:prstGeom>
          <a:noFill/>
          <a:ln/>
        </p:spPr>
        <p:txBody>
          <a:bodyPr wrap="square"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a:t>
            </a:r>
            <a:endParaRPr lang="en-US" sz="3000" dirty="0"/>
          </a:p>
        </p:txBody>
      </p:sp>
      <p:sp>
        <p:nvSpPr>
          <p:cNvPr id="12" name="Text 10"/>
          <p:cNvSpPr/>
          <p:nvPr/>
        </p:nvSpPr>
        <p:spPr>
          <a:xfrm>
            <a:off x="6766560" y="1783080"/>
            <a:ext cx="466344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Limitations</a:t>
            </a:r>
            <a:endParaRPr lang="en-US" sz="1800" dirty="0"/>
          </a:p>
        </p:txBody>
      </p:sp>
      <p:sp>
        <p:nvSpPr>
          <p:cNvPr id="13" name="Text 11"/>
          <p:cNvSpPr/>
          <p:nvPr/>
        </p:nvSpPr>
        <p:spPr>
          <a:xfrm>
            <a:off x="6217920" y="2514600"/>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Ethical constraints mean research often studies people with anxious traits rather than a clinically diagnosed SAD sample — symptoms are measured, not the disorder itself.</a:t>
            </a:r>
            <a:endParaRPr lang="en-US" sz="1200" dirty="0"/>
          </a:p>
        </p:txBody>
      </p:sp>
      <p:sp>
        <p:nvSpPr>
          <p:cNvPr id="14" name="Text 12"/>
          <p:cNvSpPr/>
          <p:nvPr/>
        </p:nvSpPr>
        <p:spPr>
          <a:xfrm>
            <a:off x="6217920" y="3685032"/>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Most supporting research is correlational, so cause-and-effect can't be established — bidirectional ambiguity remains unresolved.</a:t>
            </a:r>
            <a:endParaRPr lang="en-US" sz="1200" dirty="0"/>
          </a:p>
        </p:txBody>
      </p:sp>
      <p:sp>
        <p:nvSpPr>
          <p:cNvPr id="15" name="Text 13"/>
          <p:cNvSpPr/>
          <p:nvPr/>
        </p:nvSpPr>
        <p:spPr>
          <a:xfrm>
            <a:off x="6217920" y="4855464"/>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The treatment-aetiology fallacy: a treatment working (e.g. CBT) doesn't prove it reveals what originally caused the disorder.</a:t>
            </a:r>
            <a:endParaRPr lang="en-US" sz="1200" dirty="0"/>
          </a:p>
        </p:txBody>
      </p:sp>
      <p:sp>
        <p:nvSpPr>
          <p:cNvPr id="16" name="Text 14"/>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Cognitive factors • Evaluation</a:t>
            </a:r>
            <a:endParaRPr lang="en-US" sz="1100" dirty="0"/>
          </a:p>
        </p:txBody>
      </p:sp>
      <p:sp>
        <p:nvSpPr>
          <p:cNvPr id="17" name="Text 15"/>
          <p:cNvSpPr/>
          <p:nvPr/>
        </p:nvSpPr>
        <p:spPr>
          <a:xfrm>
            <a:off x="457200" y="6510528"/>
            <a:ext cx="6400800" cy="274320"/>
          </a:xfrm>
          <a:prstGeom prst="rect">
            <a:avLst/>
          </a:prstGeom>
          <a:noFill/>
          <a:ln/>
        </p:spPr>
        <p:txBody>
          <a:bodyPr wrap="square" rtlCol="0" anchor="ctr"/>
          <a:lstStyle/>
          <a:p>
            <a:pPr indent="0" marL="0">
              <a:buNone/>
            </a:pPr>
            <a:endParaRPr lang="en-US" sz="1000" dirty="0"/>
          </a:p>
        </p:txBody>
      </p:sp>
      <p:sp>
        <p:nvSpPr>
          <p:cNvPr id="18" name="Text 16"/>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Cognitive Factors: SAD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548640" y="457200"/>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Bringing Biology and Cognition Together</a:t>
            </a:r>
            <a:endParaRPr lang="en-US" sz="3000" dirty="0"/>
          </a:p>
        </p:txBody>
      </p:sp>
      <p:sp>
        <p:nvSpPr>
          <p:cNvPr id="3" name="Text 1"/>
          <p:cNvSpPr/>
          <p:nvPr/>
        </p:nvSpPr>
        <p:spPr>
          <a:xfrm>
            <a:off x="548640" y="1051560"/>
            <a:ext cx="10515600" cy="365760"/>
          </a:xfrm>
          <a:prstGeom prst="rect">
            <a:avLst/>
          </a:prstGeom>
          <a:noFill/>
          <a:ln/>
        </p:spPr>
        <p:txBody>
          <a:bodyPr wrap="square" rtlCol="0" anchor="ctr"/>
          <a:lstStyle/>
          <a:p>
            <a:pPr indent="0" marL="0">
              <a:buNone/>
            </a:pPr>
            <a:r>
              <a:rPr lang="en-US" sz="1400" i="1" dirty="0">
                <a:solidFill>
                  <a:srgbClr val="F2F9F8"/>
                </a:solidFill>
                <a:latin typeface="Calibri" pitchFamily="34" charset="0"/>
                <a:ea typeface="Calibri" pitchFamily="34" charset="-122"/>
                <a:cs typeface="Calibri" pitchFamily="34" charset="-120"/>
              </a:rPr>
              <a:t>Cognition is the piece that completes the diathesis-stress model</a:t>
            </a:r>
            <a:endParaRPr lang="en-US" sz="1400" dirty="0"/>
          </a:p>
        </p:txBody>
      </p:sp>
      <p:sp>
        <p:nvSpPr>
          <p:cNvPr id="4" name="Shape 2"/>
          <p:cNvSpPr/>
          <p:nvPr/>
        </p:nvSpPr>
        <p:spPr>
          <a:xfrm>
            <a:off x="548640" y="1737360"/>
            <a:ext cx="685800" cy="685800"/>
          </a:xfrm>
          <a:prstGeom prst="ellipse">
            <a:avLst/>
          </a:prstGeom>
          <a:solidFill>
            <a:srgbClr val="02C39A"/>
          </a:solidFill>
          <a:ln/>
        </p:spPr>
      </p:sp>
      <p:pic>
        <p:nvPicPr>
          <p:cNvPr id="5" name="Image 0" descr="icons/puzzle.png">    </p:cNvPr>
          <p:cNvPicPr>
            <a:picLocks noChangeAspect="1"/>
          </p:cNvPicPr>
          <p:nvPr/>
        </p:nvPicPr>
        <p:blipFill>
          <a:blip r:embed="rId1"/>
          <a:stretch>
            <a:fillRect/>
          </a:stretch>
        </p:blipFill>
        <p:spPr>
          <a:xfrm>
            <a:off x="726948" y="1915668"/>
            <a:ext cx="329184" cy="329184"/>
          </a:xfrm>
          <a:prstGeom prst="rect">
            <a:avLst/>
          </a:prstGeom>
        </p:spPr>
      </p:pic>
      <p:sp>
        <p:nvSpPr>
          <p:cNvPr id="6" name="Text 3"/>
          <p:cNvSpPr/>
          <p:nvPr/>
        </p:nvSpPr>
        <p:spPr>
          <a:xfrm>
            <a:off x="1417320" y="1737360"/>
            <a:ext cx="10149840" cy="1005840"/>
          </a:xfrm>
          <a:prstGeom prst="rect">
            <a:avLst/>
          </a:prstGeom>
          <a:noFill/>
          <a:ln/>
        </p:spPr>
        <p:txBody>
          <a:bodyPr wrap="square" rtlCol="0" anchor="t"/>
          <a:lstStyle/>
          <a:p>
            <a:pPr indent="0" marL="0">
              <a:lnSpc>
                <a:spcPct val="120000"/>
              </a:lnSpc>
              <a:buNone/>
            </a:pPr>
            <a:r>
              <a:rPr lang="en-US" sz="1300" dirty="0">
                <a:solidFill>
                  <a:srgbClr val="F2F9F8"/>
                </a:solidFill>
                <a:latin typeface="Calibri" pitchFamily="34" charset="0"/>
                <a:ea typeface="Calibri" pitchFamily="34" charset="-122"/>
                <a:cs typeface="Calibri" pitchFamily="34" charset="-120"/>
              </a:rPr>
              <a:t>Neither biology nor environment alone explains why only some at-risk people develop SAD. Cognitive processes — conditioning history, self-focused attention, rumination, and negative interpretation — are what turn risk into disorder, or allow someone to remain resilient.</a:t>
            </a:r>
            <a:endParaRPr lang="en-US" sz="1300" dirty="0"/>
          </a:p>
        </p:txBody>
      </p:sp>
      <p:sp>
        <p:nvSpPr>
          <p:cNvPr id="7" name="Shape 4"/>
          <p:cNvSpPr/>
          <p:nvPr/>
        </p:nvSpPr>
        <p:spPr>
          <a:xfrm>
            <a:off x="548640" y="3017520"/>
            <a:ext cx="3474720" cy="1554480"/>
          </a:xfrm>
          <a:prstGeom prst="roundRect">
            <a:avLst>
              <a:gd name="adj" fmla="val 5882"/>
            </a:avLst>
          </a:prstGeom>
          <a:solidFill>
            <a:srgbClr val="028090"/>
          </a:solidFill>
          <a:ln/>
        </p:spPr>
      </p:sp>
      <p:sp>
        <p:nvSpPr>
          <p:cNvPr id="8" name="Text 5"/>
          <p:cNvSpPr/>
          <p:nvPr/>
        </p:nvSpPr>
        <p:spPr>
          <a:xfrm>
            <a:off x="731520" y="3154680"/>
            <a:ext cx="31089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Genetics</a:t>
            </a:r>
            <a:endParaRPr lang="en-US" sz="1600" dirty="0"/>
          </a:p>
        </p:txBody>
      </p:sp>
      <p:sp>
        <p:nvSpPr>
          <p:cNvPr id="9" name="Text 6"/>
          <p:cNvSpPr/>
          <p:nvPr/>
        </p:nvSpPr>
        <p:spPr>
          <a:xfrm>
            <a:off x="731520" y="3611880"/>
            <a:ext cx="3108960" cy="8229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Heritable predisposition</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(twin studies, SLC6A2, OXTR)</a:t>
            </a:r>
            <a:endParaRPr lang="en-US" sz="1150" dirty="0"/>
          </a:p>
        </p:txBody>
      </p:sp>
      <p:sp>
        <p:nvSpPr>
          <p:cNvPr id="10" name="Shape 7"/>
          <p:cNvSpPr/>
          <p:nvPr/>
        </p:nvSpPr>
        <p:spPr>
          <a:xfrm>
            <a:off x="4343400" y="3017520"/>
            <a:ext cx="3474720" cy="1554480"/>
          </a:xfrm>
          <a:prstGeom prst="roundRect">
            <a:avLst>
              <a:gd name="adj" fmla="val 5882"/>
            </a:avLst>
          </a:prstGeom>
          <a:solidFill>
            <a:srgbClr val="028090"/>
          </a:solidFill>
          <a:ln/>
        </p:spPr>
      </p:sp>
      <p:sp>
        <p:nvSpPr>
          <p:cNvPr id="11" name="Text 8"/>
          <p:cNvSpPr/>
          <p:nvPr/>
        </p:nvSpPr>
        <p:spPr>
          <a:xfrm>
            <a:off x="4526280" y="3154680"/>
            <a:ext cx="31089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Neurochemistry</a:t>
            </a:r>
            <a:endParaRPr lang="en-US" sz="1600" dirty="0"/>
          </a:p>
        </p:txBody>
      </p:sp>
      <p:sp>
        <p:nvSpPr>
          <p:cNvPr id="12" name="Text 9"/>
          <p:cNvSpPr/>
          <p:nvPr/>
        </p:nvSpPr>
        <p:spPr>
          <a:xfrm>
            <a:off x="4526280" y="3611880"/>
            <a:ext cx="3108960" cy="8229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Oxytocin regulating</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amygdala threat response</a:t>
            </a:r>
            <a:endParaRPr lang="en-US" sz="1150" dirty="0"/>
          </a:p>
        </p:txBody>
      </p:sp>
      <p:sp>
        <p:nvSpPr>
          <p:cNvPr id="13" name="Shape 10"/>
          <p:cNvSpPr/>
          <p:nvPr/>
        </p:nvSpPr>
        <p:spPr>
          <a:xfrm>
            <a:off x="8138160" y="3017520"/>
            <a:ext cx="3474720" cy="1554480"/>
          </a:xfrm>
          <a:prstGeom prst="roundRect">
            <a:avLst>
              <a:gd name="adj" fmla="val 5882"/>
            </a:avLst>
          </a:prstGeom>
          <a:solidFill>
            <a:srgbClr val="02C39A"/>
          </a:solidFill>
          <a:ln/>
        </p:spPr>
      </p:sp>
      <p:sp>
        <p:nvSpPr>
          <p:cNvPr id="14" name="Text 11"/>
          <p:cNvSpPr/>
          <p:nvPr/>
        </p:nvSpPr>
        <p:spPr>
          <a:xfrm>
            <a:off x="8321040" y="3154680"/>
            <a:ext cx="310896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Cognition</a:t>
            </a:r>
            <a:endParaRPr lang="en-US" sz="1600" dirty="0"/>
          </a:p>
        </p:txBody>
      </p:sp>
      <p:sp>
        <p:nvSpPr>
          <p:cNvPr id="15" name="Text 12"/>
          <p:cNvSpPr/>
          <p:nvPr/>
        </p:nvSpPr>
        <p:spPr>
          <a:xfrm>
            <a:off x="8321040" y="3611880"/>
            <a:ext cx="3108960" cy="8229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Conditioning, rumination,</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and the Clark &amp; Wells model</a:t>
            </a:r>
            <a:endParaRPr lang="en-US" sz="1150" dirty="0"/>
          </a:p>
        </p:txBody>
      </p:sp>
      <p:sp>
        <p:nvSpPr>
          <p:cNvPr id="16" name="Shape 13"/>
          <p:cNvSpPr/>
          <p:nvPr/>
        </p:nvSpPr>
        <p:spPr>
          <a:xfrm>
            <a:off x="548640" y="4892040"/>
            <a:ext cx="11064240" cy="1234440"/>
          </a:xfrm>
          <a:prstGeom prst="roundRect">
            <a:avLst>
              <a:gd name="adj" fmla="val 7407"/>
            </a:avLst>
          </a:prstGeom>
          <a:solidFill>
            <a:srgbClr val="028090">
              <a:alpha val="85000"/>
            </a:srgbClr>
          </a:solidFill>
          <a:ln w="12700">
            <a:solidFill>
              <a:srgbClr val="02C39A"/>
            </a:solidFill>
            <a:prstDash val="solid"/>
          </a:ln>
        </p:spPr>
      </p:sp>
      <p:sp>
        <p:nvSpPr>
          <p:cNvPr id="17" name="Text 14"/>
          <p:cNvSpPr/>
          <p:nvPr/>
        </p:nvSpPr>
        <p:spPr>
          <a:xfrm>
            <a:off x="822960" y="5029200"/>
            <a:ext cx="10515600" cy="914400"/>
          </a:xfrm>
          <a:prstGeom prst="rect">
            <a:avLst/>
          </a:prstGeom>
          <a:noFill/>
          <a:ln/>
        </p:spPr>
        <p:txBody>
          <a:bodyPr wrap="square" rtlCol="0" anchor="ctr"/>
          <a:lstStyle/>
          <a:p>
            <a:pPr indent="0" marL="0">
              <a:lnSpc>
                <a:spcPct val="120000"/>
              </a:lnSpc>
              <a:buNone/>
            </a:pPr>
            <a:r>
              <a:rPr lang="en-US" sz="1250" i="1" dirty="0">
                <a:solidFill>
                  <a:srgbClr val="FFFFFF"/>
                </a:solidFill>
                <a:latin typeface="Calibri" pitchFamily="34" charset="0"/>
                <a:ea typeface="Calibri" pitchFamily="34" charset="-122"/>
                <a:cs typeface="Calibri" pitchFamily="34" charset="-120"/>
              </a:rPr>
              <a:t>The diathesis-stress model in action: biological vulnerability and environmental stressors set the stage, but cognitive appraisal decides the outcome — which is why treatment that targets thinking patterns (like CBT) can be so effective even when the original vulnerability was biological.</a:t>
            </a:r>
            <a:endParaRPr lang="en-US" sz="1250" dirty="0"/>
          </a:p>
        </p:txBody>
      </p:sp>
      <p:sp>
        <p:nvSpPr>
          <p:cNvPr id="18" name="Text 15"/>
          <p:cNvSpPr/>
          <p:nvPr/>
        </p:nvSpPr>
        <p:spPr>
          <a:xfrm>
            <a:off x="548640" y="6400800"/>
            <a:ext cx="5486400" cy="27432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Synthesis • Conclusion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2026-08-11T11:49:47Z</dcterms:created>
  <dcterms:modified xsi:type="dcterms:W3CDTF">2026-08-11T11:49:47Z</dcterms:modified>
</cp:coreProperties>
</file>