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2.xml"/><Relationship Id="rId3" Type="http://schemas.openxmlformats.org/officeDocument/2006/relationships/slide" Target="slide21.xml"/><Relationship Id="rId4" Type="http://schemas.openxmlformats.org/officeDocument/2006/relationships/slide" Target="slide30.xml"/><Relationship Id="rId5" Type="http://schemas.openxmlformats.org/officeDocument/2006/relationships/slide" Target="slide5.xml"/><Relationship Id="rId6" Type="http://schemas.openxmlformats.org/officeDocument/2006/relationships/slide" Target="slide13.xml"/><Relationship Id="rId7" Type="http://schemas.openxmlformats.org/officeDocument/2006/relationships/slide" Target="slide23.xml"/><Relationship Id="rId8" Type="http://schemas.openxmlformats.org/officeDocument/2006/relationships/slide" Target="slide32.xml"/><Relationship Id="rId9" Type="http://schemas.openxmlformats.org/officeDocument/2006/relationships/slide" Target="slide7.xml"/><Relationship Id="rId10" Type="http://schemas.openxmlformats.org/officeDocument/2006/relationships/slide" Target="slide15.xml"/><Relationship Id="rId11" Type="http://schemas.openxmlformats.org/officeDocument/2006/relationships/slide" Target="slide25.xml"/><Relationship Id="rId12" Type="http://schemas.openxmlformats.org/officeDocument/2006/relationships/slide" Target="slide33.xml"/><Relationship Id="rId13" Type="http://schemas.openxmlformats.org/officeDocument/2006/relationships/slide" Target="slide8.xml"/><Relationship Id="rId14" Type="http://schemas.openxmlformats.org/officeDocument/2006/relationships/slide" Target="slide17.xml"/><Relationship Id="rId15" Type="http://schemas.openxmlformats.org/officeDocument/2006/relationships/slide" Target="slide27.xml"/><Relationship Id="rId16" Type="http://schemas.openxmlformats.org/officeDocument/2006/relationships/slide" Target="slide35.xml"/><Relationship Id="rId17" Type="http://schemas.openxmlformats.org/officeDocument/2006/relationships/slide" Target="slide10.xml"/><Relationship Id="rId18" Type="http://schemas.openxmlformats.org/officeDocument/2006/relationships/slide" Target="slide19.xml"/><Relationship Id="rId19" Type="http://schemas.openxmlformats.org/officeDocument/2006/relationships/slide" Target="slide29.xml"/><Relationship Id="rId20" Type="http://schemas.openxmlformats.org/officeDocument/2006/relationships/slide" Target="slide37.xm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2.xm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2.xm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2.xml"/><Relationship Id="rId1" Type="http://schemas.openxmlformats.org/officeDocument/2006/relationships/image" Target="../media/image-2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2.xml"/><Relationship Id="rId1" Type="http://schemas.openxmlformats.org/officeDocument/2006/relationships/image" Target="../media/image-3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WELL-BEING  •  MENTAL HEALTH DISORDERS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Anxiety Disorder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Game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Biological, Cognitive, Environmental &amp; Cultural Factors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10515600" cy="2514600"/>
          </a:xfrm>
          <a:prstGeom prst="roundRect">
            <a:avLst>
              <a:gd name="adj" fmla="val 3636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401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Play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97280" y="38862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381304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box on the game board. Each box is worth a mystery amount!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37083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370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 correctly to earn a random number of points, from 100 to 500.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7280" y="485546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855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478231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— a few boxes are BOMBS. Hit one and you lose all your points!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7280" y="534009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40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26694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team scores separately. Click any box to return to the board after each turn.</a:t>
            </a:r>
            <a:endParaRPr lang="en-US" sz="1250" dirty="0"/>
          </a:p>
        </p:txBody>
      </p:sp>
      <p:sp>
        <p:nvSpPr>
          <p:cNvPr id="22" name="Shape 20">
            <a:hlinkClick r:id="rId1" tooltip="" action="ppaction://hlinksldjump"/>
          </p:cNvPr>
          <p:cNvSpPr/>
          <p:nvPr/>
        </p:nvSpPr>
        <p:spPr>
          <a:xfrm>
            <a:off x="4541368" y="5989320"/>
            <a:ext cx="3108960" cy="594360"/>
          </a:xfrm>
          <a:prstGeom prst="roundRect">
            <a:avLst>
              <a:gd name="adj" fmla="val 18462"/>
            </a:avLst>
          </a:prstGeom>
          <a:solidFill>
            <a:srgbClr val="02C39A"/>
          </a:solidFill>
          <a:ln/>
        </p:spPr>
      </p:sp>
      <p:sp>
        <p:nvSpPr>
          <p:cNvPr id="23" name="Text 21">
            <a:hlinkClick r:id="rId2" tooltip="" action="ppaction://hlinksldjump"/>
          </p:cNvPr>
          <p:cNvSpPr/>
          <p:nvPr/>
        </p:nvSpPr>
        <p:spPr>
          <a:xfrm>
            <a:off x="4541368" y="59893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Game →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Box!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= 100–500 points. Bombs = lose it 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98280" y="1371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13A40"/>
          </a:solidFill>
          <a:ln/>
        </p:spPr>
      </p:sp>
      <p:sp>
        <p:nvSpPr>
          <p:cNvPr id="11" name="Text 9"/>
          <p:cNvSpPr/>
          <p:nvPr/>
        </p:nvSpPr>
        <p:spPr>
          <a:xfrm>
            <a:off x="909828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1" tooltip="" action="ppaction://hlinksldjump"/>
          </p:cNvPr>
          <p:cNvSpPr/>
          <p:nvPr/>
        </p:nvSpPr>
        <p:spPr>
          <a:xfrm>
            <a:off x="457200" y="201168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" action="ppaction://hlinksldjump" tooltip="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201168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>
            <a:hlinkClick r:id="rId2" tooltip="" action="ppaction://hlinksldjump"/>
          </p:cNvPr>
          <p:cNvSpPr/>
          <p:nvPr/>
        </p:nvSpPr>
        <p:spPr>
          <a:xfrm>
            <a:off x="3337560" y="201168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2" action="ppaction://hlinksldjump" tooltip="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>
            <a:hlinkClick r:id="rId3" tooltip="" action="ppaction://hlinksldjump"/>
          </p:cNvPr>
          <p:cNvSpPr/>
          <p:nvPr/>
        </p:nvSpPr>
        <p:spPr>
          <a:xfrm>
            <a:off x="6217920" y="201168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3" action="ppaction://hlinksldjump" tooltip="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98280" y="201168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>
            <a:hlinkClick r:id="rId4" tooltip="" action="ppaction://hlinksldjump"/>
          </p:cNvPr>
          <p:cNvSpPr/>
          <p:nvPr/>
        </p:nvSpPr>
        <p:spPr>
          <a:xfrm>
            <a:off x="9098280" y="201168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4" action="ppaction://hlinksldjump" tooltip="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" y="289499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>
            <a:hlinkClick r:id="rId5" tooltip="" action="ppaction://hlinksldjump"/>
          </p:cNvPr>
          <p:cNvSpPr/>
          <p:nvPr/>
        </p:nvSpPr>
        <p:spPr>
          <a:xfrm>
            <a:off x="457200" y="289499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5" action="ppaction://hlinksldjump" tooltip=""/>
              </a:rPr>
              <a:t>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337560" y="289499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>
            <a:hlinkClick r:id="rId6" tooltip="" action="ppaction://hlinksldjump"/>
          </p:cNvPr>
          <p:cNvSpPr/>
          <p:nvPr/>
        </p:nvSpPr>
        <p:spPr>
          <a:xfrm>
            <a:off x="3337560" y="289499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6" action="ppaction://hlinksldjump" tooltip=""/>
              </a:rPr>
              <a:t>6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17920" y="289499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>
            <a:hlinkClick r:id="rId7" tooltip="" action="ppaction://hlinksldjump"/>
          </p:cNvPr>
          <p:cNvSpPr/>
          <p:nvPr/>
        </p:nvSpPr>
        <p:spPr>
          <a:xfrm>
            <a:off x="6217920" y="289499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7" action="ppaction://hlinksldjump" tooltip=""/>
              </a:rPr>
              <a:t>7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098280" y="2894990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>
            <a:hlinkClick r:id="rId8" tooltip="" action="ppaction://hlinksldjump"/>
          </p:cNvPr>
          <p:cNvSpPr/>
          <p:nvPr/>
        </p:nvSpPr>
        <p:spPr>
          <a:xfrm>
            <a:off x="9098280" y="2894990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8" action="ppaction://hlinksldjump" tooltip=""/>
              </a:rPr>
              <a:t>8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57200" y="377830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>
            <a:hlinkClick r:id="rId9" tooltip="" action="ppaction://hlinksldjump"/>
          </p:cNvPr>
          <p:cNvSpPr/>
          <p:nvPr/>
        </p:nvSpPr>
        <p:spPr>
          <a:xfrm>
            <a:off x="457200" y="377830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9" action="ppaction://hlinksldjump" tooltip=""/>
              </a:rPr>
              <a:t>9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3337560" y="377830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>
            <a:hlinkClick r:id="rId10" tooltip="" action="ppaction://hlinksldjump"/>
          </p:cNvPr>
          <p:cNvSpPr/>
          <p:nvPr/>
        </p:nvSpPr>
        <p:spPr>
          <a:xfrm>
            <a:off x="3337560" y="377830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0" action="ppaction://hlinksldjump" tooltip=""/>
              </a:rPr>
              <a:t>10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217920" y="377830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>
            <a:hlinkClick r:id="rId11" tooltip="" action="ppaction://hlinksldjump"/>
          </p:cNvPr>
          <p:cNvSpPr/>
          <p:nvPr/>
        </p:nvSpPr>
        <p:spPr>
          <a:xfrm>
            <a:off x="6217920" y="377830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1" action="ppaction://hlinksldjump" tooltip=""/>
              </a:rPr>
              <a:t>11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098280" y="377830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>
            <a:hlinkClick r:id="rId12" tooltip="" action="ppaction://hlinksldjump"/>
          </p:cNvPr>
          <p:cNvSpPr/>
          <p:nvPr/>
        </p:nvSpPr>
        <p:spPr>
          <a:xfrm>
            <a:off x="9098280" y="377830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2" action="ppaction://hlinksldjump" tooltip=""/>
              </a:rPr>
              <a:t>12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457200" y="466161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>
            <a:hlinkClick r:id="rId13" tooltip="" action="ppaction://hlinksldjump"/>
          </p:cNvPr>
          <p:cNvSpPr/>
          <p:nvPr/>
        </p:nvSpPr>
        <p:spPr>
          <a:xfrm>
            <a:off x="457200" y="466161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3" action="ppaction://hlinksldjump" tooltip=""/>
              </a:rPr>
              <a:t>13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3337560" y="466161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>
            <a:hlinkClick r:id="rId14" tooltip="" action="ppaction://hlinksldjump"/>
          </p:cNvPr>
          <p:cNvSpPr/>
          <p:nvPr/>
        </p:nvSpPr>
        <p:spPr>
          <a:xfrm>
            <a:off x="3337560" y="466161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4" action="ppaction://hlinksldjump" tooltip=""/>
              </a:rPr>
              <a:t>14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6217920" y="466161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>
            <a:hlinkClick r:id="rId15" tooltip="" action="ppaction://hlinksldjump"/>
          </p:cNvPr>
          <p:cNvSpPr/>
          <p:nvPr/>
        </p:nvSpPr>
        <p:spPr>
          <a:xfrm>
            <a:off x="6217920" y="466161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5" action="ppaction://hlinksldjump" tooltip=""/>
              </a:rPr>
              <a:t>15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9098280" y="4661611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>
            <a:hlinkClick r:id="rId16" tooltip="" action="ppaction://hlinksldjump"/>
          </p:cNvPr>
          <p:cNvSpPr/>
          <p:nvPr/>
        </p:nvSpPr>
        <p:spPr>
          <a:xfrm>
            <a:off x="9098280" y="4661611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6" action="ppaction://hlinksldjump" tooltip=""/>
              </a:rPr>
              <a:t>16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457200" y="5544922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>
            <a:hlinkClick r:id="rId17" tooltip="" action="ppaction://hlinksldjump"/>
          </p:cNvPr>
          <p:cNvSpPr/>
          <p:nvPr/>
        </p:nvSpPr>
        <p:spPr>
          <a:xfrm>
            <a:off x="457200" y="5544922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7" action="ppaction://hlinksldjump" tooltip=""/>
              </a:rPr>
              <a:t>17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3337560" y="5544922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>
            <a:hlinkClick r:id="rId18" tooltip="" action="ppaction://hlinksldjump"/>
          </p:cNvPr>
          <p:cNvSpPr/>
          <p:nvPr/>
        </p:nvSpPr>
        <p:spPr>
          <a:xfrm>
            <a:off x="3337560" y="5544922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8" action="ppaction://hlinksldjump" tooltip=""/>
              </a:rPr>
              <a:t>18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6217920" y="5544922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>
            <a:hlinkClick r:id="rId19" tooltip="" action="ppaction://hlinksldjump"/>
          </p:cNvPr>
          <p:cNvSpPr/>
          <p:nvPr/>
        </p:nvSpPr>
        <p:spPr>
          <a:xfrm>
            <a:off x="6217920" y="5544922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19" action="ppaction://hlinksldjump" tooltip=""/>
              </a:rPr>
              <a:t>19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9098280" y="5544922"/>
            <a:ext cx="2606040" cy="718718"/>
          </a:xfrm>
          <a:prstGeom prst="roundRect">
            <a:avLst>
              <a:gd name="adj" fmla="val 10178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>
            <a:hlinkClick r:id="rId20" tooltip="" action="ppaction://hlinksldjump"/>
          </p:cNvPr>
          <p:cNvSpPr/>
          <p:nvPr/>
        </p:nvSpPr>
        <p:spPr>
          <a:xfrm>
            <a:off x="9098280" y="5544922"/>
            <a:ext cx="2606040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latin typeface="Cambria" pitchFamily="34" charset="0"/>
                <a:ea typeface="Cambria" pitchFamily="34" charset="-122"/>
                <a:cs typeface="Cambria" pitchFamily="34" charset="-120"/>
                <a:hlinkClick r:id="rId20" action="ppaction://hlinksldjump" tooltip=""/>
              </a:rPr>
              <a:t>20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score on a whiteboard or scrap paper — this board doesn't track points for you.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Kendler et al.'s (1999) twin study, what percentage of the variance in social phobia was attributable to genetic factors?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candidate gene, linked to the norepinephrine transporter, has been studied as a possible contributor to SAD?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SLC6A2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1005840"/>
            <a:ext cx="3657600" cy="3657600"/>
          </a:xfrm>
          <a:prstGeom prst="ellipse">
            <a:avLst/>
          </a:prstGeom>
          <a:solidFill>
            <a:srgbClr val="C1121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6048" y="1691640"/>
            <a:ext cx="2286000" cy="228600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4" name="Image 0" descr="icons/b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BOMB!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all your points.</a:t>
            </a:r>
            <a:endParaRPr lang="en-US" sz="180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C11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>
            <a:hlinkClick r:id="rId3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Gorka et al. (2015) tested which hormone's effect on reducing amygdala activity in people with SAD?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Oxytocin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name of the newest biological research direction into SAD, involving trillions of bacteria in the body?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gut-brain axis (gut microbiota)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1005840"/>
            <a:ext cx="3657600" cy="3657600"/>
          </a:xfrm>
          <a:prstGeom prst="ellipse">
            <a:avLst/>
          </a:prstGeom>
          <a:solidFill>
            <a:srgbClr val="C1121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6048" y="1691640"/>
            <a:ext cx="2286000" cy="228600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4" name="Image 0" descr="icons/b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BOMB!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all your points.</a:t>
            </a:r>
            <a:endParaRPr lang="en-US" sz="180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C11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>
            <a:hlinkClick r:id="rId3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type of conditioning explains how an initial fear of a social situation gets established, as in the school-bullying example?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conditioning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type of reinforcement explains why avoidance behaviour continues in SAD, since it removes the unpleasant feeling of anxiety?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reinforcement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two researchers developed the 1995 cognitive model of SAD involving negative anticipatory processing and self-focused attention?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Clark and Wells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term for repeatedly overthinking a social event after it has already happened?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Post-event rumination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Festa and Ginsburg (2011) found that which parental factor was one of the strongest predictors of a child's social anxiety?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Parental anxiety (and overcontrol)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Adare et al. (2021) found that university students who perceived more of what between their parents reported higher social anxiety?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Parental conflict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According to Santomauro et al. (2021), roughly how many additional anxiety disorder cases did the COVID-19 pandemic cause worldwide?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million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Coyle et al.'s (2022) study, what percentage of the Portuguese participants reported fearing being judged by others?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A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1005840"/>
            <a:ext cx="3657600" cy="3657600"/>
          </a:xfrm>
          <a:prstGeom prst="ellipse">
            <a:avLst/>
          </a:prstGeom>
          <a:solidFill>
            <a:srgbClr val="C1121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6048" y="1691640"/>
            <a:ext cx="2286000" cy="228600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4" name="Image 0" descr="icons/b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BOMB!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all your points.</a:t>
            </a:r>
            <a:endParaRPr lang="en-US" sz="180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C11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>
            <a:hlinkClick r:id="rId3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Japanese term, meaning "pulling inward, being confined," describes a pattern of extreme social withdrawal?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Hikikomori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A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1005840"/>
            <a:ext cx="3657600" cy="3657600"/>
          </a:xfrm>
          <a:prstGeom prst="ellipse">
            <a:avLst/>
          </a:prstGeom>
          <a:solidFill>
            <a:srgbClr val="C1121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6048" y="1691640"/>
            <a:ext cx="2286000" cy="228600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4" name="Image 0" descr="icons/b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BOMB!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all your points.</a:t>
            </a:r>
            <a:endParaRPr lang="en-US" sz="180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C11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>
            <a:hlinkClick r:id="rId3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what year was hikikomori added to the Culture and Psychiatric Diagnosis section of the DSM-5-TR?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researchers applied Berry and Sam's acculturation model to explain the origins of hikikomori in Japanese youth?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Norasakkunkit and Uchida (2014)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Lin et al.'s (2020) Singapore study, what kind of policy makes it hard for young people to physically withdraw from family?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to reveal the answer →</a:t>
            </a:r>
            <a:endParaRPr lang="en-US" sz="14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• ANSWER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housing policy (can't own housing under age 35)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70248" y="3703320"/>
            <a:ext cx="3657600" cy="1280160"/>
          </a:xfrm>
          <a:prstGeom prst="roundRect">
            <a:avLst>
              <a:gd name="adj" fmla="val 1071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3794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48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Shape 7">
            <a:hlinkClick r:id="rId1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hlinkClick r:id="rId2" tooltip="" action="ppaction://hlinksldjump"/>
          </p:cNvPr>
          <p:cNvSpPr/>
          <p:nvPr/>
        </p:nvSpPr>
        <p:spPr>
          <a:xfrm>
            <a:off x="4724248" y="5989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02809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2026-08-11T13:33:03Z</dcterms:created>
  <dcterms:modified xsi:type="dcterms:W3CDTF">2026-08-11T13:33:03Z</dcterms:modified>
</cp:coreProperties>
</file>