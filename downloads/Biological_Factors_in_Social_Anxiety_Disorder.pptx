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11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8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40"/>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029200" cy="5029200"/>
          </a:xfrm>
          <a:prstGeom prst="ellipse">
            <a:avLst/>
          </a:prstGeom>
          <a:solidFill>
            <a:srgbClr val="028090"/>
          </a:solidFill>
          <a:ln/>
        </p:spPr>
        <p:txBody>
          <a:bodyPr/>
          <a:lstStyle/>
          <a:p>
            <a:endParaRPr lang="en-CA"/>
          </a:p>
        </p:txBody>
      </p:sp>
      <p:sp>
        <p:nvSpPr>
          <p:cNvPr id="3" name="Shape 1"/>
          <p:cNvSpPr/>
          <p:nvPr/>
        </p:nvSpPr>
        <p:spPr>
          <a:xfrm>
            <a:off x="10149840" y="3931920"/>
            <a:ext cx="3108960" cy="3108960"/>
          </a:xfrm>
          <a:prstGeom prst="ellipse">
            <a:avLst/>
          </a:prstGeom>
          <a:solidFill>
            <a:srgbClr val="00A896"/>
          </a:solidFill>
          <a:ln/>
        </p:spPr>
        <p:txBody>
          <a:bodyPr/>
          <a:lstStyle/>
          <a:p>
            <a:endParaRPr lang="en-CA"/>
          </a:p>
        </p:txBody>
      </p:sp>
      <p:sp>
        <p:nvSpPr>
          <p:cNvPr id="4" name="Shape 2"/>
          <p:cNvSpPr/>
          <p:nvPr/>
        </p:nvSpPr>
        <p:spPr>
          <a:xfrm>
            <a:off x="1280160" y="1645920"/>
            <a:ext cx="1371600" cy="1371600"/>
          </a:xfrm>
          <a:prstGeom prst="ellipse">
            <a:avLst/>
          </a:prstGeom>
          <a:solidFill>
            <a:srgbClr val="028090"/>
          </a:solidFill>
          <a:ln/>
        </p:spPr>
        <p:txBody>
          <a:bodyPr/>
          <a:lstStyle/>
          <a:p>
            <a:endParaRPr lang="en-CA"/>
          </a:p>
        </p:txBody>
      </p:sp>
      <p:pic>
        <p:nvPicPr>
          <p:cNvPr id="5" name="Image 0" descr="preencoded.png"/>
          <p:cNvPicPr>
            <a:picLocks noChangeAspect="1"/>
          </p:cNvPicPr>
          <p:nvPr/>
        </p:nvPicPr>
        <p:blipFill>
          <a:blip r:embed="rId3"/>
          <a:stretch>
            <a:fillRect/>
          </a:stretch>
        </p:blipFill>
        <p:spPr>
          <a:xfrm>
            <a:off x="1472184" y="1837944"/>
            <a:ext cx="987552" cy="987552"/>
          </a:xfrm>
          <a:prstGeom prst="rect">
            <a:avLst/>
          </a:prstGeom>
        </p:spPr>
      </p:pic>
      <p:sp>
        <p:nvSpPr>
          <p:cNvPr id="6" name="Text 3"/>
          <p:cNvSpPr/>
          <p:nvPr/>
        </p:nvSpPr>
        <p:spPr>
          <a:xfrm>
            <a:off x="548640" y="3246120"/>
            <a:ext cx="8229600" cy="365760"/>
          </a:xfrm>
          <a:prstGeom prst="rect">
            <a:avLst/>
          </a:prstGeom>
          <a:noFill/>
          <a:ln/>
        </p:spPr>
        <p:txBody>
          <a:bodyPr wrap="square" lIns="0" tIns="0" rIns="0" bIns="0"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HEALTH AND WELL-BEING  •  MENTAL HEALTH DISORDERS</a:t>
            </a:r>
            <a:endParaRPr lang="en-US" sz="1300" dirty="0"/>
          </a:p>
        </p:txBody>
      </p:sp>
      <p:sp>
        <p:nvSpPr>
          <p:cNvPr id="7" name="Text 4"/>
          <p:cNvSpPr/>
          <p:nvPr/>
        </p:nvSpPr>
        <p:spPr>
          <a:xfrm>
            <a:off x="548640" y="3611880"/>
            <a:ext cx="9601200" cy="1737360"/>
          </a:xfrm>
          <a:prstGeom prst="rect">
            <a:avLst/>
          </a:prstGeom>
          <a:noFill/>
          <a:ln/>
        </p:spPr>
        <p:txBody>
          <a:bodyPr wrap="square" lIns="0" tIns="0" rIns="0" bIns="0" rtlCol="0" anchor="ctr"/>
          <a:lstStyle/>
          <a:p>
            <a:pPr marL="0" indent="0" algn="l">
              <a:lnSpc>
                <a:spcPct val="105000"/>
              </a:lnSpc>
              <a:buNone/>
            </a:pPr>
            <a:r>
              <a:rPr lang="en-US" sz="4200" b="1" dirty="0">
                <a:solidFill>
                  <a:srgbClr val="FFFFFF"/>
                </a:solidFill>
                <a:latin typeface="Cambria" pitchFamily="34" charset="0"/>
                <a:ea typeface="Cambria" pitchFamily="34" charset="-122"/>
                <a:cs typeface="Cambria" pitchFamily="34" charset="-120"/>
              </a:rPr>
              <a:t>Biological Factors in</a:t>
            </a:r>
            <a:endParaRPr lang="en-US" sz="4200" dirty="0"/>
          </a:p>
          <a:p>
            <a:pPr marL="0" indent="0" algn="l">
              <a:lnSpc>
                <a:spcPct val="105000"/>
              </a:lnSpc>
              <a:buNone/>
            </a:pPr>
            <a:r>
              <a:rPr lang="en-US" sz="4200" b="1" dirty="0">
                <a:solidFill>
                  <a:srgbClr val="FFFFFF"/>
                </a:solidFill>
                <a:latin typeface="Cambria" pitchFamily="34" charset="0"/>
                <a:ea typeface="Cambria" pitchFamily="34" charset="-122"/>
                <a:cs typeface="Cambria" pitchFamily="34" charset="-120"/>
              </a:rPr>
              <a:t>Social Anxiety Disorder</a:t>
            </a:r>
            <a:endParaRPr lang="en-US" sz="4200" dirty="0"/>
          </a:p>
        </p:txBody>
      </p:sp>
      <p:sp>
        <p:nvSpPr>
          <p:cNvPr id="8" name="Text 5"/>
          <p:cNvSpPr/>
          <p:nvPr/>
        </p:nvSpPr>
        <p:spPr>
          <a:xfrm>
            <a:off x="548640" y="5349240"/>
            <a:ext cx="8229600" cy="457200"/>
          </a:xfrm>
          <a:prstGeom prst="rect">
            <a:avLst/>
          </a:prstGeom>
          <a:noFill/>
          <a:ln/>
        </p:spPr>
        <p:txBody>
          <a:bodyPr wrap="square" lIns="0" tIns="0" rIns="0" bIns="0"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Genetics, neurochemistry, and the gut-brain axis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640080"/>
          </a:xfrm>
          <a:prstGeom prst="rect">
            <a:avLst/>
          </a:prstGeom>
          <a:noFill/>
          <a:ln/>
        </p:spPr>
        <p:txBody>
          <a:bodyPr wrap="square" lIns="0" tIns="0" rIns="0" bIns="0" rtlCol="0" anchor="ctr"/>
          <a:lstStyle/>
          <a:p>
            <a:pPr marL="0" indent="0" algn="l">
              <a:buNone/>
            </a:pPr>
            <a:r>
              <a:rPr lang="en-US" sz="3000" b="1" dirty="0">
                <a:solidFill>
                  <a:srgbClr val="013A40"/>
                </a:solidFill>
                <a:latin typeface="Cambria" pitchFamily="34" charset="0"/>
                <a:ea typeface="Cambria" pitchFamily="34" charset="-122"/>
                <a:cs typeface="Cambria" pitchFamily="34" charset="-120"/>
              </a:rPr>
              <a:t>A Biopsychosocial Puzzle</a:t>
            </a:r>
            <a:endParaRPr lang="en-US" sz="3000" dirty="0"/>
          </a:p>
        </p:txBody>
      </p:sp>
      <p:sp>
        <p:nvSpPr>
          <p:cNvPr id="3" name="Text 1"/>
          <p:cNvSpPr/>
          <p:nvPr/>
        </p:nvSpPr>
        <p:spPr>
          <a:xfrm>
            <a:off x="548640" y="987552"/>
            <a:ext cx="11094415" cy="365760"/>
          </a:xfrm>
          <a:prstGeom prst="rect">
            <a:avLst/>
          </a:prstGeom>
          <a:noFill/>
          <a:ln/>
        </p:spPr>
        <p:txBody>
          <a:bodyPr wrap="square" lIns="0" tIns="0" rIns="0" bIns="0" rtlCol="0" anchor="ctr"/>
          <a:lstStyle/>
          <a:p>
            <a:pPr marL="0" indent="0" algn="l">
              <a:buNone/>
            </a:pPr>
            <a:r>
              <a:rPr lang="en-US" sz="1400" i="1" dirty="0">
                <a:solidFill>
                  <a:srgbClr val="5B6B70"/>
                </a:solidFill>
                <a:latin typeface="Calibri" pitchFamily="34" charset="0"/>
                <a:ea typeface="Calibri" pitchFamily="34" charset="-122"/>
                <a:cs typeface="Calibri" pitchFamily="34" charset="-120"/>
              </a:rPr>
              <a:t>Why social anxiety disorder resists a single-cause explanation</a:t>
            </a:r>
            <a:endParaRPr lang="en-US" sz="1400" dirty="0"/>
          </a:p>
        </p:txBody>
      </p:sp>
      <p:sp>
        <p:nvSpPr>
          <p:cNvPr id="4" name="Text 2"/>
          <p:cNvSpPr/>
          <p:nvPr/>
        </p:nvSpPr>
        <p:spPr>
          <a:xfrm>
            <a:off x="548640" y="1600200"/>
            <a:ext cx="5486400" cy="1554480"/>
          </a:xfrm>
          <a:prstGeom prst="rect">
            <a:avLst/>
          </a:prstGeom>
          <a:noFill/>
          <a:ln/>
        </p:spPr>
        <p:txBody>
          <a:bodyPr wrap="square" lIns="0" tIns="0" rIns="0" bIns="0" rtlCol="0" anchor="t"/>
          <a:lstStyle/>
          <a:p>
            <a:pPr marL="0" indent="0" algn="l">
              <a:lnSpc>
                <a:spcPct val="125000"/>
              </a:lnSpc>
              <a:buNone/>
            </a:pPr>
            <a:r>
              <a:rPr lang="en-US" sz="1450" dirty="0">
                <a:solidFill>
                  <a:srgbClr val="1F2937"/>
                </a:solidFill>
                <a:latin typeface="Calibri" pitchFamily="34" charset="0"/>
                <a:ea typeface="Calibri" pitchFamily="34" charset="-122"/>
                <a:cs typeface="Calibri" pitchFamily="34" charset="-120"/>
              </a:rPr>
              <a:t>Anxiety and fear draw on many interacting brain systems, which makes social anxiety disorder (SAD) difficult to trace back to one cause. </a:t>
            </a:r>
            <a:r>
              <a:rPr lang="en-US" sz="1450" b="1" dirty="0">
                <a:solidFill>
                  <a:srgbClr val="1F2937"/>
                </a:solidFill>
                <a:latin typeface="Calibri" pitchFamily="34" charset="0"/>
                <a:ea typeface="Calibri" pitchFamily="34" charset="-122"/>
                <a:cs typeface="Calibri" pitchFamily="34" charset="-120"/>
              </a:rPr>
              <a:t>Tilfors (2004)</a:t>
            </a:r>
            <a:r>
              <a:rPr lang="en-US" sz="1450" dirty="0">
                <a:solidFill>
                  <a:srgbClr val="1F2937"/>
                </a:solidFill>
                <a:latin typeface="Calibri" pitchFamily="34" charset="0"/>
                <a:ea typeface="Calibri" pitchFamily="34" charset="-122"/>
                <a:cs typeface="Calibri" pitchFamily="34" charset="-120"/>
              </a:rPr>
              <a:t> reviewed the existing literature and concluded that a combined biopsychosocial account was the best fit for the evidence.</a:t>
            </a:r>
            <a:endParaRPr lang="en-US" sz="1450" dirty="0"/>
          </a:p>
        </p:txBody>
      </p:sp>
      <p:sp>
        <p:nvSpPr>
          <p:cNvPr id="5" name="Text 3"/>
          <p:cNvSpPr/>
          <p:nvPr/>
        </p:nvSpPr>
        <p:spPr>
          <a:xfrm>
            <a:off x="548640" y="3246120"/>
            <a:ext cx="5486400" cy="1737360"/>
          </a:xfrm>
          <a:prstGeom prst="rect">
            <a:avLst/>
          </a:prstGeom>
          <a:noFill/>
          <a:ln/>
        </p:spPr>
        <p:txBody>
          <a:bodyPr wrap="square" lIns="0" tIns="0" rIns="0" bIns="0" rtlCol="0" anchor="t"/>
          <a:lstStyle/>
          <a:p>
            <a:pPr marL="0" indent="0" algn="l">
              <a:lnSpc>
                <a:spcPct val="125000"/>
              </a:lnSpc>
              <a:buNone/>
            </a:pPr>
            <a:r>
              <a:rPr lang="en-US" sz="1450" dirty="0">
                <a:solidFill>
                  <a:srgbClr val="1F2937"/>
                </a:solidFill>
                <a:latin typeface="Calibri" pitchFamily="34" charset="0"/>
                <a:ea typeface="Calibri" pitchFamily="34" charset="-122"/>
                <a:cs typeface="Calibri" pitchFamily="34" charset="-120"/>
              </a:rPr>
              <a:t>Twin and family studies point to an inherited tendency toward fearfulness. On its own, though, this predisposition is not enough — it is </a:t>
            </a:r>
            <a:r>
              <a:rPr lang="en-US" sz="1450" b="1" dirty="0">
                <a:solidFill>
                  <a:srgbClr val="1F2937"/>
                </a:solidFill>
                <a:latin typeface="Calibri" pitchFamily="34" charset="0"/>
                <a:ea typeface="Calibri" pitchFamily="34" charset="-122"/>
                <a:cs typeface="Calibri" pitchFamily="34" charset="-120"/>
              </a:rPr>
              <a:t>activated by experiences in the person’s environment</a:t>
            </a:r>
            <a:r>
              <a:rPr lang="en-US" sz="1450" dirty="0">
                <a:solidFill>
                  <a:srgbClr val="1F2937"/>
                </a:solidFill>
                <a:latin typeface="Calibri" pitchFamily="34" charset="0"/>
                <a:ea typeface="Calibri" pitchFamily="34" charset="-122"/>
                <a:cs typeface="Calibri" pitchFamily="34" charset="-120"/>
              </a:rPr>
              <a:t>. Genes and environment work together rather than separately in shaping who develops SAD.</a:t>
            </a:r>
            <a:endParaRPr lang="en-US" sz="1450" dirty="0"/>
          </a:p>
        </p:txBody>
      </p:sp>
      <p:sp>
        <p:nvSpPr>
          <p:cNvPr id="6" name="Shape 4"/>
          <p:cNvSpPr/>
          <p:nvPr/>
        </p:nvSpPr>
        <p:spPr>
          <a:xfrm>
            <a:off x="6492240" y="1600200"/>
            <a:ext cx="5120640" cy="4480560"/>
          </a:xfrm>
          <a:prstGeom prst="roundRect">
            <a:avLst>
              <a:gd name="adj" fmla="val 2449"/>
            </a:avLst>
          </a:prstGeom>
          <a:solidFill>
            <a:srgbClr val="F2F9F8"/>
          </a:solidFill>
          <a:ln/>
          <a:effectLst>
            <a:outerShdw blurRad="101600" dist="38100" dir="5400000" algn="bl" rotWithShape="0">
              <a:srgbClr val="000000">
                <a:alpha val="12000"/>
              </a:srgbClr>
            </a:outerShdw>
          </a:effectLst>
        </p:spPr>
        <p:txBody>
          <a:bodyPr/>
          <a:lstStyle/>
          <a:p>
            <a:endParaRPr lang="en-CA"/>
          </a:p>
        </p:txBody>
      </p:sp>
      <p:sp>
        <p:nvSpPr>
          <p:cNvPr id="7" name="Text 5"/>
          <p:cNvSpPr/>
          <p:nvPr/>
        </p:nvSpPr>
        <p:spPr>
          <a:xfrm>
            <a:off x="6812280" y="1856232"/>
            <a:ext cx="4480560" cy="320040"/>
          </a:xfrm>
          <a:prstGeom prst="rect">
            <a:avLst/>
          </a:prstGeom>
          <a:noFill/>
          <a:ln/>
        </p:spPr>
        <p:txBody>
          <a:bodyPr wrap="square" lIns="0" tIns="0" rIns="0" bIns="0" rtlCol="0" anchor="ctr"/>
          <a:lstStyle/>
          <a:p>
            <a:pPr marL="0" indent="0">
              <a:buNone/>
            </a:pPr>
            <a:r>
              <a:rPr lang="en-US" sz="1250" b="1" kern="0" spc="100" dirty="0">
                <a:solidFill>
                  <a:srgbClr val="028090"/>
                </a:solidFill>
                <a:latin typeface="Calibri" pitchFamily="34" charset="0"/>
                <a:ea typeface="Calibri" pitchFamily="34" charset="-122"/>
                <a:cs typeface="Calibri" pitchFamily="34" charset="-120"/>
              </a:rPr>
              <a:t>THE DIATHESIS-STRESS MODEL</a:t>
            </a:r>
            <a:endParaRPr lang="en-US" sz="1250" dirty="0"/>
          </a:p>
        </p:txBody>
      </p:sp>
      <p:sp>
        <p:nvSpPr>
          <p:cNvPr id="8" name="Shape 6"/>
          <p:cNvSpPr/>
          <p:nvPr/>
        </p:nvSpPr>
        <p:spPr>
          <a:xfrm>
            <a:off x="6812280" y="2377440"/>
            <a:ext cx="4480560" cy="868680"/>
          </a:xfrm>
          <a:prstGeom prst="roundRect">
            <a:avLst>
              <a:gd name="adj" fmla="val 8421"/>
            </a:avLst>
          </a:prstGeom>
          <a:solidFill>
            <a:srgbClr val="FFFFFF"/>
          </a:solidFill>
          <a:ln w="15875">
            <a:solidFill>
              <a:srgbClr val="028090"/>
            </a:solidFill>
            <a:prstDash val="solid"/>
          </a:ln>
        </p:spPr>
        <p:txBody>
          <a:bodyPr/>
          <a:lstStyle/>
          <a:p>
            <a:endParaRPr lang="en-CA"/>
          </a:p>
        </p:txBody>
      </p:sp>
      <p:sp>
        <p:nvSpPr>
          <p:cNvPr id="9" name="Shape 7"/>
          <p:cNvSpPr/>
          <p:nvPr/>
        </p:nvSpPr>
        <p:spPr>
          <a:xfrm>
            <a:off x="6995160" y="2596896"/>
            <a:ext cx="438912" cy="438912"/>
          </a:xfrm>
          <a:prstGeom prst="ellipse">
            <a:avLst/>
          </a:prstGeom>
          <a:solidFill>
            <a:srgbClr val="028090"/>
          </a:solidFill>
          <a:ln/>
        </p:spPr>
        <p:txBody>
          <a:bodyPr/>
          <a:lstStyle/>
          <a:p>
            <a:endParaRPr lang="en-CA"/>
          </a:p>
        </p:txBody>
      </p:sp>
      <p:sp>
        <p:nvSpPr>
          <p:cNvPr id="10" name="Text 8"/>
          <p:cNvSpPr/>
          <p:nvPr/>
        </p:nvSpPr>
        <p:spPr>
          <a:xfrm>
            <a:off x="6995160" y="2596896"/>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9"/>
          <p:cNvSpPr/>
          <p:nvPr/>
        </p:nvSpPr>
        <p:spPr>
          <a:xfrm>
            <a:off x="7589520" y="2487168"/>
            <a:ext cx="3657600" cy="365760"/>
          </a:xfrm>
          <a:prstGeom prst="rect">
            <a:avLst/>
          </a:prstGeom>
          <a:noFill/>
          <a:ln/>
        </p:spPr>
        <p:txBody>
          <a:bodyPr wrap="square" lIns="0" tIns="0" rIns="0" bIns="0" rtlCol="0" anchor="b"/>
          <a:lstStyle/>
          <a:p>
            <a:pPr marL="0" indent="0">
              <a:buNone/>
            </a:pPr>
            <a:r>
              <a:rPr lang="en-US" sz="1400" b="1" dirty="0">
                <a:solidFill>
                  <a:srgbClr val="1F2937"/>
                </a:solidFill>
                <a:latin typeface="Calibri" pitchFamily="34" charset="0"/>
                <a:ea typeface="Calibri" pitchFamily="34" charset="-122"/>
                <a:cs typeface="Calibri" pitchFamily="34" charset="-120"/>
              </a:rPr>
              <a:t>Genetic Predisposition</a:t>
            </a:r>
            <a:endParaRPr lang="en-US" sz="1400" dirty="0"/>
          </a:p>
        </p:txBody>
      </p:sp>
      <p:sp>
        <p:nvSpPr>
          <p:cNvPr id="12" name="Text 10"/>
          <p:cNvSpPr/>
          <p:nvPr/>
        </p:nvSpPr>
        <p:spPr>
          <a:xfrm>
            <a:off x="7589520" y="2834640"/>
            <a:ext cx="3657600" cy="347472"/>
          </a:xfrm>
          <a:prstGeom prst="rect">
            <a:avLst/>
          </a:prstGeom>
          <a:noFill/>
          <a:ln/>
        </p:spPr>
        <p:txBody>
          <a:bodyPr wrap="square" lIns="0" tIns="0" rIns="0" bIns="0" rtlCol="0" anchor="t"/>
          <a:lstStyle/>
          <a:p>
            <a:pPr marL="0" indent="0">
              <a:buNone/>
            </a:pPr>
            <a:r>
              <a:rPr lang="en-US" sz="1150" dirty="0">
                <a:solidFill>
                  <a:srgbClr val="5B6B70"/>
                </a:solidFill>
                <a:latin typeface="Calibri" pitchFamily="34" charset="0"/>
                <a:ea typeface="Calibri" pitchFamily="34" charset="-122"/>
                <a:cs typeface="Calibri" pitchFamily="34" charset="-120"/>
              </a:rPr>
              <a:t>Inherited vulnerability to fearfulness</a:t>
            </a:r>
            <a:endParaRPr lang="en-US" sz="1150" dirty="0"/>
          </a:p>
        </p:txBody>
      </p:sp>
      <p:sp>
        <p:nvSpPr>
          <p:cNvPr id="13" name="Text 11"/>
          <p:cNvSpPr/>
          <p:nvPr/>
        </p:nvSpPr>
        <p:spPr>
          <a:xfrm>
            <a:off x="6812280" y="3246120"/>
            <a:ext cx="457200" cy="274320"/>
          </a:xfrm>
          <a:prstGeom prst="rect">
            <a:avLst/>
          </a:prstGeom>
          <a:noFill/>
          <a:ln/>
        </p:spPr>
        <p:txBody>
          <a:bodyPr wrap="square" lIns="0" tIns="0" rIns="0" bIns="0" rtlCol="0" anchor="ctr"/>
          <a:lstStyle/>
          <a:p>
            <a:pPr marL="0" indent="0" algn="ctr">
              <a:buNone/>
            </a:pPr>
            <a:r>
              <a:rPr lang="en-US" sz="1600" dirty="0">
                <a:solidFill>
                  <a:srgbClr val="028090"/>
                </a:solidFill>
              </a:rPr>
              <a:t>↓</a:t>
            </a:r>
            <a:endParaRPr lang="en-US" sz="1600" dirty="0"/>
          </a:p>
        </p:txBody>
      </p:sp>
      <p:sp>
        <p:nvSpPr>
          <p:cNvPr id="14" name="Shape 12"/>
          <p:cNvSpPr/>
          <p:nvPr/>
        </p:nvSpPr>
        <p:spPr>
          <a:xfrm>
            <a:off x="6812280" y="3547872"/>
            <a:ext cx="4480560" cy="868680"/>
          </a:xfrm>
          <a:prstGeom prst="roundRect">
            <a:avLst>
              <a:gd name="adj" fmla="val 8421"/>
            </a:avLst>
          </a:prstGeom>
          <a:solidFill>
            <a:srgbClr val="FFFFFF"/>
          </a:solidFill>
          <a:ln w="15875">
            <a:solidFill>
              <a:srgbClr val="00A896"/>
            </a:solidFill>
            <a:prstDash val="solid"/>
          </a:ln>
        </p:spPr>
        <p:txBody>
          <a:bodyPr/>
          <a:lstStyle/>
          <a:p>
            <a:endParaRPr lang="en-CA"/>
          </a:p>
        </p:txBody>
      </p:sp>
      <p:sp>
        <p:nvSpPr>
          <p:cNvPr id="15" name="Shape 13"/>
          <p:cNvSpPr/>
          <p:nvPr/>
        </p:nvSpPr>
        <p:spPr>
          <a:xfrm>
            <a:off x="6995160" y="3767328"/>
            <a:ext cx="438912" cy="438912"/>
          </a:xfrm>
          <a:prstGeom prst="ellipse">
            <a:avLst/>
          </a:prstGeom>
          <a:solidFill>
            <a:srgbClr val="00A896"/>
          </a:solidFill>
          <a:ln/>
        </p:spPr>
        <p:txBody>
          <a:bodyPr/>
          <a:lstStyle/>
          <a:p>
            <a:endParaRPr lang="en-CA"/>
          </a:p>
        </p:txBody>
      </p:sp>
      <p:sp>
        <p:nvSpPr>
          <p:cNvPr id="16" name="Text 14"/>
          <p:cNvSpPr/>
          <p:nvPr/>
        </p:nvSpPr>
        <p:spPr>
          <a:xfrm>
            <a:off x="6995160" y="376732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Text 15"/>
          <p:cNvSpPr/>
          <p:nvPr/>
        </p:nvSpPr>
        <p:spPr>
          <a:xfrm>
            <a:off x="7589520" y="3657600"/>
            <a:ext cx="3657600" cy="365760"/>
          </a:xfrm>
          <a:prstGeom prst="rect">
            <a:avLst/>
          </a:prstGeom>
          <a:noFill/>
          <a:ln/>
        </p:spPr>
        <p:txBody>
          <a:bodyPr wrap="square" lIns="0" tIns="0" rIns="0" bIns="0" rtlCol="0" anchor="b"/>
          <a:lstStyle/>
          <a:p>
            <a:pPr marL="0" indent="0">
              <a:buNone/>
            </a:pPr>
            <a:r>
              <a:rPr lang="en-US" sz="1400" b="1" dirty="0">
                <a:solidFill>
                  <a:srgbClr val="1F2937"/>
                </a:solidFill>
                <a:latin typeface="Calibri" pitchFamily="34" charset="0"/>
                <a:ea typeface="Calibri" pitchFamily="34" charset="-122"/>
                <a:cs typeface="Calibri" pitchFamily="34" charset="-120"/>
              </a:rPr>
              <a:t>Environmental Trigger</a:t>
            </a:r>
            <a:endParaRPr lang="en-US" sz="1400" dirty="0"/>
          </a:p>
        </p:txBody>
      </p:sp>
      <p:sp>
        <p:nvSpPr>
          <p:cNvPr id="18" name="Text 16"/>
          <p:cNvSpPr/>
          <p:nvPr/>
        </p:nvSpPr>
        <p:spPr>
          <a:xfrm>
            <a:off x="7589520" y="4005072"/>
            <a:ext cx="3657600" cy="347472"/>
          </a:xfrm>
          <a:prstGeom prst="rect">
            <a:avLst/>
          </a:prstGeom>
          <a:noFill/>
          <a:ln/>
        </p:spPr>
        <p:txBody>
          <a:bodyPr wrap="square" lIns="0" tIns="0" rIns="0" bIns="0" rtlCol="0" anchor="t"/>
          <a:lstStyle/>
          <a:p>
            <a:pPr marL="0" indent="0">
              <a:buNone/>
            </a:pPr>
            <a:r>
              <a:rPr lang="en-US" sz="1150" dirty="0">
                <a:solidFill>
                  <a:srgbClr val="5B6B70"/>
                </a:solidFill>
                <a:latin typeface="Calibri" pitchFamily="34" charset="0"/>
                <a:ea typeface="Calibri" pitchFamily="34" charset="-122"/>
                <a:cs typeface="Calibri" pitchFamily="34" charset="-120"/>
              </a:rPr>
              <a:t>Stressful or socially threatening experience</a:t>
            </a:r>
            <a:endParaRPr lang="en-US" sz="1150" dirty="0"/>
          </a:p>
        </p:txBody>
      </p:sp>
      <p:sp>
        <p:nvSpPr>
          <p:cNvPr id="19" name="Text 17"/>
          <p:cNvSpPr/>
          <p:nvPr/>
        </p:nvSpPr>
        <p:spPr>
          <a:xfrm>
            <a:off x="6812280" y="4416552"/>
            <a:ext cx="457200" cy="274320"/>
          </a:xfrm>
          <a:prstGeom prst="rect">
            <a:avLst/>
          </a:prstGeom>
          <a:noFill/>
          <a:ln/>
        </p:spPr>
        <p:txBody>
          <a:bodyPr wrap="square" lIns="0" tIns="0" rIns="0" bIns="0" rtlCol="0" anchor="ctr"/>
          <a:lstStyle/>
          <a:p>
            <a:pPr marL="0" indent="0" algn="ctr">
              <a:buNone/>
            </a:pPr>
            <a:r>
              <a:rPr lang="en-US" sz="1600" dirty="0">
                <a:solidFill>
                  <a:srgbClr val="00A896"/>
                </a:solidFill>
              </a:rPr>
              <a:t>↓</a:t>
            </a:r>
            <a:endParaRPr lang="en-US" sz="1600" dirty="0"/>
          </a:p>
        </p:txBody>
      </p:sp>
      <p:sp>
        <p:nvSpPr>
          <p:cNvPr id="20" name="Shape 18"/>
          <p:cNvSpPr/>
          <p:nvPr/>
        </p:nvSpPr>
        <p:spPr>
          <a:xfrm>
            <a:off x="6812280" y="4718304"/>
            <a:ext cx="4480560" cy="868680"/>
          </a:xfrm>
          <a:prstGeom prst="roundRect">
            <a:avLst>
              <a:gd name="adj" fmla="val 8421"/>
            </a:avLst>
          </a:prstGeom>
          <a:solidFill>
            <a:srgbClr val="FFFFFF"/>
          </a:solidFill>
          <a:ln w="15875">
            <a:solidFill>
              <a:srgbClr val="02C39A"/>
            </a:solidFill>
            <a:prstDash val="solid"/>
          </a:ln>
        </p:spPr>
        <p:txBody>
          <a:bodyPr/>
          <a:lstStyle/>
          <a:p>
            <a:endParaRPr lang="en-CA"/>
          </a:p>
        </p:txBody>
      </p:sp>
      <p:sp>
        <p:nvSpPr>
          <p:cNvPr id="21" name="Shape 19"/>
          <p:cNvSpPr/>
          <p:nvPr/>
        </p:nvSpPr>
        <p:spPr>
          <a:xfrm>
            <a:off x="6995160" y="4937760"/>
            <a:ext cx="438912" cy="438912"/>
          </a:xfrm>
          <a:prstGeom prst="ellipse">
            <a:avLst/>
          </a:prstGeom>
          <a:solidFill>
            <a:srgbClr val="02C39A"/>
          </a:solidFill>
          <a:ln/>
        </p:spPr>
        <p:txBody>
          <a:bodyPr/>
          <a:lstStyle/>
          <a:p>
            <a:endParaRPr lang="en-CA"/>
          </a:p>
        </p:txBody>
      </p:sp>
      <p:sp>
        <p:nvSpPr>
          <p:cNvPr id="22" name="Text 20"/>
          <p:cNvSpPr/>
          <p:nvPr/>
        </p:nvSpPr>
        <p:spPr>
          <a:xfrm>
            <a:off x="6995160" y="493776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3" name="Text 21"/>
          <p:cNvSpPr/>
          <p:nvPr/>
        </p:nvSpPr>
        <p:spPr>
          <a:xfrm>
            <a:off x="7589520" y="4828032"/>
            <a:ext cx="3657600" cy="365760"/>
          </a:xfrm>
          <a:prstGeom prst="rect">
            <a:avLst/>
          </a:prstGeom>
          <a:noFill/>
          <a:ln/>
        </p:spPr>
        <p:txBody>
          <a:bodyPr wrap="square" lIns="0" tIns="0" rIns="0" bIns="0" rtlCol="0" anchor="b"/>
          <a:lstStyle/>
          <a:p>
            <a:pPr marL="0" indent="0">
              <a:buNone/>
            </a:pPr>
            <a:r>
              <a:rPr lang="en-US" sz="1400" b="1" dirty="0">
                <a:solidFill>
                  <a:srgbClr val="1F2937"/>
                </a:solidFill>
                <a:latin typeface="Calibri" pitchFamily="34" charset="0"/>
                <a:ea typeface="Calibri" pitchFamily="34" charset="-122"/>
                <a:cs typeface="Calibri" pitchFamily="34" charset="-120"/>
              </a:rPr>
              <a:t>Onset of SAD</a:t>
            </a:r>
            <a:endParaRPr lang="en-US" sz="1400" dirty="0"/>
          </a:p>
        </p:txBody>
      </p:sp>
      <p:sp>
        <p:nvSpPr>
          <p:cNvPr id="24" name="Text 22"/>
          <p:cNvSpPr/>
          <p:nvPr/>
        </p:nvSpPr>
        <p:spPr>
          <a:xfrm>
            <a:off x="7589520" y="5175504"/>
            <a:ext cx="3657600" cy="347472"/>
          </a:xfrm>
          <a:prstGeom prst="rect">
            <a:avLst/>
          </a:prstGeom>
          <a:noFill/>
          <a:ln/>
        </p:spPr>
        <p:txBody>
          <a:bodyPr wrap="square" lIns="0" tIns="0" rIns="0" bIns="0" rtlCol="0" anchor="t"/>
          <a:lstStyle/>
          <a:p>
            <a:pPr marL="0" indent="0">
              <a:buNone/>
            </a:pPr>
            <a:r>
              <a:rPr lang="en-US" sz="1150" dirty="0">
                <a:solidFill>
                  <a:srgbClr val="5B6B70"/>
                </a:solidFill>
                <a:latin typeface="Calibri" pitchFamily="34" charset="0"/>
                <a:ea typeface="Calibri" pitchFamily="34" charset="-122"/>
                <a:cs typeface="Calibri" pitchFamily="34" charset="-120"/>
              </a:rPr>
              <a:t>Disorder emerges from the interaction of both</a:t>
            </a:r>
            <a:endParaRPr lang="en-US" sz="1150" dirty="0"/>
          </a:p>
        </p:txBody>
      </p:sp>
      <p:sp>
        <p:nvSpPr>
          <p:cNvPr id="25" name="Text 23"/>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B6B70"/>
                </a:solidFill>
                <a:latin typeface="Calibri" pitchFamily="34" charset="0"/>
                <a:ea typeface="Calibri" pitchFamily="34" charset="-122"/>
                <a:cs typeface="Calibri" pitchFamily="34" charset="-120"/>
              </a:rPr>
              <a:t>Overview • Biopsychosocial approach</a:t>
            </a:r>
            <a:endParaRPr lang="en-US" sz="1000" dirty="0"/>
          </a:p>
        </p:txBody>
      </p:sp>
      <p:sp>
        <p:nvSpPr>
          <p:cNvPr id="26" name="Text 24"/>
          <p:cNvSpPr/>
          <p:nvPr/>
        </p:nvSpPr>
        <p:spPr>
          <a:xfrm>
            <a:off x="8076895" y="6473952"/>
            <a:ext cx="3657600" cy="274320"/>
          </a:xfrm>
          <a:prstGeom prst="rect">
            <a:avLst/>
          </a:prstGeom>
          <a:noFill/>
          <a:ln/>
        </p:spPr>
        <p:txBody>
          <a:bodyPr wrap="square" rtlCol="0" anchor="ctr"/>
          <a:lstStyle/>
          <a:p>
            <a:pPr marL="0" indent="0" algn="r">
              <a:buNone/>
            </a:pPr>
            <a:r>
              <a:rPr lang="en-US" sz="1000" dirty="0">
                <a:solidFill>
                  <a:srgbClr val="5B6B70"/>
                </a:solidFill>
                <a:latin typeface="Calibri" pitchFamily="34" charset="0"/>
                <a:ea typeface="Calibri" pitchFamily="34" charset="-122"/>
                <a:cs typeface="Calibri" pitchFamily="34" charset="-120"/>
              </a:rPr>
              <a:t>Biological Factors: SAD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640080"/>
          </a:xfrm>
          <a:prstGeom prst="rect">
            <a:avLst/>
          </a:prstGeom>
          <a:noFill/>
          <a:ln/>
        </p:spPr>
        <p:txBody>
          <a:bodyPr wrap="square" lIns="0" tIns="0" rIns="0" bIns="0" rtlCol="0" anchor="ctr"/>
          <a:lstStyle/>
          <a:p>
            <a:pPr marL="0" indent="0" algn="l">
              <a:buNone/>
            </a:pPr>
            <a:r>
              <a:rPr lang="en-US" sz="3000" b="1" dirty="0">
                <a:solidFill>
                  <a:srgbClr val="013A40"/>
                </a:solidFill>
                <a:latin typeface="Cambria" pitchFamily="34" charset="0"/>
                <a:ea typeface="Cambria" pitchFamily="34" charset="-122"/>
                <a:cs typeface="Cambria" pitchFamily="34" charset="-120"/>
              </a:rPr>
              <a:t>Genetic Evidence: A Twin Study</a:t>
            </a:r>
            <a:endParaRPr lang="en-US" sz="3000" dirty="0"/>
          </a:p>
        </p:txBody>
      </p:sp>
      <p:sp>
        <p:nvSpPr>
          <p:cNvPr id="3" name="Text 1"/>
          <p:cNvSpPr/>
          <p:nvPr/>
        </p:nvSpPr>
        <p:spPr>
          <a:xfrm>
            <a:off x="548640" y="987552"/>
            <a:ext cx="11094415" cy="365760"/>
          </a:xfrm>
          <a:prstGeom prst="rect">
            <a:avLst/>
          </a:prstGeom>
          <a:noFill/>
          <a:ln/>
        </p:spPr>
        <p:txBody>
          <a:bodyPr wrap="square" lIns="0" tIns="0" rIns="0" bIns="0" rtlCol="0" anchor="ctr"/>
          <a:lstStyle/>
          <a:p>
            <a:pPr marL="0" indent="0" algn="l">
              <a:buNone/>
            </a:pPr>
            <a:r>
              <a:rPr lang="en-US" sz="1400" i="1" dirty="0">
                <a:solidFill>
                  <a:srgbClr val="5B6B70"/>
                </a:solidFill>
                <a:latin typeface="Calibri" pitchFamily="34" charset="0"/>
                <a:ea typeface="Calibri" pitchFamily="34" charset="-122"/>
                <a:cs typeface="Calibri" pitchFamily="34" charset="-120"/>
              </a:rPr>
              <a:t>Kendler et al. (1999)</a:t>
            </a:r>
            <a:endParaRPr lang="en-US" sz="1400" dirty="0"/>
          </a:p>
        </p:txBody>
      </p:sp>
      <p:sp>
        <p:nvSpPr>
          <p:cNvPr id="4" name="Shape 2"/>
          <p:cNvSpPr/>
          <p:nvPr/>
        </p:nvSpPr>
        <p:spPr>
          <a:xfrm>
            <a:off x="548640" y="1691640"/>
            <a:ext cx="3383280" cy="4297680"/>
          </a:xfrm>
          <a:prstGeom prst="roundRect">
            <a:avLst>
              <a:gd name="adj" fmla="val 3243"/>
            </a:avLst>
          </a:prstGeom>
          <a:solidFill>
            <a:srgbClr val="013A40"/>
          </a:solidFill>
          <a:ln/>
        </p:spPr>
        <p:txBody>
          <a:bodyPr/>
          <a:lstStyle/>
          <a:p>
            <a:endParaRPr lang="en-CA"/>
          </a:p>
        </p:txBody>
      </p:sp>
      <p:sp>
        <p:nvSpPr>
          <p:cNvPr id="5" name="Text 3"/>
          <p:cNvSpPr/>
          <p:nvPr/>
        </p:nvSpPr>
        <p:spPr>
          <a:xfrm>
            <a:off x="822960" y="2057400"/>
            <a:ext cx="2834640" cy="320040"/>
          </a:xfrm>
          <a:prstGeom prst="rect">
            <a:avLst/>
          </a:prstGeom>
          <a:noFill/>
          <a:ln/>
        </p:spPr>
        <p:txBody>
          <a:bodyPr wrap="square" lIns="0" tIns="0" rIns="0" bIns="0" rtlCol="0" anchor="ctr"/>
          <a:lstStyle/>
          <a:p>
            <a:pPr marL="0" indent="0">
              <a:buNone/>
            </a:pPr>
            <a:r>
              <a:rPr lang="en-US" sz="1200" b="1" kern="0" spc="100" dirty="0">
                <a:solidFill>
                  <a:srgbClr val="02C39A"/>
                </a:solidFill>
                <a:latin typeface="Calibri" pitchFamily="34" charset="0"/>
                <a:ea typeface="Calibri" pitchFamily="34" charset="-122"/>
                <a:cs typeface="Calibri" pitchFamily="34" charset="-120"/>
              </a:rPr>
              <a:t>HERITABILITY OF SAD</a:t>
            </a:r>
            <a:endParaRPr lang="en-US" sz="1200" dirty="0"/>
          </a:p>
        </p:txBody>
      </p:sp>
      <p:sp>
        <p:nvSpPr>
          <p:cNvPr id="6" name="Text 4"/>
          <p:cNvSpPr/>
          <p:nvPr/>
        </p:nvSpPr>
        <p:spPr>
          <a:xfrm>
            <a:off x="548640" y="2377440"/>
            <a:ext cx="3383280" cy="1371600"/>
          </a:xfrm>
          <a:prstGeom prst="rect">
            <a:avLst/>
          </a:prstGeom>
          <a:noFill/>
          <a:ln/>
        </p:spPr>
        <p:txBody>
          <a:bodyPr wrap="square" lIns="0" tIns="0" rIns="0" bIns="0" rtlCol="0" anchor="ctr"/>
          <a:lstStyle/>
          <a:p>
            <a:pPr marL="0" indent="0" algn="ctr">
              <a:buNone/>
            </a:pPr>
            <a:r>
              <a:rPr lang="en-US" sz="7200" b="1" dirty="0">
                <a:solidFill>
                  <a:srgbClr val="FFFFFF"/>
                </a:solidFill>
                <a:latin typeface="Cambria" pitchFamily="34" charset="0"/>
                <a:ea typeface="Cambria" pitchFamily="34" charset="-122"/>
                <a:cs typeface="Cambria" pitchFamily="34" charset="-120"/>
              </a:rPr>
              <a:t>51%</a:t>
            </a:r>
            <a:endParaRPr lang="en-US" sz="7200" dirty="0"/>
          </a:p>
        </p:txBody>
      </p:sp>
      <p:sp>
        <p:nvSpPr>
          <p:cNvPr id="7" name="Text 5"/>
          <p:cNvSpPr/>
          <p:nvPr/>
        </p:nvSpPr>
        <p:spPr>
          <a:xfrm>
            <a:off x="914400" y="3657600"/>
            <a:ext cx="2651760" cy="822960"/>
          </a:xfrm>
          <a:prstGeom prst="rect">
            <a:avLst/>
          </a:prstGeom>
          <a:noFill/>
          <a:ln/>
        </p:spPr>
        <p:txBody>
          <a:bodyPr wrap="square" lIns="0" tIns="0" rIns="0" bIns="0" rtlCol="0" anchor="ctr"/>
          <a:lstStyle/>
          <a:p>
            <a:pPr marL="0" indent="0" algn="ctr">
              <a:lnSpc>
                <a:spcPct val="120000"/>
              </a:lnSpc>
              <a:buNone/>
            </a:pPr>
            <a:r>
              <a:rPr lang="en-US" sz="1300" dirty="0">
                <a:solidFill>
                  <a:srgbClr val="CADCFC"/>
                </a:solidFill>
                <a:latin typeface="Calibri" pitchFamily="34" charset="0"/>
                <a:ea typeface="Calibri" pitchFamily="34" charset="-122"/>
                <a:cs typeface="Calibri" pitchFamily="34" charset="-120"/>
              </a:rPr>
              <a:t>of variance in social phobia was attributable to genetic factors</a:t>
            </a:r>
            <a:endParaRPr lang="en-US" sz="1300" dirty="0"/>
          </a:p>
        </p:txBody>
      </p:sp>
      <p:sp>
        <p:nvSpPr>
          <p:cNvPr id="8" name="Shape 6"/>
          <p:cNvSpPr/>
          <p:nvPr/>
        </p:nvSpPr>
        <p:spPr>
          <a:xfrm>
            <a:off x="914400" y="4572000"/>
            <a:ext cx="2651760" cy="0"/>
          </a:xfrm>
          <a:prstGeom prst="line">
            <a:avLst/>
          </a:prstGeom>
          <a:noFill/>
          <a:ln w="12700">
            <a:solidFill>
              <a:srgbClr val="00A896"/>
            </a:solidFill>
            <a:prstDash val="solid"/>
          </a:ln>
        </p:spPr>
        <p:txBody>
          <a:bodyPr/>
          <a:lstStyle/>
          <a:p>
            <a:endParaRPr lang="en-CA"/>
          </a:p>
        </p:txBody>
      </p:sp>
      <p:sp>
        <p:nvSpPr>
          <p:cNvPr id="9" name="Text 7"/>
          <p:cNvSpPr/>
          <p:nvPr/>
        </p:nvSpPr>
        <p:spPr>
          <a:xfrm>
            <a:off x="914400" y="4754880"/>
            <a:ext cx="2651760" cy="1051560"/>
          </a:xfrm>
          <a:prstGeom prst="rect">
            <a:avLst/>
          </a:prstGeom>
          <a:noFill/>
          <a:ln/>
        </p:spPr>
        <p:txBody>
          <a:bodyPr wrap="square" lIns="0" tIns="0" rIns="0" bIns="0" rtlCol="0" anchor="ctr"/>
          <a:lstStyle/>
          <a:p>
            <a:pPr marL="0" indent="0" algn="ctr">
              <a:lnSpc>
                <a:spcPct val="120000"/>
              </a:lnSpc>
              <a:buNone/>
            </a:pPr>
            <a:r>
              <a:rPr lang="en-US" sz="1200" i="1" dirty="0">
                <a:solidFill>
                  <a:srgbClr val="CADCFC"/>
                </a:solidFill>
                <a:latin typeface="Calibri" pitchFamily="34" charset="0"/>
                <a:ea typeface="Calibri" pitchFamily="34" charset="-122"/>
                <a:cs typeface="Calibri" pitchFamily="34" charset="-120"/>
              </a:rPr>
              <a:t>Some heritability is clearly present — but genetics alone cannot account for the disorder. Environment must also play a role.</a:t>
            </a:r>
            <a:endParaRPr lang="en-US" sz="1200" dirty="0"/>
          </a:p>
        </p:txBody>
      </p:sp>
      <p:sp>
        <p:nvSpPr>
          <p:cNvPr id="10" name="Shape 8"/>
          <p:cNvSpPr/>
          <p:nvPr/>
        </p:nvSpPr>
        <p:spPr>
          <a:xfrm>
            <a:off x="4343400" y="1737360"/>
            <a:ext cx="822960" cy="822960"/>
          </a:xfrm>
          <a:prstGeom prst="ellipse">
            <a:avLst/>
          </a:prstGeom>
          <a:solidFill>
            <a:srgbClr val="028090"/>
          </a:solidFill>
          <a:ln/>
        </p:spPr>
        <p:txBody>
          <a:bodyPr/>
          <a:lstStyle/>
          <a:p>
            <a:endParaRPr lang="en-CA"/>
          </a:p>
        </p:txBody>
      </p:sp>
      <p:pic>
        <p:nvPicPr>
          <p:cNvPr id="11" name="Image 0" descr="preencoded.png"/>
          <p:cNvPicPr>
            <a:picLocks noChangeAspect="1"/>
          </p:cNvPicPr>
          <p:nvPr/>
        </p:nvPicPr>
        <p:blipFill>
          <a:blip r:embed="rId3"/>
          <a:stretch>
            <a:fillRect/>
          </a:stretch>
        </p:blipFill>
        <p:spPr>
          <a:xfrm>
            <a:off x="4458614" y="1852574"/>
            <a:ext cx="592531" cy="592531"/>
          </a:xfrm>
          <a:prstGeom prst="rect">
            <a:avLst/>
          </a:prstGeom>
        </p:spPr>
      </p:pic>
      <p:sp>
        <p:nvSpPr>
          <p:cNvPr id="12" name="Text 9"/>
          <p:cNvSpPr/>
          <p:nvPr/>
        </p:nvSpPr>
        <p:spPr>
          <a:xfrm>
            <a:off x="5349240" y="1783080"/>
            <a:ext cx="6858000" cy="36576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Study Design</a:t>
            </a:r>
            <a:endParaRPr lang="en-US" sz="1600" dirty="0"/>
          </a:p>
        </p:txBody>
      </p:sp>
      <p:sp>
        <p:nvSpPr>
          <p:cNvPr id="13" name="Text 10"/>
          <p:cNvSpPr/>
          <p:nvPr/>
        </p:nvSpPr>
        <p:spPr>
          <a:xfrm>
            <a:off x="5349240" y="2148840"/>
            <a:ext cx="6858000" cy="685800"/>
          </a:xfrm>
          <a:prstGeom prst="rect">
            <a:avLst/>
          </a:prstGeom>
          <a:noFill/>
          <a:ln/>
        </p:spPr>
        <p:txBody>
          <a:bodyPr wrap="square" lIns="0" tIns="0" rIns="0" bIns="0" rtlCol="0" anchor="t"/>
          <a:lstStyle/>
          <a:p>
            <a:pPr marL="0" indent="0">
              <a:lnSpc>
                <a:spcPct val="120000"/>
              </a:lnSpc>
              <a:buNone/>
            </a:pPr>
            <a:r>
              <a:rPr lang="en-US" sz="1300" dirty="0">
                <a:solidFill>
                  <a:srgbClr val="5B6B70"/>
                </a:solidFill>
                <a:latin typeface="Calibri" pitchFamily="34" charset="0"/>
                <a:ea typeface="Calibri" pitchFamily="34" charset="-122"/>
                <a:cs typeface="Calibri" pitchFamily="34" charset="-120"/>
              </a:rPr>
              <a:t>Longitudinal design tracking five phobias, including social phobia (SAD), across two assessments eight years apart.</a:t>
            </a:r>
            <a:endParaRPr lang="en-US" sz="1300" dirty="0"/>
          </a:p>
        </p:txBody>
      </p:sp>
      <p:sp>
        <p:nvSpPr>
          <p:cNvPr id="14" name="Shape 11"/>
          <p:cNvSpPr/>
          <p:nvPr/>
        </p:nvSpPr>
        <p:spPr>
          <a:xfrm>
            <a:off x="4297680" y="3063240"/>
            <a:ext cx="7315200" cy="777240"/>
          </a:xfrm>
          <a:prstGeom prst="roundRect">
            <a:avLst>
              <a:gd name="adj" fmla="val 9412"/>
            </a:avLst>
          </a:prstGeom>
          <a:solidFill>
            <a:srgbClr val="F2F9F8"/>
          </a:solidFill>
          <a:ln/>
        </p:spPr>
        <p:txBody>
          <a:bodyPr/>
          <a:lstStyle/>
          <a:p>
            <a:endParaRPr lang="en-CA"/>
          </a:p>
        </p:txBody>
      </p:sp>
      <p:sp>
        <p:nvSpPr>
          <p:cNvPr id="15" name="Text 12"/>
          <p:cNvSpPr/>
          <p:nvPr/>
        </p:nvSpPr>
        <p:spPr>
          <a:xfrm>
            <a:off x="4572000" y="3063240"/>
            <a:ext cx="2377440" cy="777240"/>
          </a:xfrm>
          <a:prstGeom prst="rect">
            <a:avLst/>
          </a:prstGeom>
          <a:noFill/>
          <a:ln/>
        </p:spPr>
        <p:txBody>
          <a:bodyPr wrap="square" lIns="0" tIns="0" rIns="0" bIns="0" rtlCol="0" anchor="ctr"/>
          <a:lstStyle/>
          <a:p>
            <a:pPr marL="0" indent="0" algn="l">
              <a:buNone/>
            </a:pPr>
            <a:r>
              <a:rPr lang="en-US" sz="1600" b="1" dirty="0">
                <a:solidFill>
                  <a:srgbClr val="028090"/>
                </a:solidFill>
                <a:latin typeface="Cambria" pitchFamily="34" charset="0"/>
                <a:ea typeface="Cambria" pitchFamily="34" charset="-122"/>
                <a:cs typeface="Cambria" pitchFamily="34" charset="-120"/>
              </a:rPr>
              <a:t>1,708</a:t>
            </a:r>
            <a:endParaRPr lang="en-US" sz="1600" dirty="0"/>
          </a:p>
        </p:txBody>
      </p:sp>
      <p:sp>
        <p:nvSpPr>
          <p:cNvPr id="16" name="Text 13"/>
          <p:cNvSpPr/>
          <p:nvPr/>
        </p:nvSpPr>
        <p:spPr>
          <a:xfrm>
            <a:off x="6995160" y="3063240"/>
            <a:ext cx="4480560" cy="777240"/>
          </a:xfrm>
          <a:prstGeom prst="rect">
            <a:avLst/>
          </a:prstGeom>
          <a:noFill/>
          <a:ln/>
        </p:spPr>
        <p:txBody>
          <a:bodyPr wrap="square" lIns="0" tIns="0" rIns="0" bIns="0" rtlCol="0" anchor="ctr"/>
          <a:lstStyle/>
          <a:p>
            <a:pPr marL="0" indent="0" algn="l">
              <a:lnSpc>
                <a:spcPct val="110000"/>
              </a:lnSpc>
              <a:buNone/>
            </a:pPr>
            <a:r>
              <a:rPr lang="en-US" sz="1200" dirty="0">
                <a:solidFill>
                  <a:srgbClr val="1F2937"/>
                </a:solidFill>
                <a:latin typeface="Calibri" pitchFamily="34" charset="0"/>
                <a:ea typeface="Calibri" pitchFamily="34" charset="-122"/>
                <a:cs typeface="Calibri" pitchFamily="34" charset="-120"/>
              </a:rPr>
              <a:t>individual female twins from a population-based registry</a:t>
            </a:r>
            <a:endParaRPr lang="en-US" sz="1200" dirty="0"/>
          </a:p>
        </p:txBody>
      </p:sp>
      <p:sp>
        <p:nvSpPr>
          <p:cNvPr id="17" name="Shape 14"/>
          <p:cNvSpPr/>
          <p:nvPr/>
        </p:nvSpPr>
        <p:spPr>
          <a:xfrm>
            <a:off x="4297680" y="3995928"/>
            <a:ext cx="7315200" cy="777240"/>
          </a:xfrm>
          <a:prstGeom prst="roundRect">
            <a:avLst>
              <a:gd name="adj" fmla="val 9412"/>
            </a:avLst>
          </a:prstGeom>
          <a:solidFill>
            <a:srgbClr val="F2F9F8"/>
          </a:solidFill>
          <a:ln/>
        </p:spPr>
        <p:txBody>
          <a:bodyPr/>
          <a:lstStyle/>
          <a:p>
            <a:endParaRPr lang="en-CA"/>
          </a:p>
        </p:txBody>
      </p:sp>
      <p:sp>
        <p:nvSpPr>
          <p:cNvPr id="18" name="Text 15"/>
          <p:cNvSpPr/>
          <p:nvPr/>
        </p:nvSpPr>
        <p:spPr>
          <a:xfrm>
            <a:off x="4572000" y="3995928"/>
            <a:ext cx="2377440" cy="777240"/>
          </a:xfrm>
          <a:prstGeom prst="rect">
            <a:avLst/>
          </a:prstGeom>
          <a:noFill/>
          <a:ln/>
        </p:spPr>
        <p:txBody>
          <a:bodyPr wrap="square" lIns="0" tIns="0" rIns="0" bIns="0" rtlCol="0" anchor="ctr"/>
          <a:lstStyle/>
          <a:p>
            <a:pPr marL="0" indent="0" algn="l">
              <a:buNone/>
            </a:pPr>
            <a:r>
              <a:rPr lang="en-US" sz="1600" b="1" dirty="0">
                <a:solidFill>
                  <a:srgbClr val="028090"/>
                </a:solidFill>
                <a:latin typeface="Cambria" pitchFamily="34" charset="0"/>
                <a:ea typeface="Cambria" pitchFamily="34" charset="-122"/>
                <a:cs typeface="Cambria" pitchFamily="34" charset="-120"/>
              </a:rPr>
              <a:t>Face-to-face + telephone</a:t>
            </a:r>
            <a:endParaRPr lang="en-US" sz="1600" dirty="0"/>
          </a:p>
        </p:txBody>
      </p:sp>
      <p:sp>
        <p:nvSpPr>
          <p:cNvPr id="19" name="Text 16"/>
          <p:cNvSpPr/>
          <p:nvPr/>
        </p:nvSpPr>
        <p:spPr>
          <a:xfrm>
            <a:off x="6995160" y="3995928"/>
            <a:ext cx="4480560" cy="777240"/>
          </a:xfrm>
          <a:prstGeom prst="rect">
            <a:avLst/>
          </a:prstGeom>
          <a:noFill/>
          <a:ln/>
        </p:spPr>
        <p:txBody>
          <a:bodyPr wrap="square" lIns="0" tIns="0" rIns="0" bIns="0" rtlCol="0" anchor="ctr"/>
          <a:lstStyle/>
          <a:p>
            <a:pPr marL="0" indent="0" algn="l">
              <a:lnSpc>
                <a:spcPct val="110000"/>
              </a:lnSpc>
              <a:buNone/>
            </a:pPr>
            <a:r>
              <a:rPr lang="en-US" sz="1200" dirty="0">
                <a:solidFill>
                  <a:srgbClr val="1F2937"/>
                </a:solidFill>
                <a:latin typeface="Calibri" pitchFamily="34" charset="0"/>
                <a:ea typeface="Calibri" pitchFamily="34" charset="-122"/>
                <a:cs typeface="Calibri" pitchFamily="34" charset="-120"/>
              </a:rPr>
              <a:t>interviews used to collect data at each assessment point</a:t>
            </a:r>
            <a:endParaRPr lang="en-US" sz="1200" dirty="0"/>
          </a:p>
        </p:txBody>
      </p:sp>
      <p:sp>
        <p:nvSpPr>
          <p:cNvPr id="20" name="Shape 17"/>
          <p:cNvSpPr/>
          <p:nvPr/>
        </p:nvSpPr>
        <p:spPr>
          <a:xfrm>
            <a:off x="4297680" y="4928616"/>
            <a:ext cx="7315200" cy="777240"/>
          </a:xfrm>
          <a:prstGeom prst="roundRect">
            <a:avLst>
              <a:gd name="adj" fmla="val 9412"/>
            </a:avLst>
          </a:prstGeom>
          <a:solidFill>
            <a:srgbClr val="F2F9F8"/>
          </a:solidFill>
          <a:ln/>
        </p:spPr>
        <p:txBody>
          <a:bodyPr/>
          <a:lstStyle/>
          <a:p>
            <a:endParaRPr lang="en-CA"/>
          </a:p>
        </p:txBody>
      </p:sp>
      <p:sp>
        <p:nvSpPr>
          <p:cNvPr id="21" name="Text 18"/>
          <p:cNvSpPr/>
          <p:nvPr/>
        </p:nvSpPr>
        <p:spPr>
          <a:xfrm>
            <a:off x="4572000" y="4928616"/>
            <a:ext cx="2377440" cy="777240"/>
          </a:xfrm>
          <a:prstGeom prst="rect">
            <a:avLst/>
          </a:prstGeom>
          <a:noFill/>
          <a:ln/>
        </p:spPr>
        <p:txBody>
          <a:bodyPr wrap="square" lIns="0" tIns="0" rIns="0" bIns="0" rtlCol="0" anchor="ctr"/>
          <a:lstStyle/>
          <a:p>
            <a:pPr marL="0" indent="0" algn="l">
              <a:buNone/>
            </a:pPr>
            <a:r>
              <a:rPr lang="en-US" sz="1600" b="1" dirty="0">
                <a:solidFill>
                  <a:srgbClr val="028090"/>
                </a:solidFill>
                <a:latin typeface="Cambria" pitchFamily="34" charset="0"/>
                <a:ea typeface="Cambria" pitchFamily="34" charset="-122"/>
                <a:cs typeface="Cambria" pitchFamily="34" charset="-120"/>
              </a:rPr>
              <a:t>8 years</a:t>
            </a:r>
            <a:endParaRPr lang="en-US" sz="1600" dirty="0"/>
          </a:p>
        </p:txBody>
      </p:sp>
      <p:sp>
        <p:nvSpPr>
          <p:cNvPr id="22" name="Text 19"/>
          <p:cNvSpPr/>
          <p:nvPr/>
        </p:nvSpPr>
        <p:spPr>
          <a:xfrm>
            <a:off x="6995160" y="4928616"/>
            <a:ext cx="4480560" cy="777240"/>
          </a:xfrm>
          <a:prstGeom prst="rect">
            <a:avLst/>
          </a:prstGeom>
          <a:noFill/>
          <a:ln/>
        </p:spPr>
        <p:txBody>
          <a:bodyPr wrap="square" lIns="0" tIns="0" rIns="0" bIns="0" rtlCol="0" anchor="ctr"/>
          <a:lstStyle/>
          <a:p>
            <a:pPr marL="0" indent="0" algn="l">
              <a:lnSpc>
                <a:spcPct val="110000"/>
              </a:lnSpc>
              <a:buNone/>
            </a:pPr>
            <a:r>
              <a:rPr lang="en-US" sz="1200" dirty="0">
                <a:solidFill>
                  <a:srgbClr val="1F2937"/>
                </a:solidFill>
                <a:latin typeface="Calibri" pitchFamily="34" charset="0"/>
                <a:ea typeface="Calibri" pitchFamily="34" charset="-122"/>
                <a:cs typeface="Calibri" pitchFamily="34" charset="-120"/>
              </a:rPr>
              <a:t>gap between the two assessment waves</a:t>
            </a:r>
            <a:endParaRPr lang="en-US" sz="1200" dirty="0"/>
          </a:p>
        </p:txBody>
      </p:sp>
      <p:sp>
        <p:nvSpPr>
          <p:cNvPr id="23" name="Text 20"/>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B6B70"/>
                </a:solidFill>
                <a:latin typeface="Calibri" pitchFamily="34" charset="0"/>
                <a:ea typeface="Calibri" pitchFamily="34" charset="-122"/>
                <a:cs typeface="Calibri" pitchFamily="34" charset="-120"/>
              </a:rPr>
              <a:t>Genetic factors • Twin &amp; family studies</a:t>
            </a:r>
            <a:endParaRPr lang="en-US" sz="1000" dirty="0"/>
          </a:p>
        </p:txBody>
      </p:sp>
      <p:sp>
        <p:nvSpPr>
          <p:cNvPr id="24" name="Text 21"/>
          <p:cNvSpPr/>
          <p:nvPr/>
        </p:nvSpPr>
        <p:spPr>
          <a:xfrm>
            <a:off x="8076895" y="6473952"/>
            <a:ext cx="3657600" cy="274320"/>
          </a:xfrm>
          <a:prstGeom prst="rect">
            <a:avLst/>
          </a:prstGeom>
          <a:noFill/>
          <a:ln/>
        </p:spPr>
        <p:txBody>
          <a:bodyPr wrap="square" rtlCol="0" anchor="ctr"/>
          <a:lstStyle/>
          <a:p>
            <a:pPr marL="0" indent="0" algn="r">
              <a:buNone/>
            </a:pPr>
            <a:r>
              <a:rPr lang="en-US" sz="1000" dirty="0">
                <a:solidFill>
                  <a:srgbClr val="5B6B70"/>
                </a:solidFill>
                <a:latin typeface="Calibri" pitchFamily="34" charset="0"/>
                <a:ea typeface="Calibri" pitchFamily="34" charset="-122"/>
                <a:cs typeface="Calibri" pitchFamily="34" charset="-120"/>
              </a:rPr>
              <a:t>Biological Factors: SAD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640080"/>
          </a:xfrm>
          <a:prstGeom prst="rect">
            <a:avLst/>
          </a:prstGeom>
          <a:noFill/>
          <a:ln/>
        </p:spPr>
        <p:txBody>
          <a:bodyPr wrap="square" lIns="0" tIns="0" rIns="0" bIns="0" rtlCol="0" anchor="ctr"/>
          <a:lstStyle/>
          <a:p>
            <a:pPr marL="0" indent="0" algn="l">
              <a:buNone/>
            </a:pPr>
            <a:r>
              <a:rPr lang="en-US" sz="3000" b="1" dirty="0">
                <a:solidFill>
                  <a:srgbClr val="013A40"/>
                </a:solidFill>
                <a:latin typeface="Cambria" pitchFamily="34" charset="0"/>
                <a:ea typeface="Cambria" pitchFamily="34" charset="-122"/>
                <a:cs typeface="Cambria" pitchFamily="34" charset="-120"/>
              </a:rPr>
              <a:t>Candidate Genes for SAD</a:t>
            </a:r>
            <a:endParaRPr lang="en-US" sz="3000" dirty="0"/>
          </a:p>
        </p:txBody>
      </p:sp>
      <p:sp>
        <p:nvSpPr>
          <p:cNvPr id="3" name="Text 1"/>
          <p:cNvSpPr/>
          <p:nvPr/>
        </p:nvSpPr>
        <p:spPr>
          <a:xfrm>
            <a:off x="548640" y="987552"/>
            <a:ext cx="11094415" cy="365760"/>
          </a:xfrm>
          <a:prstGeom prst="rect">
            <a:avLst/>
          </a:prstGeom>
          <a:noFill/>
          <a:ln/>
        </p:spPr>
        <p:txBody>
          <a:bodyPr wrap="square" lIns="0" tIns="0" rIns="0" bIns="0" rtlCol="0" anchor="ctr"/>
          <a:lstStyle/>
          <a:p>
            <a:pPr marL="0" indent="0" algn="l">
              <a:buNone/>
            </a:pPr>
            <a:r>
              <a:rPr lang="en-US" sz="1400" i="1" dirty="0">
                <a:solidFill>
                  <a:srgbClr val="5B6B70"/>
                </a:solidFill>
                <a:latin typeface="Calibri" pitchFamily="34" charset="0"/>
                <a:ea typeface="Calibri" pitchFamily="34" charset="-122"/>
                <a:cs typeface="Calibri" pitchFamily="34" charset="-120"/>
              </a:rPr>
              <a:t>No single gene causes SAD — but two candidates stand out</a:t>
            </a:r>
            <a:endParaRPr lang="en-US" sz="1400" dirty="0"/>
          </a:p>
        </p:txBody>
      </p:sp>
      <p:sp>
        <p:nvSpPr>
          <p:cNvPr id="4" name="Shape 2"/>
          <p:cNvSpPr/>
          <p:nvPr/>
        </p:nvSpPr>
        <p:spPr>
          <a:xfrm>
            <a:off x="548640" y="1737360"/>
            <a:ext cx="5257800" cy="4297680"/>
          </a:xfrm>
          <a:prstGeom prst="roundRect">
            <a:avLst>
              <a:gd name="adj" fmla="val 2553"/>
            </a:avLst>
          </a:prstGeom>
          <a:solidFill>
            <a:srgbClr val="F2F9F8"/>
          </a:solidFill>
          <a:ln/>
          <a:effectLst>
            <a:outerShdw blurRad="76200" dist="25400" dir="5400000" algn="bl" rotWithShape="0">
              <a:srgbClr val="000000">
                <a:alpha val="10000"/>
              </a:srgbClr>
            </a:outerShdw>
          </a:effectLst>
        </p:spPr>
        <p:txBody>
          <a:bodyPr/>
          <a:lstStyle/>
          <a:p>
            <a:endParaRPr lang="en-CA"/>
          </a:p>
        </p:txBody>
      </p:sp>
      <p:sp>
        <p:nvSpPr>
          <p:cNvPr id="5" name="Shape 3"/>
          <p:cNvSpPr/>
          <p:nvPr/>
        </p:nvSpPr>
        <p:spPr>
          <a:xfrm>
            <a:off x="868680" y="2057400"/>
            <a:ext cx="914400" cy="914400"/>
          </a:xfrm>
          <a:prstGeom prst="ellipse">
            <a:avLst/>
          </a:prstGeom>
          <a:solidFill>
            <a:srgbClr val="028090"/>
          </a:solidFill>
          <a:ln/>
        </p:spPr>
        <p:txBody>
          <a:bodyPr/>
          <a:lstStyle/>
          <a:p>
            <a:endParaRPr lang="en-CA"/>
          </a:p>
        </p:txBody>
      </p:sp>
      <p:pic>
        <p:nvPicPr>
          <p:cNvPr id="6" name="Image 0" descr="preencoded.png"/>
          <p:cNvPicPr>
            <a:picLocks noChangeAspect="1"/>
          </p:cNvPicPr>
          <p:nvPr/>
        </p:nvPicPr>
        <p:blipFill>
          <a:blip r:embed="rId3"/>
          <a:stretch>
            <a:fillRect/>
          </a:stretch>
        </p:blipFill>
        <p:spPr>
          <a:xfrm>
            <a:off x="996696" y="2185416"/>
            <a:ext cx="658368" cy="658368"/>
          </a:xfrm>
          <a:prstGeom prst="rect">
            <a:avLst/>
          </a:prstGeom>
        </p:spPr>
      </p:pic>
      <p:sp>
        <p:nvSpPr>
          <p:cNvPr id="7" name="Text 4"/>
          <p:cNvSpPr/>
          <p:nvPr/>
        </p:nvSpPr>
        <p:spPr>
          <a:xfrm>
            <a:off x="1965960" y="2057400"/>
            <a:ext cx="3566160" cy="274320"/>
          </a:xfrm>
          <a:prstGeom prst="rect">
            <a:avLst/>
          </a:prstGeom>
          <a:noFill/>
          <a:ln/>
        </p:spPr>
        <p:txBody>
          <a:bodyPr wrap="square" lIns="0" tIns="0" rIns="0" bIns="0" rtlCol="0" anchor="ctr"/>
          <a:lstStyle/>
          <a:p>
            <a:pPr marL="0" indent="0">
              <a:buNone/>
            </a:pPr>
            <a:r>
              <a:rPr lang="en-US" sz="1050" b="1" kern="0" spc="100" dirty="0">
                <a:solidFill>
                  <a:srgbClr val="028090"/>
                </a:solidFill>
                <a:latin typeface="Calibri" pitchFamily="34" charset="0"/>
                <a:ea typeface="Calibri" pitchFamily="34" charset="-122"/>
                <a:cs typeface="Calibri" pitchFamily="34" charset="-120"/>
              </a:rPr>
              <a:t>CHROMOSOME 16</a:t>
            </a:r>
            <a:endParaRPr lang="en-US" sz="1050" dirty="0"/>
          </a:p>
        </p:txBody>
      </p:sp>
      <p:sp>
        <p:nvSpPr>
          <p:cNvPr id="8" name="Text 5"/>
          <p:cNvSpPr/>
          <p:nvPr/>
        </p:nvSpPr>
        <p:spPr>
          <a:xfrm>
            <a:off x="1965960" y="2304288"/>
            <a:ext cx="3566160" cy="457200"/>
          </a:xfrm>
          <a:prstGeom prst="rect">
            <a:avLst/>
          </a:prstGeom>
          <a:noFill/>
          <a:ln/>
        </p:spPr>
        <p:txBody>
          <a:bodyPr wrap="square" lIns="0" tIns="0" rIns="0" bIns="0" rtlCol="0" anchor="ctr"/>
          <a:lstStyle/>
          <a:p>
            <a:pPr marL="0" indent="0">
              <a:buNone/>
            </a:pPr>
            <a:r>
              <a:rPr lang="en-US" sz="2200" b="1" dirty="0">
                <a:solidFill>
                  <a:srgbClr val="013A40"/>
                </a:solidFill>
                <a:latin typeface="Cambria" pitchFamily="34" charset="0"/>
                <a:ea typeface="Cambria" pitchFamily="34" charset="-122"/>
                <a:cs typeface="Cambria" pitchFamily="34" charset="-120"/>
              </a:rPr>
              <a:t>SLC6A2</a:t>
            </a:r>
            <a:endParaRPr lang="en-US" sz="2200" dirty="0"/>
          </a:p>
        </p:txBody>
      </p:sp>
      <p:sp>
        <p:nvSpPr>
          <p:cNvPr id="9" name="Text 6"/>
          <p:cNvSpPr/>
          <p:nvPr/>
        </p:nvSpPr>
        <p:spPr>
          <a:xfrm>
            <a:off x="1965960" y="2724912"/>
            <a:ext cx="3566160" cy="320040"/>
          </a:xfrm>
          <a:prstGeom prst="rect">
            <a:avLst/>
          </a:prstGeom>
          <a:noFill/>
          <a:ln/>
        </p:spPr>
        <p:txBody>
          <a:bodyPr wrap="square" lIns="0" tIns="0" rIns="0" bIns="0" rtlCol="0" anchor="ctr"/>
          <a:lstStyle/>
          <a:p>
            <a:pPr marL="0" indent="0">
              <a:buNone/>
            </a:pPr>
            <a:r>
              <a:rPr lang="en-US" sz="1200" i="1" dirty="0">
                <a:solidFill>
                  <a:srgbClr val="5B6B70"/>
                </a:solidFill>
                <a:latin typeface="Calibri" pitchFamily="34" charset="0"/>
                <a:ea typeface="Calibri" pitchFamily="34" charset="-122"/>
                <a:cs typeface="Calibri" pitchFamily="34" charset="-120"/>
              </a:rPr>
              <a:t>Norepinephrine transporter gene</a:t>
            </a:r>
            <a:endParaRPr lang="en-US" sz="1200" dirty="0"/>
          </a:p>
        </p:txBody>
      </p:sp>
      <p:sp>
        <p:nvSpPr>
          <p:cNvPr id="10" name="Shape 7"/>
          <p:cNvSpPr/>
          <p:nvPr/>
        </p:nvSpPr>
        <p:spPr>
          <a:xfrm>
            <a:off x="914400" y="3246120"/>
            <a:ext cx="4526280" cy="0"/>
          </a:xfrm>
          <a:prstGeom prst="line">
            <a:avLst/>
          </a:prstGeom>
          <a:noFill/>
          <a:ln w="9525">
            <a:solidFill>
              <a:srgbClr val="028090"/>
            </a:solidFill>
            <a:prstDash val="solid"/>
          </a:ln>
        </p:spPr>
        <p:txBody>
          <a:bodyPr/>
          <a:lstStyle/>
          <a:p>
            <a:endParaRPr lang="en-CA"/>
          </a:p>
        </p:txBody>
      </p:sp>
      <p:sp>
        <p:nvSpPr>
          <p:cNvPr id="11" name="Text 8"/>
          <p:cNvSpPr/>
          <p:nvPr/>
        </p:nvSpPr>
        <p:spPr>
          <a:xfrm>
            <a:off x="914400" y="3429000"/>
            <a:ext cx="4526280" cy="1280160"/>
          </a:xfrm>
          <a:prstGeom prst="rect">
            <a:avLst/>
          </a:prstGeom>
          <a:noFill/>
          <a:ln/>
        </p:spPr>
        <p:txBody>
          <a:bodyPr wrap="square" lIns="0" tIns="0" rIns="0" bIns="0" rtlCol="0" anchor="t"/>
          <a:lstStyle/>
          <a:p>
            <a:pPr marL="0" indent="0">
              <a:lnSpc>
                <a:spcPct val="125000"/>
              </a:lnSpc>
              <a:buNone/>
            </a:pPr>
            <a:r>
              <a:rPr lang="en-US" sz="1250" dirty="0">
                <a:solidFill>
                  <a:srgbClr val="1F2937"/>
                </a:solidFill>
                <a:latin typeface="Calibri" pitchFamily="34" charset="0"/>
                <a:ea typeface="Calibri" pitchFamily="34" charset="-122"/>
                <a:cs typeface="Calibri" pitchFamily="34" charset="-120"/>
              </a:rPr>
              <a:t>This gene affects production of the norepinephrine transporter (NET) protein, which is responsible for reabsorbing norepinephrine back into presynaptic neurons, ending its activity at the synapse.</a:t>
            </a:r>
            <a:endParaRPr lang="en-US" sz="1250" dirty="0"/>
          </a:p>
        </p:txBody>
      </p:sp>
      <p:sp>
        <p:nvSpPr>
          <p:cNvPr id="12" name="Text 9"/>
          <p:cNvSpPr/>
          <p:nvPr/>
        </p:nvSpPr>
        <p:spPr>
          <a:xfrm>
            <a:off x="914400" y="4800600"/>
            <a:ext cx="4526280" cy="1097280"/>
          </a:xfrm>
          <a:prstGeom prst="rect">
            <a:avLst/>
          </a:prstGeom>
          <a:noFill/>
          <a:ln/>
        </p:spPr>
        <p:txBody>
          <a:bodyPr wrap="square" lIns="0" tIns="0" rIns="0" bIns="0" rtlCol="0" anchor="t"/>
          <a:lstStyle/>
          <a:p>
            <a:pPr marL="0" indent="0">
              <a:lnSpc>
                <a:spcPct val="120000"/>
              </a:lnSpc>
              <a:buNone/>
            </a:pPr>
            <a:r>
              <a:rPr lang="en-US" sz="1100" i="1" dirty="0">
                <a:solidFill>
                  <a:srgbClr val="5B6B70"/>
                </a:solidFill>
                <a:latin typeface="Calibri" pitchFamily="34" charset="0"/>
                <a:ea typeface="Calibri" pitchFamily="34" charset="-122"/>
                <a:cs typeface="Calibri" pitchFamily="34" charset="-120"/>
              </a:rPr>
              <a:t>Individual genetic variations of SLC6A2 may contribute to vulnerability for SAD, though this candidate-gene link needs substantially more research before it can be confirmed (Gelernter et al., 2004).</a:t>
            </a:r>
            <a:endParaRPr lang="en-US" sz="1100" dirty="0"/>
          </a:p>
        </p:txBody>
      </p:sp>
      <p:sp>
        <p:nvSpPr>
          <p:cNvPr id="13" name="Shape 10"/>
          <p:cNvSpPr/>
          <p:nvPr/>
        </p:nvSpPr>
        <p:spPr>
          <a:xfrm>
            <a:off x="6172200" y="1737360"/>
            <a:ext cx="5257800" cy="4297680"/>
          </a:xfrm>
          <a:prstGeom prst="roundRect">
            <a:avLst>
              <a:gd name="adj" fmla="val 2553"/>
            </a:avLst>
          </a:prstGeom>
          <a:solidFill>
            <a:srgbClr val="F2F9F8"/>
          </a:solidFill>
          <a:ln/>
          <a:effectLst>
            <a:outerShdw blurRad="76200" dist="25400" dir="5400000" algn="bl" rotWithShape="0">
              <a:srgbClr val="000000">
                <a:alpha val="10000"/>
              </a:srgbClr>
            </a:outerShdw>
          </a:effectLst>
        </p:spPr>
        <p:txBody>
          <a:bodyPr/>
          <a:lstStyle/>
          <a:p>
            <a:endParaRPr lang="en-CA"/>
          </a:p>
        </p:txBody>
      </p:sp>
      <p:sp>
        <p:nvSpPr>
          <p:cNvPr id="14" name="Shape 11"/>
          <p:cNvSpPr/>
          <p:nvPr/>
        </p:nvSpPr>
        <p:spPr>
          <a:xfrm>
            <a:off x="6492240" y="2057400"/>
            <a:ext cx="914400" cy="914400"/>
          </a:xfrm>
          <a:prstGeom prst="ellipse">
            <a:avLst/>
          </a:prstGeom>
          <a:solidFill>
            <a:srgbClr val="00A896"/>
          </a:solidFill>
          <a:ln/>
        </p:spPr>
        <p:txBody>
          <a:bodyPr/>
          <a:lstStyle/>
          <a:p>
            <a:endParaRPr lang="en-CA"/>
          </a:p>
        </p:txBody>
      </p:sp>
      <p:pic>
        <p:nvPicPr>
          <p:cNvPr id="15" name="Image 1" descr="preencoded.png"/>
          <p:cNvPicPr>
            <a:picLocks noChangeAspect="1"/>
          </p:cNvPicPr>
          <p:nvPr/>
        </p:nvPicPr>
        <p:blipFill>
          <a:blip r:embed="rId4"/>
          <a:stretch>
            <a:fillRect/>
          </a:stretch>
        </p:blipFill>
        <p:spPr>
          <a:xfrm>
            <a:off x="6620256" y="2185416"/>
            <a:ext cx="658368" cy="658368"/>
          </a:xfrm>
          <a:prstGeom prst="rect">
            <a:avLst/>
          </a:prstGeom>
        </p:spPr>
      </p:pic>
      <p:sp>
        <p:nvSpPr>
          <p:cNvPr id="16" name="Text 12"/>
          <p:cNvSpPr/>
          <p:nvPr/>
        </p:nvSpPr>
        <p:spPr>
          <a:xfrm>
            <a:off x="7589520" y="2057400"/>
            <a:ext cx="3566160" cy="274320"/>
          </a:xfrm>
          <a:prstGeom prst="rect">
            <a:avLst/>
          </a:prstGeom>
          <a:noFill/>
          <a:ln/>
        </p:spPr>
        <p:txBody>
          <a:bodyPr wrap="square" lIns="0" tIns="0" rIns="0" bIns="0" rtlCol="0" anchor="ctr"/>
          <a:lstStyle/>
          <a:p>
            <a:pPr marL="0" indent="0">
              <a:buNone/>
            </a:pPr>
            <a:r>
              <a:rPr lang="en-US" sz="1050" b="1" kern="0" spc="100" dirty="0">
                <a:solidFill>
                  <a:srgbClr val="00A896"/>
                </a:solidFill>
                <a:latin typeface="Calibri" pitchFamily="34" charset="0"/>
                <a:ea typeface="Calibri" pitchFamily="34" charset="-122"/>
                <a:cs typeface="Calibri" pitchFamily="34" charset="-120"/>
              </a:rPr>
              <a:t>EPIGENETIC MARKER</a:t>
            </a:r>
            <a:endParaRPr lang="en-US" sz="1050" dirty="0"/>
          </a:p>
        </p:txBody>
      </p:sp>
      <p:sp>
        <p:nvSpPr>
          <p:cNvPr id="17" name="Text 13"/>
          <p:cNvSpPr/>
          <p:nvPr/>
        </p:nvSpPr>
        <p:spPr>
          <a:xfrm>
            <a:off x="7589520" y="2304288"/>
            <a:ext cx="3566160" cy="457200"/>
          </a:xfrm>
          <a:prstGeom prst="rect">
            <a:avLst/>
          </a:prstGeom>
          <a:noFill/>
          <a:ln/>
        </p:spPr>
        <p:txBody>
          <a:bodyPr wrap="square" lIns="0" tIns="0" rIns="0" bIns="0" rtlCol="0" anchor="ctr"/>
          <a:lstStyle/>
          <a:p>
            <a:pPr marL="0" indent="0">
              <a:buNone/>
            </a:pPr>
            <a:r>
              <a:rPr lang="en-US" sz="2200" b="1" dirty="0">
                <a:solidFill>
                  <a:srgbClr val="013A40"/>
                </a:solidFill>
                <a:latin typeface="Cambria" pitchFamily="34" charset="0"/>
                <a:ea typeface="Cambria" pitchFamily="34" charset="-122"/>
                <a:cs typeface="Cambria" pitchFamily="34" charset="-120"/>
              </a:rPr>
              <a:t>OXTR</a:t>
            </a:r>
            <a:endParaRPr lang="en-US" sz="2200" dirty="0"/>
          </a:p>
        </p:txBody>
      </p:sp>
      <p:sp>
        <p:nvSpPr>
          <p:cNvPr id="18" name="Text 14"/>
          <p:cNvSpPr/>
          <p:nvPr/>
        </p:nvSpPr>
        <p:spPr>
          <a:xfrm>
            <a:off x="7589520" y="2724912"/>
            <a:ext cx="3566160" cy="320040"/>
          </a:xfrm>
          <a:prstGeom prst="rect">
            <a:avLst/>
          </a:prstGeom>
          <a:noFill/>
          <a:ln/>
        </p:spPr>
        <p:txBody>
          <a:bodyPr wrap="square" lIns="0" tIns="0" rIns="0" bIns="0" rtlCol="0" anchor="ctr"/>
          <a:lstStyle/>
          <a:p>
            <a:pPr marL="0" indent="0">
              <a:buNone/>
            </a:pPr>
            <a:r>
              <a:rPr lang="en-US" sz="1200" i="1" dirty="0">
                <a:solidFill>
                  <a:srgbClr val="5B6B70"/>
                </a:solidFill>
                <a:latin typeface="Calibri" pitchFamily="34" charset="0"/>
                <a:ea typeface="Calibri" pitchFamily="34" charset="-122"/>
                <a:cs typeface="Calibri" pitchFamily="34" charset="-120"/>
              </a:rPr>
              <a:t>Oxytocin receptor gene</a:t>
            </a:r>
            <a:endParaRPr lang="en-US" sz="1200" dirty="0"/>
          </a:p>
        </p:txBody>
      </p:sp>
      <p:sp>
        <p:nvSpPr>
          <p:cNvPr id="19" name="Shape 15"/>
          <p:cNvSpPr/>
          <p:nvPr/>
        </p:nvSpPr>
        <p:spPr>
          <a:xfrm>
            <a:off x="6537960" y="3246120"/>
            <a:ext cx="4526280" cy="0"/>
          </a:xfrm>
          <a:prstGeom prst="line">
            <a:avLst/>
          </a:prstGeom>
          <a:noFill/>
          <a:ln w="9525">
            <a:solidFill>
              <a:srgbClr val="00A896"/>
            </a:solidFill>
            <a:prstDash val="solid"/>
          </a:ln>
        </p:spPr>
        <p:txBody>
          <a:bodyPr/>
          <a:lstStyle/>
          <a:p>
            <a:endParaRPr lang="en-CA"/>
          </a:p>
        </p:txBody>
      </p:sp>
      <p:sp>
        <p:nvSpPr>
          <p:cNvPr id="20" name="Text 16"/>
          <p:cNvSpPr/>
          <p:nvPr/>
        </p:nvSpPr>
        <p:spPr>
          <a:xfrm>
            <a:off x="6537960" y="3429000"/>
            <a:ext cx="4526280" cy="1280160"/>
          </a:xfrm>
          <a:prstGeom prst="rect">
            <a:avLst/>
          </a:prstGeom>
          <a:noFill/>
          <a:ln/>
        </p:spPr>
        <p:txBody>
          <a:bodyPr wrap="square" lIns="0" tIns="0" rIns="0" bIns="0" rtlCol="0" anchor="t"/>
          <a:lstStyle/>
          <a:p>
            <a:pPr marL="0" indent="0">
              <a:lnSpc>
                <a:spcPct val="125000"/>
              </a:lnSpc>
              <a:buNone/>
            </a:pPr>
            <a:r>
              <a:rPr lang="en-US" sz="1250" dirty="0">
                <a:solidFill>
                  <a:srgbClr val="1F2937"/>
                </a:solidFill>
                <a:latin typeface="Calibri" pitchFamily="34" charset="0"/>
                <a:ea typeface="Calibri" pitchFamily="34" charset="-122"/>
                <a:cs typeface="Calibri" pitchFamily="34" charset="-120"/>
              </a:rPr>
              <a:t>Oxytocin is produced in the hypothalamus and released by the pituitary gland, where it supports social bonding and trust between people.</a:t>
            </a:r>
            <a:endParaRPr lang="en-US" sz="1250" dirty="0"/>
          </a:p>
        </p:txBody>
      </p:sp>
      <p:sp>
        <p:nvSpPr>
          <p:cNvPr id="21" name="Text 17"/>
          <p:cNvSpPr/>
          <p:nvPr/>
        </p:nvSpPr>
        <p:spPr>
          <a:xfrm>
            <a:off x="6537960" y="4800600"/>
            <a:ext cx="4526280" cy="1097280"/>
          </a:xfrm>
          <a:prstGeom prst="rect">
            <a:avLst/>
          </a:prstGeom>
          <a:noFill/>
          <a:ln/>
        </p:spPr>
        <p:txBody>
          <a:bodyPr wrap="square" lIns="0" tIns="0" rIns="0" bIns="0" rtlCol="0" anchor="t"/>
          <a:lstStyle/>
          <a:p>
            <a:pPr marL="0" indent="0">
              <a:lnSpc>
                <a:spcPct val="120000"/>
              </a:lnSpc>
              <a:buNone/>
            </a:pPr>
            <a:r>
              <a:rPr lang="en-US" sz="1100" i="1" dirty="0">
                <a:solidFill>
                  <a:srgbClr val="5B6B70"/>
                </a:solidFill>
                <a:latin typeface="Calibri" pitchFamily="34" charset="0"/>
                <a:ea typeface="Calibri" pitchFamily="34" charset="-122"/>
                <a:cs typeface="Calibri" pitchFamily="34" charset="-120"/>
              </a:rPr>
              <a:t>A polymorphism of OXTR is linked to SAD, potentially by lowering the availability of oxytocin in key regions of the brain.</a:t>
            </a:r>
            <a:endParaRPr lang="en-US" sz="1100" dirty="0"/>
          </a:p>
        </p:txBody>
      </p:sp>
      <p:sp>
        <p:nvSpPr>
          <p:cNvPr id="22" name="Text 18"/>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B6B70"/>
                </a:solidFill>
                <a:latin typeface="Calibri" pitchFamily="34" charset="0"/>
                <a:ea typeface="Calibri" pitchFamily="34" charset="-122"/>
                <a:cs typeface="Calibri" pitchFamily="34" charset="-120"/>
              </a:rPr>
              <a:t>Genetic factors • Candidate genes</a:t>
            </a:r>
            <a:endParaRPr lang="en-US" sz="1000" dirty="0"/>
          </a:p>
        </p:txBody>
      </p:sp>
      <p:sp>
        <p:nvSpPr>
          <p:cNvPr id="23" name="Text 19"/>
          <p:cNvSpPr/>
          <p:nvPr/>
        </p:nvSpPr>
        <p:spPr>
          <a:xfrm>
            <a:off x="8076895" y="6473952"/>
            <a:ext cx="3657600" cy="274320"/>
          </a:xfrm>
          <a:prstGeom prst="rect">
            <a:avLst/>
          </a:prstGeom>
          <a:noFill/>
          <a:ln/>
        </p:spPr>
        <p:txBody>
          <a:bodyPr wrap="square" rtlCol="0" anchor="ctr"/>
          <a:lstStyle/>
          <a:p>
            <a:pPr marL="0" indent="0" algn="r">
              <a:buNone/>
            </a:pPr>
            <a:r>
              <a:rPr lang="en-US" sz="1000" dirty="0">
                <a:solidFill>
                  <a:srgbClr val="5B6B70"/>
                </a:solidFill>
                <a:latin typeface="Calibri" pitchFamily="34" charset="0"/>
                <a:ea typeface="Calibri" pitchFamily="34" charset="-122"/>
                <a:cs typeface="Calibri" pitchFamily="34" charset="-120"/>
              </a:rPr>
              <a:t>Biological Factors: SAD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13A40"/>
        </a:solidFill>
        <a:effectLst/>
      </p:bgPr>
    </p:bg>
    <p:spTree>
      <p:nvGrpSpPr>
        <p:cNvPr id="1" name=""/>
        <p:cNvGrpSpPr/>
        <p:nvPr/>
      </p:nvGrpSpPr>
      <p:grpSpPr>
        <a:xfrm>
          <a:off x="0" y="0"/>
          <a:ext cx="0" cy="0"/>
          <a:chOff x="0" y="0"/>
          <a:chExt cx="0" cy="0"/>
        </a:xfrm>
      </p:grpSpPr>
      <p:sp>
        <p:nvSpPr>
          <p:cNvPr id="2" name="Shape 0"/>
          <p:cNvSpPr/>
          <p:nvPr/>
        </p:nvSpPr>
        <p:spPr>
          <a:xfrm>
            <a:off x="9875520" y="-1371600"/>
            <a:ext cx="4114800" cy="4114800"/>
          </a:xfrm>
          <a:prstGeom prst="ellipse">
            <a:avLst/>
          </a:prstGeom>
          <a:solidFill>
            <a:srgbClr val="028090"/>
          </a:solidFill>
          <a:ln/>
        </p:spPr>
        <p:txBody>
          <a:bodyPr/>
          <a:lstStyle/>
          <a:p>
            <a:endParaRPr lang="en-CA"/>
          </a:p>
        </p:txBody>
      </p:sp>
      <p:sp>
        <p:nvSpPr>
          <p:cNvPr id="3" name="Text 1"/>
          <p:cNvSpPr/>
          <p:nvPr/>
        </p:nvSpPr>
        <p:spPr>
          <a:xfrm>
            <a:off x="548640" y="411480"/>
            <a:ext cx="7315200" cy="320040"/>
          </a:xfrm>
          <a:prstGeom prst="rect">
            <a:avLst/>
          </a:prstGeom>
          <a:noFill/>
          <a:ln/>
        </p:spPr>
        <p:txBody>
          <a:bodyPr wrap="square" lIns="0" tIns="0" rIns="0" bIns="0" rtlCol="0" anchor="ctr"/>
          <a:lstStyle/>
          <a:p>
            <a:pPr marL="0" indent="0">
              <a:buNone/>
            </a:pPr>
            <a:r>
              <a:rPr lang="en-US" sz="1250" b="1" kern="0" spc="200" dirty="0">
                <a:solidFill>
                  <a:srgbClr val="02C39A"/>
                </a:solidFill>
                <a:latin typeface="Calibri" pitchFamily="34" charset="0"/>
                <a:ea typeface="Calibri" pitchFamily="34" charset="-122"/>
                <a:cs typeface="Calibri" pitchFamily="34" charset="-120"/>
              </a:rPr>
              <a:t>RESEARCH IN PSYCHOLOGY</a:t>
            </a:r>
            <a:endParaRPr lang="en-US" sz="1250" dirty="0"/>
          </a:p>
        </p:txBody>
      </p:sp>
      <p:sp>
        <p:nvSpPr>
          <p:cNvPr id="4" name="Text 2"/>
          <p:cNvSpPr/>
          <p:nvPr/>
        </p:nvSpPr>
        <p:spPr>
          <a:xfrm>
            <a:off x="548640" y="731520"/>
            <a:ext cx="8229600" cy="59436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Thompson et al. (2011)</a:t>
            </a:r>
            <a:endParaRPr lang="en-US" sz="2800" dirty="0"/>
          </a:p>
        </p:txBody>
      </p:sp>
      <p:sp>
        <p:nvSpPr>
          <p:cNvPr id="5" name="Text 3"/>
          <p:cNvSpPr/>
          <p:nvPr/>
        </p:nvSpPr>
        <p:spPr>
          <a:xfrm>
            <a:off x="548640" y="1280160"/>
            <a:ext cx="9144000" cy="36576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Gene × environment interaction: OXTR and maternal depression</a:t>
            </a:r>
            <a:endParaRPr lang="en-US" sz="1400" dirty="0"/>
          </a:p>
        </p:txBody>
      </p:sp>
      <p:sp>
        <p:nvSpPr>
          <p:cNvPr id="6" name="Shape 4"/>
          <p:cNvSpPr/>
          <p:nvPr/>
        </p:nvSpPr>
        <p:spPr>
          <a:xfrm>
            <a:off x="548640" y="1874520"/>
            <a:ext cx="3515258" cy="1737360"/>
          </a:xfrm>
          <a:prstGeom prst="roundRect">
            <a:avLst>
              <a:gd name="adj" fmla="val 5263"/>
            </a:avLst>
          </a:prstGeom>
          <a:solidFill>
            <a:srgbClr val="0A4C52"/>
          </a:solidFill>
          <a:ln/>
        </p:spPr>
        <p:txBody>
          <a:bodyPr/>
          <a:lstStyle/>
          <a:p>
            <a:endParaRPr lang="en-CA"/>
          </a:p>
        </p:txBody>
      </p:sp>
      <p:sp>
        <p:nvSpPr>
          <p:cNvPr id="7" name="Text 5"/>
          <p:cNvSpPr/>
          <p:nvPr/>
        </p:nvSpPr>
        <p:spPr>
          <a:xfrm>
            <a:off x="777240" y="2075688"/>
            <a:ext cx="3058058" cy="685800"/>
          </a:xfrm>
          <a:prstGeom prst="rect">
            <a:avLst/>
          </a:prstGeom>
          <a:noFill/>
          <a:ln/>
        </p:spPr>
        <p:txBody>
          <a:bodyPr wrap="square" lIns="0" tIns="0" rIns="0" bIns="0" rtlCol="0" anchor="t"/>
          <a:lstStyle/>
          <a:p>
            <a:pPr marL="0" indent="0">
              <a:lnSpc>
                <a:spcPct val="100000"/>
              </a:lnSpc>
              <a:buNone/>
            </a:pPr>
            <a:r>
              <a:rPr lang="en-US" sz="2000" b="1" dirty="0">
                <a:solidFill>
                  <a:srgbClr val="02C39A"/>
                </a:solidFill>
                <a:latin typeface="Cambria" pitchFamily="34" charset="0"/>
                <a:ea typeface="Cambria" pitchFamily="34" charset="-122"/>
                <a:cs typeface="Cambria" pitchFamily="34" charset="-120"/>
              </a:rPr>
              <a:t>92</a:t>
            </a:r>
            <a:endParaRPr lang="en-US" sz="2000" dirty="0"/>
          </a:p>
        </p:txBody>
      </p:sp>
      <p:sp>
        <p:nvSpPr>
          <p:cNvPr id="8" name="Text 6"/>
          <p:cNvSpPr/>
          <p:nvPr/>
        </p:nvSpPr>
        <p:spPr>
          <a:xfrm>
            <a:off x="777240" y="2788920"/>
            <a:ext cx="3058058" cy="731520"/>
          </a:xfrm>
          <a:prstGeom prst="rect">
            <a:avLst/>
          </a:prstGeom>
          <a:noFill/>
          <a:ln/>
        </p:spPr>
        <p:txBody>
          <a:bodyPr wrap="square" lIns="0" tIns="0" rIns="0" bIns="0" rtlCol="0" anchor="t"/>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Caucasian adolescent girls, aged 9–14</a:t>
            </a:r>
            <a:endParaRPr lang="en-US" sz="1150" dirty="0"/>
          </a:p>
        </p:txBody>
      </p:sp>
      <p:sp>
        <p:nvSpPr>
          <p:cNvPr id="9" name="Shape 7"/>
          <p:cNvSpPr/>
          <p:nvPr/>
        </p:nvSpPr>
        <p:spPr>
          <a:xfrm>
            <a:off x="4338218" y="1874520"/>
            <a:ext cx="3515258" cy="1737360"/>
          </a:xfrm>
          <a:prstGeom prst="roundRect">
            <a:avLst>
              <a:gd name="adj" fmla="val 5263"/>
            </a:avLst>
          </a:prstGeom>
          <a:solidFill>
            <a:srgbClr val="0A4C52"/>
          </a:solidFill>
          <a:ln/>
        </p:spPr>
        <p:txBody>
          <a:bodyPr/>
          <a:lstStyle/>
          <a:p>
            <a:endParaRPr lang="en-CA"/>
          </a:p>
        </p:txBody>
      </p:sp>
      <p:sp>
        <p:nvSpPr>
          <p:cNvPr id="10" name="Text 8"/>
          <p:cNvSpPr/>
          <p:nvPr/>
        </p:nvSpPr>
        <p:spPr>
          <a:xfrm>
            <a:off x="4566818" y="2075688"/>
            <a:ext cx="3058058" cy="685800"/>
          </a:xfrm>
          <a:prstGeom prst="rect">
            <a:avLst/>
          </a:prstGeom>
          <a:noFill/>
          <a:ln/>
        </p:spPr>
        <p:txBody>
          <a:bodyPr wrap="square" lIns="0" tIns="0" rIns="0" bIns="0" rtlCol="0" anchor="t"/>
          <a:lstStyle/>
          <a:p>
            <a:pPr marL="0" indent="0">
              <a:lnSpc>
                <a:spcPct val="100000"/>
              </a:lnSpc>
              <a:buNone/>
            </a:pPr>
            <a:r>
              <a:rPr lang="en-US" sz="2000" b="1" dirty="0">
                <a:solidFill>
                  <a:srgbClr val="02C39A"/>
                </a:solidFill>
                <a:latin typeface="Cambria" pitchFamily="34" charset="0"/>
                <a:ea typeface="Cambria" pitchFamily="34" charset="-122"/>
                <a:cs typeface="Cambria" pitchFamily="34" charset="-120"/>
              </a:rPr>
              <a:t>Saliva DNA +</a:t>
            </a:r>
            <a:endParaRPr lang="en-US" sz="2000" dirty="0"/>
          </a:p>
          <a:p>
            <a:pPr marL="0" indent="0">
              <a:lnSpc>
                <a:spcPct val="100000"/>
              </a:lnSpc>
              <a:buNone/>
            </a:pPr>
            <a:r>
              <a:rPr lang="en-US" sz="2000" b="1" dirty="0">
                <a:solidFill>
                  <a:srgbClr val="02C39A"/>
                </a:solidFill>
                <a:latin typeface="Cambria" pitchFamily="34" charset="0"/>
                <a:ea typeface="Cambria" pitchFamily="34" charset="-122"/>
                <a:cs typeface="Cambria" pitchFamily="34" charset="-120"/>
              </a:rPr>
              <a:t>clinical interviews</a:t>
            </a:r>
            <a:endParaRPr lang="en-US" sz="2000" dirty="0"/>
          </a:p>
        </p:txBody>
      </p:sp>
      <p:sp>
        <p:nvSpPr>
          <p:cNvPr id="11" name="Text 9"/>
          <p:cNvSpPr/>
          <p:nvPr/>
        </p:nvSpPr>
        <p:spPr>
          <a:xfrm>
            <a:off x="4566818" y="2788920"/>
            <a:ext cx="3058058" cy="731520"/>
          </a:xfrm>
          <a:prstGeom prst="rect">
            <a:avLst/>
          </a:prstGeom>
          <a:noFill/>
          <a:ln/>
        </p:spPr>
        <p:txBody>
          <a:bodyPr wrap="square" lIns="0" tIns="0" rIns="0" bIns="0" rtlCol="0" anchor="t"/>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with both mothers and daughters</a:t>
            </a:r>
            <a:endParaRPr lang="en-US" sz="1150" dirty="0"/>
          </a:p>
        </p:txBody>
      </p:sp>
      <p:sp>
        <p:nvSpPr>
          <p:cNvPr id="12" name="Shape 10"/>
          <p:cNvSpPr/>
          <p:nvPr/>
        </p:nvSpPr>
        <p:spPr>
          <a:xfrm>
            <a:off x="8127797" y="1874520"/>
            <a:ext cx="3515258" cy="1737360"/>
          </a:xfrm>
          <a:prstGeom prst="roundRect">
            <a:avLst>
              <a:gd name="adj" fmla="val 5263"/>
            </a:avLst>
          </a:prstGeom>
          <a:solidFill>
            <a:srgbClr val="0A4C52"/>
          </a:solidFill>
          <a:ln/>
        </p:spPr>
        <p:txBody>
          <a:bodyPr/>
          <a:lstStyle/>
          <a:p>
            <a:endParaRPr lang="en-CA"/>
          </a:p>
        </p:txBody>
      </p:sp>
      <p:sp>
        <p:nvSpPr>
          <p:cNvPr id="13" name="Text 11"/>
          <p:cNvSpPr/>
          <p:nvPr/>
        </p:nvSpPr>
        <p:spPr>
          <a:xfrm>
            <a:off x="8356397" y="2075688"/>
            <a:ext cx="3058058" cy="685800"/>
          </a:xfrm>
          <a:prstGeom prst="rect">
            <a:avLst/>
          </a:prstGeom>
          <a:noFill/>
          <a:ln/>
        </p:spPr>
        <p:txBody>
          <a:bodyPr wrap="square" lIns="0" tIns="0" rIns="0" bIns="0" rtlCol="0" anchor="t"/>
          <a:lstStyle/>
          <a:p>
            <a:pPr marL="0" indent="0">
              <a:lnSpc>
                <a:spcPct val="100000"/>
              </a:lnSpc>
              <a:buNone/>
            </a:pPr>
            <a:r>
              <a:rPr lang="en-US" sz="2000" b="1" dirty="0">
                <a:solidFill>
                  <a:srgbClr val="02C39A"/>
                </a:solidFill>
                <a:latin typeface="Cambria" pitchFamily="34" charset="0"/>
                <a:ea typeface="Cambria" pitchFamily="34" charset="-122"/>
                <a:cs typeface="Cambria" pitchFamily="34" charset="-120"/>
              </a:rPr>
              <a:t>65% / 35%</a:t>
            </a:r>
            <a:endParaRPr lang="en-US" sz="2000" dirty="0"/>
          </a:p>
        </p:txBody>
      </p:sp>
      <p:sp>
        <p:nvSpPr>
          <p:cNvPr id="14" name="Text 12"/>
          <p:cNvSpPr/>
          <p:nvPr/>
        </p:nvSpPr>
        <p:spPr>
          <a:xfrm>
            <a:off x="8356397" y="2788920"/>
            <a:ext cx="3058058" cy="731520"/>
          </a:xfrm>
          <a:prstGeom prst="rect">
            <a:avLst/>
          </a:prstGeom>
          <a:noFill/>
          <a:ln/>
        </p:spPr>
        <p:txBody>
          <a:bodyPr wrap="square" lIns="0" tIns="0" rIns="0" bIns="0" rtlCol="0" anchor="t"/>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split between low- and high-adversity groups</a:t>
            </a:r>
            <a:endParaRPr lang="en-US" sz="1150" dirty="0"/>
          </a:p>
        </p:txBody>
      </p:sp>
      <p:sp>
        <p:nvSpPr>
          <p:cNvPr id="15" name="Text 13"/>
          <p:cNvSpPr/>
          <p:nvPr/>
        </p:nvSpPr>
        <p:spPr>
          <a:xfrm>
            <a:off x="548640" y="3794760"/>
            <a:ext cx="73152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How adversity groups were defined:</a:t>
            </a:r>
            <a:endParaRPr lang="en-US" sz="1300" dirty="0"/>
          </a:p>
        </p:txBody>
      </p:sp>
      <p:sp>
        <p:nvSpPr>
          <p:cNvPr id="16" name="Text 14"/>
          <p:cNvSpPr/>
          <p:nvPr/>
        </p:nvSpPr>
        <p:spPr>
          <a:xfrm>
            <a:off x="548640" y="4160520"/>
            <a:ext cx="11094415" cy="914400"/>
          </a:xfrm>
          <a:prstGeom prst="rect">
            <a:avLst/>
          </a:prstGeom>
          <a:noFill/>
          <a:ln/>
        </p:spPr>
        <p:txBody>
          <a:bodyPr wrap="square" lIns="0" tIns="0" rIns="0" bIns="0" rtlCol="0" anchor="ctr"/>
          <a:lstStyle/>
          <a:p>
            <a:pPr marL="0" indent="0">
              <a:lnSpc>
                <a:spcPct val="130000"/>
              </a:lnSpc>
              <a:buNone/>
            </a:pPr>
            <a:r>
              <a:rPr lang="en-US" sz="1250" b="1" dirty="0">
                <a:solidFill>
                  <a:srgbClr val="00A896"/>
                </a:solidFill>
                <a:latin typeface="Calibri" pitchFamily="34" charset="0"/>
                <a:ea typeface="Calibri" pitchFamily="34" charset="-122"/>
                <a:cs typeface="Calibri" pitchFamily="34" charset="-120"/>
              </a:rPr>
              <a:t>Low adversity (65%): </a:t>
            </a:r>
            <a:r>
              <a:rPr lang="en-US" sz="1250" dirty="0">
                <a:solidFill>
                  <a:srgbClr val="E3F3F1"/>
                </a:solidFill>
                <a:latin typeface="Calibri" pitchFamily="34" charset="0"/>
                <a:ea typeface="Calibri" pitchFamily="34" charset="-122"/>
                <a:cs typeface="Calibri" pitchFamily="34" charset="-120"/>
              </a:rPr>
              <a:t>mother had no history of major depressive disorder (MDD) or other mental illness.
</a:t>
            </a:r>
            <a:r>
              <a:rPr lang="en-US" sz="1250" b="1" dirty="0">
                <a:solidFill>
                  <a:srgbClr val="02C39A"/>
                </a:solidFill>
                <a:latin typeface="Calibri" pitchFamily="34" charset="0"/>
                <a:ea typeface="Calibri" pitchFamily="34" charset="-122"/>
                <a:cs typeface="Calibri" pitchFamily="34" charset="-120"/>
              </a:rPr>
              <a:t>High adversity (35%): </a:t>
            </a:r>
            <a:r>
              <a:rPr lang="en-US" sz="1250" dirty="0">
                <a:solidFill>
                  <a:srgbClr val="E3F3F1"/>
                </a:solidFill>
                <a:latin typeface="Calibri" pitchFamily="34" charset="0"/>
                <a:ea typeface="Calibri" pitchFamily="34" charset="-122"/>
                <a:cs typeface="Calibri" pitchFamily="34" charset="-120"/>
              </a:rPr>
              <a:t>mother had MDD with at least two major depressive episodes during the daughter’s lifetime, currently in remission.</a:t>
            </a:r>
            <a:endParaRPr lang="en-US" sz="1250" dirty="0"/>
          </a:p>
        </p:txBody>
      </p:sp>
      <p:sp>
        <p:nvSpPr>
          <p:cNvPr id="17" name="Shape 15"/>
          <p:cNvSpPr/>
          <p:nvPr/>
        </p:nvSpPr>
        <p:spPr>
          <a:xfrm>
            <a:off x="548640" y="5166360"/>
            <a:ext cx="11094415" cy="1234440"/>
          </a:xfrm>
          <a:prstGeom prst="roundRect">
            <a:avLst>
              <a:gd name="adj" fmla="val 7407"/>
            </a:avLst>
          </a:prstGeom>
          <a:solidFill>
            <a:srgbClr val="02C39A"/>
          </a:solidFill>
          <a:ln/>
        </p:spPr>
        <p:txBody>
          <a:bodyPr/>
          <a:lstStyle/>
          <a:p>
            <a:endParaRPr lang="en-CA"/>
          </a:p>
        </p:txBody>
      </p:sp>
      <p:sp>
        <p:nvSpPr>
          <p:cNvPr id="18" name="Text 16"/>
          <p:cNvSpPr/>
          <p:nvPr/>
        </p:nvSpPr>
        <p:spPr>
          <a:xfrm>
            <a:off x="914400" y="5330952"/>
            <a:ext cx="2743200" cy="274320"/>
          </a:xfrm>
          <a:prstGeom prst="rect">
            <a:avLst/>
          </a:prstGeom>
          <a:noFill/>
          <a:ln/>
        </p:spPr>
        <p:txBody>
          <a:bodyPr wrap="square" lIns="0" tIns="0" rIns="0" bIns="0" rtlCol="0" anchor="ctr"/>
          <a:lstStyle/>
          <a:p>
            <a:pPr marL="0" indent="0">
              <a:buNone/>
            </a:pPr>
            <a:r>
              <a:rPr lang="en-US" sz="1100" b="1" kern="0" spc="100" dirty="0">
                <a:solidFill>
                  <a:srgbClr val="013A40"/>
                </a:solidFill>
                <a:latin typeface="Calibri" pitchFamily="34" charset="0"/>
                <a:ea typeface="Calibri" pitchFamily="34" charset="-122"/>
                <a:cs typeface="Calibri" pitchFamily="34" charset="-120"/>
              </a:rPr>
              <a:t>KEY FINDING</a:t>
            </a:r>
            <a:endParaRPr lang="en-US" sz="1100" dirty="0"/>
          </a:p>
        </p:txBody>
      </p:sp>
      <p:sp>
        <p:nvSpPr>
          <p:cNvPr id="19" name="Text 17"/>
          <p:cNvSpPr/>
          <p:nvPr/>
        </p:nvSpPr>
        <p:spPr>
          <a:xfrm>
            <a:off x="914400" y="5605272"/>
            <a:ext cx="10362895" cy="777240"/>
          </a:xfrm>
          <a:prstGeom prst="rect">
            <a:avLst/>
          </a:prstGeom>
          <a:noFill/>
          <a:ln/>
        </p:spPr>
        <p:txBody>
          <a:bodyPr wrap="square" lIns="0" tIns="0" rIns="0" bIns="0" rtlCol="0" anchor="t"/>
          <a:lstStyle/>
          <a:p>
            <a:pPr marL="0" indent="0">
              <a:lnSpc>
                <a:spcPct val="120000"/>
              </a:lnSpc>
              <a:buNone/>
            </a:pPr>
            <a:r>
              <a:rPr lang="en-US" sz="1200" dirty="0">
                <a:solidFill>
                  <a:srgbClr val="013A40"/>
                </a:solidFill>
                <a:latin typeface="Calibri" pitchFamily="34" charset="0"/>
                <a:ea typeface="Calibri" pitchFamily="34" charset="-122"/>
                <a:cs typeface="Calibri" pitchFamily="34" charset="-120"/>
              </a:rPr>
              <a:t>Girls in the high-adversity group who also carried the OXTR variation showed significantly higher depression, physical anxiety, and social anxiety than all other groups. Girls in the high-adversity group without the variation looked similar to the low-adversity groups — the gene mattered most when environmental risk was also present.</a:t>
            </a:r>
            <a:endParaRPr lang="en-US" sz="1200" dirty="0"/>
          </a:p>
        </p:txBody>
      </p:sp>
      <p:sp>
        <p:nvSpPr>
          <p:cNvPr id="20" name="Text 18"/>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Genetic factors • Applied research</a:t>
            </a:r>
            <a:endParaRPr lang="en-US" sz="1000" dirty="0"/>
          </a:p>
        </p:txBody>
      </p:sp>
      <p:sp>
        <p:nvSpPr>
          <p:cNvPr id="21" name="Text 19"/>
          <p:cNvSpPr/>
          <p:nvPr/>
        </p:nvSpPr>
        <p:spPr>
          <a:xfrm>
            <a:off x="8076895" y="6473952"/>
            <a:ext cx="365760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Biological Factors: SAD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640080"/>
          </a:xfrm>
          <a:prstGeom prst="rect">
            <a:avLst/>
          </a:prstGeom>
          <a:noFill/>
          <a:ln/>
        </p:spPr>
        <p:txBody>
          <a:bodyPr wrap="square" lIns="0" tIns="0" rIns="0" bIns="0" rtlCol="0" anchor="ctr"/>
          <a:lstStyle/>
          <a:p>
            <a:pPr marL="0" indent="0" algn="l">
              <a:buNone/>
            </a:pPr>
            <a:r>
              <a:rPr lang="en-US" sz="3000" b="1" dirty="0">
                <a:solidFill>
                  <a:srgbClr val="013A40"/>
                </a:solidFill>
                <a:latin typeface="Cambria" pitchFamily="34" charset="0"/>
                <a:ea typeface="Cambria" pitchFamily="34" charset="-122"/>
                <a:cs typeface="Cambria" pitchFamily="34" charset="-120"/>
              </a:rPr>
              <a:t>Evaluating the Genetic Evidence</a:t>
            </a:r>
            <a:endParaRPr lang="en-US" sz="3000" dirty="0"/>
          </a:p>
        </p:txBody>
      </p:sp>
      <p:sp>
        <p:nvSpPr>
          <p:cNvPr id="3" name="Text 1"/>
          <p:cNvSpPr/>
          <p:nvPr/>
        </p:nvSpPr>
        <p:spPr>
          <a:xfrm>
            <a:off x="548640" y="987552"/>
            <a:ext cx="11094415" cy="365760"/>
          </a:xfrm>
          <a:prstGeom prst="rect">
            <a:avLst/>
          </a:prstGeom>
          <a:noFill/>
          <a:ln/>
        </p:spPr>
        <p:txBody>
          <a:bodyPr wrap="square" lIns="0" tIns="0" rIns="0" bIns="0" rtlCol="0" anchor="ctr"/>
          <a:lstStyle/>
          <a:p>
            <a:pPr marL="0" indent="0" algn="l">
              <a:buNone/>
            </a:pPr>
            <a:r>
              <a:rPr lang="en-US" sz="1400" i="1" dirty="0">
                <a:solidFill>
                  <a:srgbClr val="5B6B70"/>
                </a:solidFill>
                <a:latin typeface="Calibri" pitchFamily="34" charset="0"/>
                <a:ea typeface="Calibri" pitchFamily="34" charset="-122"/>
                <a:cs typeface="Calibri" pitchFamily="34" charset="-120"/>
              </a:rPr>
              <a:t>Strengths and limitations of genetic explanations for SAD</a:t>
            </a:r>
            <a:endParaRPr lang="en-US" sz="1400" dirty="0"/>
          </a:p>
        </p:txBody>
      </p:sp>
      <p:sp>
        <p:nvSpPr>
          <p:cNvPr id="4" name="Shape 2"/>
          <p:cNvSpPr/>
          <p:nvPr/>
        </p:nvSpPr>
        <p:spPr>
          <a:xfrm>
            <a:off x="548640" y="1737360"/>
            <a:ext cx="5257800" cy="4343400"/>
          </a:xfrm>
          <a:prstGeom prst="roundRect">
            <a:avLst>
              <a:gd name="adj" fmla="val 2526"/>
            </a:avLst>
          </a:prstGeom>
          <a:solidFill>
            <a:srgbClr val="F2F9F8"/>
          </a:solidFill>
          <a:ln/>
        </p:spPr>
        <p:txBody>
          <a:bodyPr/>
          <a:lstStyle/>
          <a:p>
            <a:endParaRPr lang="en-CA"/>
          </a:p>
        </p:txBody>
      </p:sp>
      <p:sp>
        <p:nvSpPr>
          <p:cNvPr id="5" name="Shape 3"/>
          <p:cNvSpPr/>
          <p:nvPr/>
        </p:nvSpPr>
        <p:spPr>
          <a:xfrm>
            <a:off x="868680" y="2057400"/>
            <a:ext cx="502920" cy="502920"/>
          </a:xfrm>
          <a:prstGeom prst="ellipse">
            <a:avLst/>
          </a:prstGeom>
          <a:solidFill>
            <a:srgbClr val="00A896"/>
          </a:solidFill>
          <a:ln/>
        </p:spPr>
        <p:txBody>
          <a:bodyPr/>
          <a:lstStyle/>
          <a:p>
            <a:endParaRPr lang="en-CA"/>
          </a:p>
        </p:txBody>
      </p:sp>
      <p:sp>
        <p:nvSpPr>
          <p:cNvPr id="6" name="Text 4"/>
          <p:cNvSpPr/>
          <p:nvPr/>
        </p:nvSpPr>
        <p:spPr>
          <a:xfrm>
            <a:off x="868680" y="20574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1508760" y="2057400"/>
            <a:ext cx="3977640" cy="502920"/>
          </a:xfrm>
          <a:prstGeom prst="rect">
            <a:avLst/>
          </a:prstGeom>
          <a:noFill/>
          <a:ln/>
        </p:spPr>
        <p:txBody>
          <a:bodyPr wrap="square" lIns="0" tIns="0" rIns="0" bIns="0" rtlCol="0" anchor="ctr"/>
          <a:lstStyle/>
          <a:p>
            <a:pPr marL="0" indent="0">
              <a:buNone/>
            </a:pPr>
            <a:r>
              <a:rPr lang="en-US" sz="1800" b="1" dirty="0">
                <a:solidFill>
                  <a:srgbClr val="013A40"/>
                </a:solidFill>
                <a:latin typeface="Cambria" pitchFamily="34" charset="0"/>
                <a:ea typeface="Cambria" pitchFamily="34" charset="-122"/>
                <a:cs typeface="Cambria" pitchFamily="34" charset="-120"/>
              </a:rPr>
              <a:t>Strengths</a:t>
            </a:r>
            <a:endParaRPr lang="en-US" sz="1800" dirty="0"/>
          </a:p>
        </p:txBody>
      </p:sp>
      <p:sp>
        <p:nvSpPr>
          <p:cNvPr id="8" name="Shape 6"/>
          <p:cNvSpPr/>
          <p:nvPr/>
        </p:nvSpPr>
        <p:spPr>
          <a:xfrm>
            <a:off x="868680" y="2788920"/>
            <a:ext cx="4617720" cy="1005840"/>
          </a:xfrm>
          <a:prstGeom prst="roundRect">
            <a:avLst>
              <a:gd name="adj" fmla="val 7273"/>
            </a:avLst>
          </a:prstGeom>
          <a:solidFill>
            <a:srgbClr val="FFFFFF"/>
          </a:solidFill>
          <a:ln/>
        </p:spPr>
        <p:txBody>
          <a:bodyPr/>
          <a:lstStyle/>
          <a:p>
            <a:endParaRPr lang="en-CA"/>
          </a:p>
        </p:txBody>
      </p:sp>
      <p:sp>
        <p:nvSpPr>
          <p:cNvPr id="9" name="Text 7"/>
          <p:cNvSpPr/>
          <p:nvPr/>
        </p:nvSpPr>
        <p:spPr>
          <a:xfrm>
            <a:off x="1051560" y="2880360"/>
            <a:ext cx="4251960" cy="822960"/>
          </a:xfrm>
          <a:prstGeom prst="rect">
            <a:avLst/>
          </a:prstGeom>
          <a:noFill/>
          <a:ln/>
        </p:spPr>
        <p:txBody>
          <a:bodyPr wrap="square" lIns="0" tIns="0" rIns="0" bIns="0" rtlCol="0" anchor="ctr"/>
          <a:lstStyle/>
          <a:p>
            <a:pPr marL="0" indent="0">
              <a:lnSpc>
                <a:spcPct val="118000"/>
              </a:lnSpc>
              <a:buNone/>
            </a:pPr>
            <a:r>
              <a:rPr lang="en-US" sz="1150" dirty="0">
                <a:solidFill>
                  <a:srgbClr val="1F2937"/>
                </a:solidFill>
                <a:latin typeface="Calibri" pitchFamily="34" charset="0"/>
                <a:ea typeface="Calibri" pitchFamily="34" charset="-122"/>
                <a:cs typeface="Calibri" pitchFamily="34" charset="-120"/>
              </a:rPr>
              <a:t>Centers epigenetics — the interaction between genes and environment — giving a non-reductionist account that underpins the diathesis-stress model.</a:t>
            </a:r>
            <a:endParaRPr lang="en-US" sz="1150" dirty="0"/>
          </a:p>
        </p:txBody>
      </p:sp>
      <p:sp>
        <p:nvSpPr>
          <p:cNvPr id="10" name="Shape 8"/>
          <p:cNvSpPr/>
          <p:nvPr/>
        </p:nvSpPr>
        <p:spPr>
          <a:xfrm>
            <a:off x="868680" y="3886200"/>
            <a:ext cx="4617720" cy="1005840"/>
          </a:xfrm>
          <a:prstGeom prst="roundRect">
            <a:avLst>
              <a:gd name="adj" fmla="val 7273"/>
            </a:avLst>
          </a:prstGeom>
          <a:solidFill>
            <a:srgbClr val="FFFFFF"/>
          </a:solidFill>
          <a:ln/>
        </p:spPr>
        <p:txBody>
          <a:bodyPr/>
          <a:lstStyle/>
          <a:p>
            <a:endParaRPr lang="en-CA"/>
          </a:p>
        </p:txBody>
      </p:sp>
      <p:sp>
        <p:nvSpPr>
          <p:cNvPr id="11" name="Text 9"/>
          <p:cNvSpPr/>
          <p:nvPr/>
        </p:nvSpPr>
        <p:spPr>
          <a:xfrm>
            <a:off x="1051560" y="3977640"/>
            <a:ext cx="4251960" cy="822960"/>
          </a:xfrm>
          <a:prstGeom prst="rect">
            <a:avLst/>
          </a:prstGeom>
          <a:noFill/>
          <a:ln/>
        </p:spPr>
        <p:txBody>
          <a:bodyPr wrap="square" lIns="0" tIns="0" rIns="0" bIns="0" rtlCol="0" anchor="ctr"/>
          <a:lstStyle/>
          <a:p>
            <a:pPr marL="0" indent="0">
              <a:lnSpc>
                <a:spcPct val="118000"/>
              </a:lnSpc>
              <a:buNone/>
            </a:pPr>
            <a:r>
              <a:rPr lang="en-US" sz="1150" dirty="0">
                <a:solidFill>
                  <a:srgbClr val="1F2937"/>
                </a:solidFill>
                <a:latin typeface="Calibri" pitchFamily="34" charset="0"/>
                <a:ea typeface="Calibri" pitchFamily="34" charset="-122"/>
                <a:cs typeface="Calibri" pitchFamily="34" charset="-120"/>
              </a:rPr>
              <a:t>Gene linkage analysis is a powerful, well-established method for locating genes involved in a disorder.</a:t>
            </a:r>
            <a:endParaRPr lang="en-US" sz="1150" dirty="0"/>
          </a:p>
        </p:txBody>
      </p:sp>
      <p:sp>
        <p:nvSpPr>
          <p:cNvPr id="12" name="Shape 10"/>
          <p:cNvSpPr/>
          <p:nvPr/>
        </p:nvSpPr>
        <p:spPr>
          <a:xfrm>
            <a:off x="868680" y="4983480"/>
            <a:ext cx="4617720" cy="1005840"/>
          </a:xfrm>
          <a:prstGeom prst="roundRect">
            <a:avLst>
              <a:gd name="adj" fmla="val 7273"/>
            </a:avLst>
          </a:prstGeom>
          <a:solidFill>
            <a:srgbClr val="FFFFFF"/>
          </a:solidFill>
          <a:ln/>
        </p:spPr>
        <p:txBody>
          <a:bodyPr/>
          <a:lstStyle/>
          <a:p>
            <a:endParaRPr lang="en-CA"/>
          </a:p>
        </p:txBody>
      </p:sp>
      <p:sp>
        <p:nvSpPr>
          <p:cNvPr id="13" name="Text 11"/>
          <p:cNvSpPr/>
          <p:nvPr/>
        </p:nvSpPr>
        <p:spPr>
          <a:xfrm>
            <a:off x="1051560" y="5074920"/>
            <a:ext cx="4251960" cy="822960"/>
          </a:xfrm>
          <a:prstGeom prst="rect">
            <a:avLst/>
          </a:prstGeom>
          <a:noFill/>
          <a:ln/>
        </p:spPr>
        <p:txBody>
          <a:bodyPr wrap="square" lIns="0" tIns="0" rIns="0" bIns="0" rtlCol="0" anchor="ctr"/>
          <a:lstStyle/>
          <a:p>
            <a:pPr marL="0" indent="0">
              <a:lnSpc>
                <a:spcPct val="118000"/>
              </a:lnSpc>
              <a:buNone/>
            </a:pPr>
            <a:r>
              <a:rPr lang="en-US" sz="1150" dirty="0">
                <a:solidFill>
                  <a:srgbClr val="1F2937"/>
                </a:solidFill>
                <a:latin typeface="Calibri" pitchFamily="34" charset="0"/>
                <a:ea typeface="Calibri" pitchFamily="34" charset="-122"/>
                <a:cs typeface="Calibri" pitchFamily="34" charset="-120"/>
              </a:rPr>
              <a:t>Findings such as Thompson et al. (2011) demonstrate a measurable gene × environment interaction rather than a purely genetic claim.</a:t>
            </a:r>
            <a:endParaRPr lang="en-US" sz="1150" dirty="0"/>
          </a:p>
        </p:txBody>
      </p:sp>
      <p:sp>
        <p:nvSpPr>
          <p:cNvPr id="14" name="Shape 12"/>
          <p:cNvSpPr/>
          <p:nvPr/>
        </p:nvSpPr>
        <p:spPr>
          <a:xfrm>
            <a:off x="6172200" y="1737360"/>
            <a:ext cx="5257800" cy="4343400"/>
          </a:xfrm>
          <a:prstGeom prst="roundRect">
            <a:avLst>
              <a:gd name="adj" fmla="val 2526"/>
            </a:avLst>
          </a:prstGeom>
          <a:solidFill>
            <a:srgbClr val="F2F9F8"/>
          </a:solidFill>
          <a:ln/>
        </p:spPr>
        <p:txBody>
          <a:bodyPr/>
          <a:lstStyle/>
          <a:p>
            <a:endParaRPr lang="en-CA"/>
          </a:p>
        </p:txBody>
      </p:sp>
      <p:sp>
        <p:nvSpPr>
          <p:cNvPr id="15" name="Shape 13"/>
          <p:cNvSpPr/>
          <p:nvPr/>
        </p:nvSpPr>
        <p:spPr>
          <a:xfrm>
            <a:off x="6492240" y="2057400"/>
            <a:ext cx="502920" cy="502920"/>
          </a:xfrm>
          <a:prstGeom prst="ellipse">
            <a:avLst/>
          </a:prstGeom>
          <a:solidFill>
            <a:srgbClr val="028090"/>
          </a:solidFill>
          <a:ln/>
        </p:spPr>
        <p:txBody>
          <a:bodyPr/>
          <a:lstStyle/>
          <a:p>
            <a:endParaRPr lang="en-CA"/>
          </a:p>
        </p:txBody>
      </p:sp>
      <p:sp>
        <p:nvSpPr>
          <p:cNvPr id="16" name="Text 14"/>
          <p:cNvSpPr/>
          <p:nvPr/>
        </p:nvSpPr>
        <p:spPr>
          <a:xfrm>
            <a:off x="6492240" y="20574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7132320" y="2057400"/>
            <a:ext cx="3977640" cy="502920"/>
          </a:xfrm>
          <a:prstGeom prst="rect">
            <a:avLst/>
          </a:prstGeom>
          <a:noFill/>
          <a:ln/>
        </p:spPr>
        <p:txBody>
          <a:bodyPr wrap="square" lIns="0" tIns="0" rIns="0" bIns="0" rtlCol="0" anchor="ctr"/>
          <a:lstStyle/>
          <a:p>
            <a:pPr marL="0" indent="0">
              <a:buNone/>
            </a:pPr>
            <a:r>
              <a:rPr lang="en-US" sz="1800" b="1" dirty="0">
                <a:solidFill>
                  <a:srgbClr val="013A40"/>
                </a:solidFill>
                <a:latin typeface="Cambria" pitchFamily="34" charset="0"/>
                <a:ea typeface="Cambria" pitchFamily="34" charset="-122"/>
                <a:cs typeface="Cambria" pitchFamily="34" charset="-120"/>
              </a:rPr>
              <a:t>Limitations</a:t>
            </a:r>
            <a:endParaRPr lang="en-US" sz="1800" dirty="0"/>
          </a:p>
        </p:txBody>
      </p:sp>
      <p:sp>
        <p:nvSpPr>
          <p:cNvPr id="18" name="Shape 16"/>
          <p:cNvSpPr/>
          <p:nvPr/>
        </p:nvSpPr>
        <p:spPr>
          <a:xfrm>
            <a:off x="6492240" y="2788920"/>
            <a:ext cx="4617720" cy="1005840"/>
          </a:xfrm>
          <a:prstGeom prst="roundRect">
            <a:avLst>
              <a:gd name="adj" fmla="val 7273"/>
            </a:avLst>
          </a:prstGeom>
          <a:solidFill>
            <a:srgbClr val="FFFFFF"/>
          </a:solidFill>
          <a:ln/>
        </p:spPr>
        <p:txBody>
          <a:bodyPr/>
          <a:lstStyle/>
          <a:p>
            <a:endParaRPr lang="en-CA"/>
          </a:p>
        </p:txBody>
      </p:sp>
      <p:sp>
        <p:nvSpPr>
          <p:cNvPr id="19" name="Text 17"/>
          <p:cNvSpPr/>
          <p:nvPr/>
        </p:nvSpPr>
        <p:spPr>
          <a:xfrm>
            <a:off x="6675120" y="2880360"/>
            <a:ext cx="4251960" cy="822960"/>
          </a:xfrm>
          <a:prstGeom prst="rect">
            <a:avLst/>
          </a:prstGeom>
          <a:noFill/>
          <a:ln/>
        </p:spPr>
        <p:txBody>
          <a:bodyPr wrap="square" lIns="0" tIns="0" rIns="0" bIns="0" rtlCol="0" anchor="ctr"/>
          <a:lstStyle/>
          <a:p>
            <a:pPr marL="0" indent="0">
              <a:lnSpc>
                <a:spcPct val="118000"/>
              </a:lnSpc>
              <a:buNone/>
            </a:pPr>
            <a:r>
              <a:rPr lang="en-US" sz="1150" dirty="0">
                <a:solidFill>
                  <a:srgbClr val="1F2937"/>
                </a:solidFill>
                <a:latin typeface="Calibri" pitchFamily="34" charset="0"/>
                <a:ea typeface="Calibri" pitchFamily="34" charset="-122"/>
                <a:cs typeface="Calibri" pitchFamily="34" charset="-120"/>
              </a:rPr>
              <a:t>How genes and environment interact to produce SAD is still not fully understood.</a:t>
            </a:r>
            <a:endParaRPr lang="en-US" sz="1150" dirty="0"/>
          </a:p>
        </p:txBody>
      </p:sp>
      <p:sp>
        <p:nvSpPr>
          <p:cNvPr id="20" name="Shape 18"/>
          <p:cNvSpPr/>
          <p:nvPr/>
        </p:nvSpPr>
        <p:spPr>
          <a:xfrm>
            <a:off x="6492240" y="3886200"/>
            <a:ext cx="4617720" cy="1005840"/>
          </a:xfrm>
          <a:prstGeom prst="roundRect">
            <a:avLst>
              <a:gd name="adj" fmla="val 7273"/>
            </a:avLst>
          </a:prstGeom>
          <a:solidFill>
            <a:srgbClr val="FFFFFF"/>
          </a:solidFill>
          <a:ln/>
        </p:spPr>
        <p:txBody>
          <a:bodyPr/>
          <a:lstStyle/>
          <a:p>
            <a:endParaRPr lang="en-CA"/>
          </a:p>
        </p:txBody>
      </p:sp>
      <p:sp>
        <p:nvSpPr>
          <p:cNvPr id="21" name="Text 19"/>
          <p:cNvSpPr/>
          <p:nvPr/>
        </p:nvSpPr>
        <p:spPr>
          <a:xfrm>
            <a:off x="6675120" y="3977640"/>
            <a:ext cx="4251960" cy="822960"/>
          </a:xfrm>
          <a:prstGeom prst="rect">
            <a:avLst/>
          </a:prstGeom>
          <a:noFill/>
          <a:ln/>
        </p:spPr>
        <p:txBody>
          <a:bodyPr wrap="square" lIns="0" tIns="0" rIns="0" bIns="0" rtlCol="0" anchor="ctr"/>
          <a:lstStyle/>
          <a:p>
            <a:pPr marL="0" indent="0">
              <a:lnSpc>
                <a:spcPct val="118000"/>
              </a:lnSpc>
              <a:buNone/>
            </a:pPr>
            <a:r>
              <a:rPr lang="en-US" sz="1150" dirty="0">
                <a:solidFill>
                  <a:srgbClr val="1F2937"/>
                </a:solidFill>
                <a:latin typeface="Calibri" pitchFamily="34" charset="0"/>
                <a:ea typeface="Calibri" pitchFamily="34" charset="-122"/>
                <a:cs typeface="Calibri" pitchFamily="34" charset="-120"/>
              </a:rPr>
              <a:t>Twin and family studies cannot cleanly separate genetic from environmental influence.</a:t>
            </a:r>
            <a:endParaRPr lang="en-US" sz="1150" dirty="0"/>
          </a:p>
        </p:txBody>
      </p:sp>
      <p:sp>
        <p:nvSpPr>
          <p:cNvPr id="22" name="Shape 20"/>
          <p:cNvSpPr/>
          <p:nvPr/>
        </p:nvSpPr>
        <p:spPr>
          <a:xfrm>
            <a:off x="6492240" y="4983480"/>
            <a:ext cx="4617720" cy="1005840"/>
          </a:xfrm>
          <a:prstGeom prst="roundRect">
            <a:avLst>
              <a:gd name="adj" fmla="val 7273"/>
            </a:avLst>
          </a:prstGeom>
          <a:solidFill>
            <a:srgbClr val="FFFFFF"/>
          </a:solidFill>
          <a:ln/>
        </p:spPr>
        <p:txBody>
          <a:bodyPr/>
          <a:lstStyle/>
          <a:p>
            <a:endParaRPr lang="en-CA"/>
          </a:p>
        </p:txBody>
      </p:sp>
      <p:sp>
        <p:nvSpPr>
          <p:cNvPr id="23" name="Text 21"/>
          <p:cNvSpPr/>
          <p:nvPr/>
        </p:nvSpPr>
        <p:spPr>
          <a:xfrm>
            <a:off x="6675120" y="5074920"/>
            <a:ext cx="4251960" cy="822960"/>
          </a:xfrm>
          <a:prstGeom prst="rect">
            <a:avLst/>
          </a:prstGeom>
          <a:noFill/>
          <a:ln/>
        </p:spPr>
        <p:txBody>
          <a:bodyPr wrap="square" lIns="0" tIns="0" rIns="0" bIns="0" rtlCol="0" anchor="ctr"/>
          <a:lstStyle/>
          <a:p>
            <a:pPr marL="0" indent="0">
              <a:lnSpc>
                <a:spcPct val="118000"/>
              </a:lnSpc>
              <a:buNone/>
            </a:pPr>
            <a:r>
              <a:rPr lang="en-US" sz="1150" dirty="0">
                <a:solidFill>
                  <a:srgbClr val="1F2937"/>
                </a:solidFill>
                <a:latin typeface="Calibri" pitchFamily="34" charset="0"/>
                <a:ea typeface="Calibri" pitchFamily="34" charset="-122"/>
                <a:cs typeface="Calibri" pitchFamily="34" charset="-120"/>
              </a:rPr>
              <a:t>Most of this research is correlational, so cause-and-effect cannot be established.</a:t>
            </a:r>
            <a:endParaRPr lang="en-US" sz="1150" dirty="0"/>
          </a:p>
        </p:txBody>
      </p:sp>
      <p:sp>
        <p:nvSpPr>
          <p:cNvPr id="24" name="Text 22"/>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B6B70"/>
                </a:solidFill>
                <a:latin typeface="Calibri" pitchFamily="34" charset="0"/>
                <a:ea typeface="Calibri" pitchFamily="34" charset="-122"/>
                <a:cs typeface="Calibri" pitchFamily="34" charset="-120"/>
              </a:rPr>
              <a:t>Genetic factors • Evaluation</a:t>
            </a:r>
            <a:endParaRPr lang="en-US" sz="1000" dirty="0"/>
          </a:p>
        </p:txBody>
      </p:sp>
      <p:sp>
        <p:nvSpPr>
          <p:cNvPr id="25" name="Text 23"/>
          <p:cNvSpPr/>
          <p:nvPr/>
        </p:nvSpPr>
        <p:spPr>
          <a:xfrm>
            <a:off x="8076895" y="6473952"/>
            <a:ext cx="3657600" cy="274320"/>
          </a:xfrm>
          <a:prstGeom prst="rect">
            <a:avLst/>
          </a:prstGeom>
          <a:noFill/>
          <a:ln/>
        </p:spPr>
        <p:txBody>
          <a:bodyPr wrap="square" rtlCol="0" anchor="ctr"/>
          <a:lstStyle/>
          <a:p>
            <a:pPr marL="0" indent="0" algn="r">
              <a:buNone/>
            </a:pPr>
            <a:r>
              <a:rPr lang="en-US" sz="1000" dirty="0">
                <a:solidFill>
                  <a:srgbClr val="5B6B70"/>
                </a:solidFill>
                <a:latin typeface="Calibri" pitchFamily="34" charset="0"/>
                <a:ea typeface="Calibri" pitchFamily="34" charset="-122"/>
                <a:cs typeface="Calibri" pitchFamily="34" charset="-120"/>
              </a:rPr>
              <a:t>Biological Factors: SAD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640080"/>
          </a:xfrm>
          <a:prstGeom prst="rect">
            <a:avLst/>
          </a:prstGeom>
          <a:noFill/>
          <a:ln/>
        </p:spPr>
        <p:txBody>
          <a:bodyPr wrap="square" lIns="0" tIns="0" rIns="0" bIns="0" rtlCol="0" anchor="ctr"/>
          <a:lstStyle/>
          <a:p>
            <a:pPr marL="0" indent="0" algn="l">
              <a:buNone/>
            </a:pPr>
            <a:r>
              <a:rPr lang="en-US" sz="3000" b="1" dirty="0">
                <a:solidFill>
                  <a:srgbClr val="013A40"/>
                </a:solidFill>
                <a:latin typeface="Cambria" pitchFamily="34" charset="0"/>
                <a:ea typeface="Cambria" pitchFamily="34" charset="-122"/>
                <a:cs typeface="Cambria" pitchFamily="34" charset="-120"/>
              </a:rPr>
              <a:t>Neurochemistry: Oxytocin and the Amygdala</a:t>
            </a:r>
            <a:endParaRPr lang="en-US" sz="3000" dirty="0"/>
          </a:p>
        </p:txBody>
      </p:sp>
      <p:sp>
        <p:nvSpPr>
          <p:cNvPr id="3" name="Text 1"/>
          <p:cNvSpPr/>
          <p:nvPr/>
        </p:nvSpPr>
        <p:spPr>
          <a:xfrm>
            <a:off x="548640" y="987552"/>
            <a:ext cx="11094415" cy="365760"/>
          </a:xfrm>
          <a:prstGeom prst="rect">
            <a:avLst/>
          </a:prstGeom>
          <a:noFill/>
          <a:ln/>
        </p:spPr>
        <p:txBody>
          <a:bodyPr wrap="square" lIns="0" tIns="0" rIns="0" bIns="0" rtlCol="0" anchor="ctr"/>
          <a:lstStyle/>
          <a:p>
            <a:pPr marL="0" indent="0" algn="l">
              <a:buNone/>
            </a:pPr>
            <a:r>
              <a:rPr lang="en-US" sz="1400" i="1" dirty="0">
                <a:solidFill>
                  <a:srgbClr val="5B6B70"/>
                </a:solidFill>
                <a:latin typeface="Calibri" pitchFamily="34" charset="0"/>
                <a:ea typeface="Calibri" pitchFamily="34" charset="-122"/>
                <a:cs typeface="Calibri" pitchFamily="34" charset="-120"/>
              </a:rPr>
              <a:t>Gorka et al. (2015) — randomized, double-blind, placebo-controlled study</a:t>
            </a:r>
            <a:endParaRPr lang="en-US" sz="1400" dirty="0"/>
          </a:p>
        </p:txBody>
      </p:sp>
      <p:sp>
        <p:nvSpPr>
          <p:cNvPr id="4" name="Shape 2"/>
          <p:cNvSpPr/>
          <p:nvPr/>
        </p:nvSpPr>
        <p:spPr>
          <a:xfrm>
            <a:off x="731520" y="1828800"/>
            <a:ext cx="1005840" cy="1005840"/>
          </a:xfrm>
          <a:prstGeom prst="ellipse">
            <a:avLst/>
          </a:prstGeom>
          <a:solidFill>
            <a:srgbClr val="028090"/>
          </a:solidFill>
          <a:ln/>
        </p:spPr>
        <p:txBody>
          <a:bodyPr/>
          <a:lstStyle/>
          <a:p>
            <a:endParaRPr lang="en-CA"/>
          </a:p>
        </p:txBody>
      </p:sp>
      <p:pic>
        <p:nvPicPr>
          <p:cNvPr id="5" name="Image 0" descr="preencoded.png"/>
          <p:cNvPicPr>
            <a:picLocks noChangeAspect="1"/>
          </p:cNvPicPr>
          <p:nvPr/>
        </p:nvPicPr>
        <p:blipFill>
          <a:blip r:embed="rId3"/>
          <a:stretch>
            <a:fillRect/>
          </a:stretch>
        </p:blipFill>
        <p:spPr>
          <a:xfrm>
            <a:off x="872338" y="1969618"/>
            <a:ext cx="724205" cy="724205"/>
          </a:xfrm>
          <a:prstGeom prst="rect">
            <a:avLst/>
          </a:prstGeom>
        </p:spPr>
      </p:pic>
      <p:sp>
        <p:nvSpPr>
          <p:cNvPr id="6" name="Text 3"/>
          <p:cNvSpPr/>
          <p:nvPr/>
        </p:nvSpPr>
        <p:spPr>
          <a:xfrm>
            <a:off x="548640" y="3017520"/>
            <a:ext cx="5120640" cy="1463040"/>
          </a:xfrm>
          <a:prstGeom prst="rect">
            <a:avLst/>
          </a:prstGeom>
          <a:noFill/>
          <a:ln/>
        </p:spPr>
        <p:txBody>
          <a:bodyPr wrap="square" lIns="0" tIns="0" rIns="0" bIns="0" rtlCol="0" anchor="t"/>
          <a:lstStyle/>
          <a:p>
            <a:pPr marL="0" indent="0">
              <a:lnSpc>
                <a:spcPct val="125000"/>
              </a:lnSpc>
              <a:buNone/>
            </a:pPr>
            <a:r>
              <a:rPr lang="en-US" sz="1300" dirty="0">
                <a:solidFill>
                  <a:srgbClr val="1F2937"/>
                </a:solidFill>
                <a:latin typeface="Calibri" pitchFamily="34" charset="0"/>
                <a:ea typeface="Calibri" pitchFamily="34" charset="-122"/>
                <a:cs typeface="Calibri" pitchFamily="34" charset="-120"/>
              </a:rPr>
              <a:t>The amygdala of people with lifetime SAD tends to be larger than in those without SAD, consistent with heavier use of this region to process fear. </a:t>
            </a:r>
            <a:r>
              <a:rPr lang="en-US" sz="1300" b="1" dirty="0">
                <a:solidFill>
                  <a:srgbClr val="1F2937"/>
                </a:solidFill>
                <a:latin typeface="Calibri" pitchFamily="34" charset="0"/>
                <a:ea typeface="Calibri" pitchFamily="34" charset="-122"/>
                <a:cs typeface="Calibri" pitchFamily="34" charset="-120"/>
              </a:rPr>
              <a:t>Gorka et al. (2015)</a:t>
            </a:r>
            <a:r>
              <a:rPr lang="en-US" sz="1300" dirty="0">
                <a:solidFill>
                  <a:srgbClr val="1F2937"/>
                </a:solidFill>
                <a:latin typeface="Calibri" pitchFamily="34" charset="0"/>
                <a:ea typeface="Calibri" pitchFamily="34" charset="-122"/>
                <a:cs typeface="Calibri" pitchFamily="34" charset="-120"/>
              </a:rPr>
              <a:t> examined how oxytocin affects amygdala responses to threatening social cues, such as fearful or angry faces.</a:t>
            </a:r>
            <a:endParaRPr lang="en-US" sz="1300" dirty="0"/>
          </a:p>
        </p:txBody>
      </p:sp>
      <p:sp>
        <p:nvSpPr>
          <p:cNvPr id="7" name="Shape 4"/>
          <p:cNvSpPr/>
          <p:nvPr/>
        </p:nvSpPr>
        <p:spPr>
          <a:xfrm>
            <a:off x="548640" y="4617720"/>
            <a:ext cx="5120640" cy="1234440"/>
          </a:xfrm>
          <a:prstGeom prst="roundRect">
            <a:avLst>
              <a:gd name="adj" fmla="val 7407"/>
            </a:avLst>
          </a:prstGeom>
          <a:solidFill>
            <a:srgbClr val="F2F9F8"/>
          </a:solidFill>
          <a:ln/>
        </p:spPr>
        <p:txBody>
          <a:bodyPr/>
          <a:lstStyle/>
          <a:p>
            <a:endParaRPr lang="en-CA"/>
          </a:p>
        </p:txBody>
      </p:sp>
      <p:sp>
        <p:nvSpPr>
          <p:cNvPr id="8" name="Text 5"/>
          <p:cNvSpPr/>
          <p:nvPr/>
        </p:nvSpPr>
        <p:spPr>
          <a:xfrm>
            <a:off x="822960" y="4754880"/>
            <a:ext cx="2194560" cy="274320"/>
          </a:xfrm>
          <a:prstGeom prst="rect">
            <a:avLst/>
          </a:prstGeom>
          <a:noFill/>
          <a:ln/>
        </p:spPr>
        <p:txBody>
          <a:bodyPr wrap="square" lIns="0" tIns="0" rIns="0" bIns="0" rtlCol="0" anchor="ctr"/>
          <a:lstStyle/>
          <a:p>
            <a:pPr marL="0" indent="0">
              <a:buNone/>
            </a:pPr>
            <a:r>
              <a:rPr lang="en-US" sz="1050" b="1" kern="0" spc="100" dirty="0">
                <a:solidFill>
                  <a:srgbClr val="028090"/>
                </a:solidFill>
                <a:latin typeface="Calibri" pitchFamily="34" charset="0"/>
                <a:ea typeface="Calibri" pitchFamily="34" charset="-122"/>
                <a:cs typeface="Calibri" pitchFamily="34" charset="-120"/>
              </a:rPr>
              <a:t>SAMPLE</a:t>
            </a:r>
            <a:endParaRPr lang="en-US" sz="1050" dirty="0"/>
          </a:p>
        </p:txBody>
      </p:sp>
      <p:sp>
        <p:nvSpPr>
          <p:cNvPr id="9" name="Text 6"/>
          <p:cNvSpPr/>
          <p:nvPr/>
        </p:nvSpPr>
        <p:spPr>
          <a:xfrm>
            <a:off x="822960" y="5029200"/>
            <a:ext cx="2377440" cy="731520"/>
          </a:xfrm>
          <a:prstGeom prst="rect">
            <a:avLst/>
          </a:prstGeom>
          <a:noFill/>
          <a:ln/>
        </p:spPr>
        <p:txBody>
          <a:bodyPr wrap="square" lIns="0" tIns="0" rIns="0" bIns="0" rtlCol="0" anchor="t"/>
          <a:lstStyle/>
          <a:p>
            <a:pPr marL="0" indent="0">
              <a:lnSpc>
                <a:spcPct val="120000"/>
              </a:lnSpc>
              <a:buNone/>
            </a:pPr>
            <a:r>
              <a:rPr lang="en-US" sz="1250" dirty="0">
                <a:solidFill>
                  <a:srgbClr val="1F2937"/>
                </a:solidFill>
                <a:latin typeface="Calibri" pitchFamily="34" charset="0"/>
                <a:ea typeface="Calibri" pitchFamily="34" charset="-122"/>
                <a:cs typeface="Calibri" pitchFamily="34" charset="-120"/>
              </a:rPr>
              <a:t>18 control participants</a:t>
            </a:r>
            <a:endParaRPr lang="en-US" sz="1250" dirty="0"/>
          </a:p>
          <a:p>
            <a:pPr marL="0" indent="0">
              <a:lnSpc>
                <a:spcPct val="120000"/>
              </a:lnSpc>
              <a:buNone/>
            </a:pPr>
            <a:r>
              <a:rPr lang="en-US" sz="1250" dirty="0">
                <a:solidFill>
                  <a:srgbClr val="1F2937"/>
                </a:solidFill>
                <a:latin typeface="Calibri" pitchFamily="34" charset="0"/>
                <a:ea typeface="Calibri" pitchFamily="34" charset="-122"/>
                <a:cs typeface="Calibri" pitchFamily="34" charset="-120"/>
              </a:rPr>
              <a:t>17 participants with SAD</a:t>
            </a:r>
            <a:endParaRPr lang="en-US" sz="1250" dirty="0"/>
          </a:p>
        </p:txBody>
      </p:sp>
      <p:sp>
        <p:nvSpPr>
          <p:cNvPr id="10" name="Text 7"/>
          <p:cNvSpPr/>
          <p:nvPr/>
        </p:nvSpPr>
        <p:spPr>
          <a:xfrm>
            <a:off x="3291840" y="4754880"/>
            <a:ext cx="2194560" cy="274320"/>
          </a:xfrm>
          <a:prstGeom prst="rect">
            <a:avLst/>
          </a:prstGeom>
          <a:noFill/>
          <a:ln/>
        </p:spPr>
        <p:txBody>
          <a:bodyPr wrap="square" lIns="0" tIns="0" rIns="0" bIns="0" rtlCol="0" anchor="ctr"/>
          <a:lstStyle/>
          <a:p>
            <a:pPr marL="0" indent="0">
              <a:buNone/>
            </a:pPr>
            <a:r>
              <a:rPr lang="en-US" sz="1050" b="1" kern="0" spc="100" dirty="0">
                <a:solidFill>
                  <a:srgbClr val="028090"/>
                </a:solidFill>
                <a:latin typeface="Calibri" pitchFamily="34" charset="0"/>
                <a:ea typeface="Calibri" pitchFamily="34" charset="-122"/>
                <a:cs typeface="Calibri" pitchFamily="34" charset="-120"/>
              </a:rPr>
              <a:t>METHOD</a:t>
            </a:r>
            <a:endParaRPr lang="en-US" sz="1050" dirty="0"/>
          </a:p>
        </p:txBody>
      </p:sp>
      <p:sp>
        <p:nvSpPr>
          <p:cNvPr id="11" name="Text 8"/>
          <p:cNvSpPr/>
          <p:nvPr/>
        </p:nvSpPr>
        <p:spPr>
          <a:xfrm>
            <a:off x="3291840" y="5029200"/>
            <a:ext cx="2286000" cy="731520"/>
          </a:xfrm>
          <a:prstGeom prst="rect">
            <a:avLst/>
          </a:prstGeom>
          <a:noFill/>
          <a:ln/>
        </p:spPr>
        <p:txBody>
          <a:bodyPr wrap="square" lIns="0" tIns="0" rIns="0" bIns="0" rtlCol="0" anchor="t"/>
          <a:lstStyle/>
          <a:p>
            <a:pPr marL="0" indent="0">
              <a:lnSpc>
                <a:spcPct val="115000"/>
              </a:lnSpc>
              <a:buNone/>
            </a:pPr>
            <a:r>
              <a:rPr lang="en-US" sz="1100" dirty="0">
                <a:solidFill>
                  <a:srgbClr val="1F2937"/>
                </a:solidFill>
                <a:latin typeface="Calibri" pitchFamily="34" charset="0"/>
                <a:ea typeface="Calibri" pitchFamily="34" charset="-122"/>
                <a:cs typeface="Calibri" pitchFamily="34" charset="-120"/>
              </a:rPr>
              <a:t>fMRI during exposure to fearful faces, after intranasal oxytocin or placebo</a:t>
            </a:r>
            <a:endParaRPr lang="en-US" sz="1100" dirty="0"/>
          </a:p>
        </p:txBody>
      </p:sp>
      <p:sp>
        <p:nvSpPr>
          <p:cNvPr id="12" name="Text 9"/>
          <p:cNvSpPr/>
          <p:nvPr/>
        </p:nvSpPr>
        <p:spPr>
          <a:xfrm>
            <a:off x="6217920" y="1691640"/>
            <a:ext cx="5394960" cy="365760"/>
          </a:xfrm>
          <a:prstGeom prst="rect">
            <a:avLst/>
          </a:prstGeom>
          <a:noFill/>
          <a:ln/>
        </p:spPr>
        <p:txBody>
          <a:bodyPr wrap="square" lIns="0" tIns="0" rIns="0" bIns="0" rtlCol="0" anchor="ctr"/>
          <a:lstStyle/>
          <a:p>
            <a:pPr marL="0" indent="0">
              <a:buNone/>
            </a:pPr>
            <a:r>
              <a:rPr lang="en-US" sz="1400" b="1" dirty="0">
                <a:solidFill>
                  <a:srgbClr val="013A40"/>
                </a:solidFill>
                <a:latin typeface="Calibri" pitchFamily="34" charset="0"/>
                <a:ea typeface="Calibri" pitchFamily="34" charset="-122"/>
                <a:cs typeface="Calibri" pitchFamily="34" charset="-120"/>
              </a:rPr>
              <a:t>Amygdala Response to Fearful Faces</a:t>
            </a:r>
            <a:endParaRPr lang="en-US" sz="1400" dirty="0"/>
          </a:p>
        </p:txBody>
      </p:sp>
      <p:sp>
        <p:nvSpPr>
          <p:cNvPr id="13" name="Shape 10"/>
          <p:cNvSpPr/>
          <p:nvPr/>
        </p:nvSpPr>
        <p:spPr>
          <a:xfrm>
            <a:off x="6217920" y="2148840"/>
            <a:ext cx="5394960" cy="1691640"/>
          </a:xfrm>
          <a:prstGeom prst="roundRect">
            <a:avLst>
              <a:gd name="adj" fmla="val 5405"/>
            </a:avLst>
          </a:prstGeom>
          <a:solidFill>
            <a:srgbClr val="013A40"/>
          </a:solidFill>
          <a:ln/>
        </p:spPr>
        <p:txBody>
          <a:bodyPr/>
          <a:lstStyle/>
          <a:p>
            <a:endParaRPr lang="en-CA"/>
          </a:p>
        </p:txBody>
      </p:sp>
      <p:sp>
        <p:nvSpPr>
          <p:cNvPr id="14" name="Text 11"/>
          <p:cNvSpPr/>
          <p:nvPr/>
        </p:nvSpPr>
        <p:spPr>
          <a:xfrm>
            <a:off x="6537960" y="2331720"/>
            <a:ext cx="4754880" cy="274320"/>
          </a:xfrm>
          <a:prstGeom prst="rect">
            <a:avLst/>
          </a:prstGeom>
          <a:noFill/>
          <a:ln/>
        </p:spPr>
        <p:txBody>
          <a:bodyPr wrap="square" lIns="0" tIns="0" rIns="0" bIns="0" rtlCol="0" anchor="ctr"/>
          <a:lstStyle/>
          <a:p>
            <a:pPr marL="0" indent="0">
              <a:buNone/>
            </a:pPr>
            <a:r>
              <a:rPr lang="en-US" sz="1100" b="1" kern="0" spc="100" dirty="0">
                <a:solidFill>
                  <a:srgbClr val="02C39A"/>
                </a:solidFill>
                <a:latin typeface="Calibri" pitchFamily="34" charset="0"/>
                <a:ea typeface="Calibri" pitchFamily="34" charset="-122"/>
                <a:cs typeface="Calibri" pitchFamily="34" charset="-120"/>
              </a:rPr>
              <a:t>BEFORE OXYTOCIN (PLACEBO)</a:t>
            </a:r>
            <a:endParaRPr lang="en-US" sz="1100" dirty="0"/>
          </a:p>
        </p:txBody>
      </p:sp>
      <p:sp>
        <p:nvSpPr>
          <p:cNvPr id="15" name="Text 12"/>
          <p:cNvSpPr/>
          <p:nvPr/>
        </p:nvSpPr>
        <p:spPr>
          <a:xfrm>
            <a:off x="6537960" y="2651760"/>
            <a:ext cx="4754880" cy="1051560"/>
          </a:xfrm>
          <a:prstGeom prst="rect">
            <a:avLst/>
          </a:prstGeom>
          <a:noFill/>
          <a:ln/>
        </p:spPr>
        <p:txBody>
          <a:bodyPr wrap="square" lIns="0" tIns="0" rIns="0" bIns="0" rtlCol="0" anchor="t"/>
          <a:lstStyle/>
          <a:p>
            <a:pPr marL="0" indent="0">
              <a:lnSpc>
                <a:spcPct val="125000"/>
              </a:lnSpc>
              <a:buNone/>
            </a:pPr>
            <a:r>
              <a:rPr lang="en-US" sz="1250" dirty="0">
                <a:solidFill>
                  <a:srgbClr val="E3F3F1"/>
                </a:solidFill>
                <a:latin typeface="Calibri" pitchFamily="34" charset="0"/>
                <a:ea typeface="Calibri" pitchFamily="34" charset="-122"/>
                <a:cs typeface="Calibri" pitchFamily="34" charset="-120"/>
              </a:rPr>
              <a:t>Participants with SAD showed heightened amygdala activity in response to threatening social cues, unlike controls — consistent with greater sensitivity to social threat.</a:t>
            </a:r>
            <a:endParaRPr lang="en-US" sz="1250" dirty="0"/>
          </a:p>
        </p:txBody>
      </p:sp>
      <p:sp>
        <p:nvSpPr>
          <p:cNvPr id="16" name="Shape 13"/>
          <p:cNvSpPr/>
          <p:nvPr/>
        </p:nvSpPr>
        <p:spPr>
          <a:xfrm>
            <a:off x="6217920" y="3977640"/>
            <a:ext cx="5394960" cy="1691640"/>
          </a:xfrm>
          <a:prstGeom prst="roundRect">
            <a:avLst>
              <a:gd name="adj" fmla="val 5405"/>
            </a:avLst>
          </a:prstGeom>
          <a:solidFill>
            <a:srgbClr val="02C39A"/>
          </a:solidFill>
          <a:ln/>
        </p:spPr>
        <p:txBody>
          <a:bodyPr/>
          <a:lstStyle/>
          <a:p>
            <a:endParaRPr lang="en-CA"/>
          </a:p>
        </p:txBody>
      </p:sp>
      <p:sp>
        <p:nvSpPr>
          <p:cNvPr id="17" name="Text 14"/>
          <p:cNvSpPr/>
          <p:nvPr/>
        </p:nvSpPr>
        <p:spPr>
          <a:xfrm>
            <a:off x="6537960" y="4160520"/>
            <a:ext cx="4754880" cy="274320"/>
          </a:xfrm>
          <a:prstGeom prst="rect">
            <a:avLst/>
          </a:prstGeom>
          <a:noFill/>
          <a:ln/>
        </p:spPr>
        <p:txBody>
          <a:bodyPr wrap="square" lIns="0" tIns="0" rIns="0" bIns="0" rtlCol="0" anchor="ctr"/>
          <a:lstStyle/>
          <a:p>
            <a:pPr marL="0" indent="0">
              <a:buNone/>
            </a:pPr>
            <a:r>
              <a:rPr lang="en-US" sz="1100" b="1" kern="0" spc="100" dirty="0">
                <a:solidFill>
                  <a:srgbClr val="013A40"/>
                </a:solidFill>
                <a:latin typeface="Calibri" pitchFamily="34" charset="0"/>
                <a:ea typeface="Calibri" pitchFamily="34" charset="-122"/>
                <a:cs typeface="Calibri" pitchFamily="34" charset="-120"/>
              </a:rPr>
              <a:t>AFTER OXYTOCIN</a:t>
            </a:r>
            <a:endParaRPr lang="en-US" sz="1100" dirty="0"/>
          </a:p>
        </p:txBody>
      </p:sp>
      <p:sp>
        <p:nvSpPr>
          <p:cNvPr id="18" name="Text 15"/>
          <p:cNvSpPr/>
          <p:nvPr/>
        </p:nvSpPr>
        <p:spPr>
          <a:xfrm>
            <a:off x="6537960" y="4480560"/>
            <a:ext cx="4754880" cy="1051560"/>
          </a:xfrm>
          <a:prstGeom prst="rect">
            <a:avLst/>
          </a:prstGeom>
          <a:noFill/>
          <a:ln/>
        </p:spPr>
        <p:txBody>
          <a:bodyPr wrap="square" lIns="0" tIns="0" rIns="0" bIns="0" rtlCol="0" anchor="t"/>
          <a:lstStyle/>
          <a:p>
            <a:pPr marL="0" indent="0">
              <a:lnSpc>
                <a:spcPct val="125000"/>
              </a:lnSpc>
              <a:buNone/>
            </a:pPr>
            <a:r>
              <a:rPr lang="en-US" sz="1250" dirty="0">
                <a:solidFill>
                  <a:srgbClr val="013A40"/>
                </a:solidFill>
                <a:latin typeface="Calibri" pitchFamily="34" charset="0"/>
                <a:ea typeface="Calibri" pitchFamily="34" charset="-122"/>
                <a:cs typeface="Calibri" pitchFamily="34" charset="-120"/>
              </a:rPr>
              <a:t>Amygdala activity decreased in the SAD group, suggesting oxytocin may dampen overactive fear responses and help regulate anxiety in social situations.</a:t>
            </a:r>
            <a:endParaRPr lang="en-US" sz="1250" dirty="0"/>
          </a:p>
        </p:txBody>
      </p:sp>
      <p:sp>
        <p:nvSpPr>
          <p:cNvPr id="19" name="Text 16"/>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B6B70"/>
                </a:solidFill>
                <a:latin typeface="Calibri" pitchFamily="34" charset="0"/>
                <a:ea typeface="Calibri" pitchFamily="34" charset="-122"/>
                <a:cs typeface="Calibri" pitchFamily="34" charset="-120"/>
              </a:rPr>
              <a:t>Neurochemical factors • Oxytocin</a:t>
            </a:r>
            <a:endParaRPr lang="en-US" sz="1000" dirty="0"/>
          </a:p>
        </p:txBody>
      </p:sp>
      <p:sp>
        <p:nvSpPr>
          <p:cNvPr id="20" name="Text 17"/>
          <p:cNvSpPr/>
          <p:nvPr/>
        </p:nvSpPr>
        <p:spPr>
          <a:xfrm>
            <a:off x="8076895" y="6473952"/>
            <a:ext cx="3657600" cy="274320"/>
          </a:xfrm>
          <a:prstGeom prst="rect">
            <a:avLst/>
          </a:prstGeom>
          <a:noFill/>
          <a:ln/>
        </p:spPr>
        <p:txBody>
          <a:bodyPr wrap="square" rtlCol="0" anchor="ctr"/>
          <a:lstStyle/>
          <a:p>
            <a:pPr marL="0" indent="0" algn="r">
              <a:buNone/>
            </a:pPr>
            <a:r>
              <a:rPr lang="en-US" sz="1000" dirty="0">
                <a:solidFill>
                  <a:srgbClr val="5B6B70"/>
                </a:solidFill>
                <a:latin typeface="Calibri" pitchFamily="34" charset="0"/>
                <a:ea typeface="Calibri" pitchFamily="34" charset="-122"/>
                <a:cs typeface="Calibri" pitchFamily="34" charset="-120"/>
              </a:rPr>
              <a:t>Biological Factors: SAD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640080"/>
          </a:xfrm>
          <a:prstGeom prst="rect">
            <a:avLst/>
          </a:prstGeom>
          <a:noFill/>
          <a:ln/>
        </p:spPr>
        <p:txBody>
          <a:bodyPr wrap="square" lIns="0" tIns="0" rIns="0" bIns="0" rtlCol="0" anchor="ctr"/>
          <a:lstStyle/>
          <a:p>
            <a:pPr marL="0" indent="0" algn="l">
              <a:buNone/>
            </a:pPr>
            <a:r>
              <a:rPr lang="en-US" sz="3000" b="1" dirty="0">
                <a:solidFill>
                  <a:srgbClr val="013A40"/>
                </a:solidFill>
                <a:latin typeface="Cambria" pitchFamily="34" charset="0"/>
                <a:ea typeface="Cambria" pitchFamily="34" charset="-122"/>
                <a:cs typeface="Cambria" pitchFamily="34" charset="-120"/>
              </a:rPr>
              <a:t>A Measurement Problem</a:t>
            </a:r>
            <a:endParaRPr lang="en-US" sz="3000" dirty="0"/>
          </a:p>
        </p:txBody>
      </p:sp>
      <p:sp>
        <p:nvSpPr>
          <p:cNvPr id="3" name="Text 1"/>
          <p:cNvSpPr/>
          <p:nvPr/>
        </p:nvSpPr>
        <p:spPr>
          <a:xfrm>
            <a:off x="548640" y="987552"/>
            <a:ext cx="11094415" cy="365760"/>
          </a:xfrm>
          <a:prstGeom prst="rect">
            <a:avLst/>
          </a:prstGeom>
          <a:noFill/>
          <a:ln/>
        </p:spPr>
        <p:txBody>
          <a:bodyPr wrap="square" lIns="0" tIns="0" rIns="0" bIns="0" rtlCol="0" anchor="ctr"/>
          <a:lstStyle/>
          <a:p>
            <a:pPr marL="0" indent="0" algn="l">
              <a:buNone/>
            </a:pPr>
            <a:r>
              <a:rPr lang="en-US" sz="1400" i="1" dirty="0">
                <a:solidFill>
                  <a:srgbClr val="5B6B70"/>
                </a:solidFill>
                <a:latin typeface="Calibri" pitchFamily="34" charset="0"/>
                <a:ea typeface="Calibri" pitchFamily="34" charset="-122"/>
                <a:cs typeface="Calibri" pitchFamily="34" charset="-120"/>
              </a:rPr>
              <a:t>Why neurochemical claims about SAD still rest on inference</a:t>
            </a:r>
            <a:endParaRPr lang="en-US" sz="1400" dirty="0"/>
          </a:p>
        </p:txBody>
      </p:sp>
      <p:sp>
        <p:nvSpPr>
          <p:cNvPr id="4" name="Shape 2"/>
          <p:cNvSpPr/>
          <p:nvPr/>
        </p:nvSpPr>
        <p:spPr>
          <a:xfrm>
            <a:off x="731520" y="1783080"/>
            <a:ext cx="1005840" cy="1005840"/>
          </a:xfrm>
          <a:prstGeom prst="ellipse">
            <a:avLst/>
          </a:prstGeom>
          <a:solidFill>
            <a:srgbClr val="00A896"/>
          </a:solidFill>
          <a:ln/>
        </p:spPr>
        <p:txBody>
          <a:bodyPr/>
          <a:lstStyle/>
          <a:p>
            <a:endParaRPr lang="en-CA"/>
          </a:p>
        </p:txBody>
      </p:sp>
      <p:pic>
        <p:nvPicPr>
          <p:cNvPr id="5" name="Image 0" descr="preencoded.png"/>
          <p:cNvPicPr>
            <a:picLocks noChangeAspect="1"/>
          </p:cNvPicPr>
          <p:nvPr/>
        </p:nvPicPr>
        <p:blipFill>
          <a:blip r:embed="rId3"/>
          <a:stretch>
            <a:fillRect/>
          </a:stretch>
        </p:blipFill>
        <p:spPr>
          <a:xfrm>
            <a:off x="872338" y="1923898"/>
            <a:ext cx="724205" cy="724205"/>
          </a:xfrm>
          <a:prstGeom prst="rect">
            <a:avLst/>
          </a:prstGeom>
        </p:spPr>
      </p:pic>
      <p:sp>
        <p:nvSpPr>
          <p:cNvPr id="6" name="Text 3"/>
          <p:cNvSpPr/>
          <p:nvPr/>
        </p:nvSpPr>
        <p:spPr>
          <a:xfrm>
            <a:off x="548640" y="2971800"/>
            <a:ext cx="5120640" cy="1005840"/>
          </a:xfrm>
          <a:prstGeom prst="rect">
            <a:avLst/>
          </a:prstGeom>
          <a:noFill/>
          <a:ln/>
        </p:spPr>
        <p:txBody>
          <a:bodyPr wrap="square" lIns="0" tIns="0" rIns="0" bIns="0" rtlCol="0" anchor="t"/>
          <a:lstStyle/>
          <a:p>
            <a:pPr marL="0" indent="0">
              <a:lnSpc>
                <a:spcPct val="125000"/>
              </a:lnSpc>
              <a:buNone/>
            </a:pPr>
            <a:r>
              <a:rPr lang="en-US" sz="1350" b="1" dirty="0">
                <a:solidFill>
                  <a:srgbClr val="1F2937"/>
                </a:solidFill>
                <a:latin typeface="Calibri" pitchFamily="34" charset="0"/>
                <a:ea typeface="Calibri" pitchFamily="34" charset="-122"/>
                <a:cs typeface="Calibri" pitchFamily="34" charset="-120"/>
              </a:rPr>
              <a:t>Neurochemical levels in a living human brain still cannot be measured directly. </a:t>
            </a:r>
            <a:r>
              <a:rPr lang="en-US" sz="1350" dirty="0">
                <a:solidFill>
                  <a:srgbClr val="1F2937"/>
                </a:solidFill>
                <a:latin typeface="Calibri" pitchFamily="34" charset="0"/>
                <a:ea typeface="Calibri" pitchFamily="34" charset="-122"/>
                <a:cs typeface="Calibri" pitchFamily="34" charset="-120"/>
              </a:rPr>
              <a:t>Only their downstream effects can be captured through brain scanning, and the underlying activity is then inferred.</a:t>
            </a:r>
            <a:endParaRPr lang="en-US" sz="1350" dirty="0"/>
          </a:p>
        </p:txBody>
      </p:sp>
      <p:sp>
        <p:nvSpPr>
          <p:cNvPr id="7" name="Text 4"/>
          <p:cNvSpPr/>
          <p:nvPr/>
        </p:nvSpPr>
        <p:spPr>
          <a:xfrm>
            <a:off x="548640" y="4023360"/>
            <a:ext cx="5120640" cy="1188720"/>
          </a:xfrm>
          <a:prstGeom prst="rect">
            <a:avLst/>
          </a:prstGeom>
          <a:noFill/>
          <a:ln/>
        </p:spPr>
        <p:txBody>
          <a:bodyPr wrap="square" lIns="0" tIns="0" rIns="0" bIns="0" rtlCol="0" anchor="t"/>
          <a:lstStyle/>
          <a:p>
            <a:pPr marL="0" indent="0">
              <a:lnSpc>
                <a:spcPct val="125000"/>
              </a:lnSpc>
              <a:buNone/>
            </a:pPr>
            <a:r>
              <a:rPr lang="en-US" sz="1300" dirty="0">
                <a:solidFill>
                  <a:srgbClr val="5B6B70"/>
                </a:solidFill>
                <a:latin typeface="Calibri" pitchFamily="34" charset="0"/>
                <a:ea typeface="Calibri" pitchFamily="34" charset="-122"/>
                <a:cs typeface="Calibri" pitchFamily="34" charset="-120"/>
              </a:rPr>
              <a:t>Neurotransmitter action happens in a fraction of a second, which is why it has taken years of development — first tested in non-human animals — to build tools that can track it at all.</a:t>
            </a:r>
            <a:endParaRPr lang="en-US" sz="1300" dirty="0"/>
          </a:p>
        </p:txBody>
      </p:sp>
      <p:sp>
        <p:nvSpPr>
          <p:cNvPr id="8" name="Shape 5"/>
          <p:cNvSpPr/>
          <p:nvPr/>
        </p:nvSpPr>
        <p:spPr>
          <a:xfrm>
            <a:off x="6217920" y="1737360"/>
            <a:ext cx="5394960" cy="3931920"/>
          </a:xfrm>
          <a:prstGeom prst="roundRect">
            <a:avLst>
              <a:gd name="adj" fmla="val 2791"/>
            </a:avLst>
          </a:prstGeom>
          <a:solidFill>
            <a:srgbClr val="F2F9F8"/>
          </a:solidFill>
          <a:ln/>
        </p:spPr>
        <p:txBody>
          <a:bodyPr/>
          <a:lstStyle/>
          <a:p>
            <a:endParaRPr lang="en-CA"/>
          </a:p>
        </p:txBody>
      </p:sp>
      <p:sp>
        <p:nvSpPr>
          <p:cNvPr id="9" name="Text 6"/>
          <p:cNvSpPr/>
          <p:nvPr/>
        </p:nvSpPr>
        <p:spPr>
          <a:xfrm>
            <a:off x="6537960" y="1965960"/>
            <a:ext cx="4754880" cy="274320"/>
          </a:xfrm>
          <a:prstGeom prst="rect">
            <a:avLst/>
          </a:prstGeom>
          <a:noFill/>
          <a:ln/>
        </p:spPr>
        <p:txBody>
          <a:bodyPr wrap="square" lIns="0" tIns="0" rIns="0" bIns="0" rtlCol="0" anchor="ctr"/>
          <a:lstStyle/>
          <a:p>
            <a:pPr marL="0" indent="0">
              <a:buNone/>
            </a:pPr>
            <a:r>
              <a:rPr lang="en-US" sz="1150" b="1" kern="0" spc="100" dirty="0">
                <a:solidFill>
                  <a:srgbClr val="028090"/>
                </a:solidFill>
                <a:latin typeface="Calibri" pitchFamily="34" charset="0"/>
                <a:ea typeface="Calibri" pitchFamily="34" charset="-122"/>
                <a:cs typeface="Calibri" pitchFamily="34" charset="-120"/>
              </a:rPr>
              <a:t>LOOKING AHEAD</a:t>
            </a:r>
            <a:endParaRPr lang="en-US" sz="1150" dirty="0"/>
          </a:p>
        </p:txBody>
      </p:sp>
      <p:sp>
        <p:nvSpPr>
          <p:cNvPr id="10" name="Text 7"/>
          <p:cNvSpPr/>
          <p:nvPr/>
        </p:nvSpPr>
        <p:spPr>
          <a:xfrm>
            <a:off x="6537960" y="2286000"/>
            <a:ext cx="4754880" cy="502920"/>
          </a:xfrm>
          <a:prstGeom prst="rect">
            <a:avLst/>
          </a:prstGeom>
          <a:noFill/>
          <a:ln/>
        </p:spPr>
        <p:txBody>
          <a:bodyPr wrap="square" lIns="0" tIns="0" rIns="0" bIns="0" rtlCol="0" anchor="ctr"/>
          <a:lstStyle/>
          <a:p>
            <a:pPr marL="0" indent="0">
              <a:buNone/>
            </a:pPr>
            <a:r>
              <a:rPr lang="en-US" sz="1800" b="1" dirty="0">
                <a:solidFill>
                  <a:srgbClr val="013A40"/>
                </a:solidFill>
                <a:latin typeface="Cambria" pitchFamily="34" charset="0"/>
                <a:ea typeface="Cambria" pitchFamily="34" charset="-122"/>
                <a:cs typeface="Cambria" pitchFamily="34" charset="-120"/>
              </a:rPr>
              <a:t>Implantable Electrochemical Microsensors</a:t>
            </a:r>
            <a:endParaRPr lang="en-US" sz="1800" dirty="0"/>
          </a:p>
        </p:txBody>
      </p:sp>
      <p:sp>
        <p:nvSpPr>
          <p:cNvPr id="11" name="Text 8"/>
          <p:cNvSpPr/>
          <p:nvPr/>
        </p:nvSpPr>
        <p:spPr>
          <a:xfrm>
            <a:off x="6537960" y="2834640"/>
            <a:ext cx="4754880" cy="868680"/>
          </a:xfrm>
          <a:prstGeom prst="rect">
            <a:avLst/>
          </a:prstGeom>
          <a:noFill/>
          <a:ln/>
        </p:spPr>
        <p:txBody>
          <a:bodyPr wrap="square" lIns="0" tIns="0" rIns="0" bIns="0" rtlCol="0" anchor="t"/>
          <a:lstStyle/>
          <a:p>
            <a:pPr marL="0" indent="0">
              <a:lnSpc>
                <a:spcPct val="125000"/>
              </a:lnSpc>
              <a:buNone/>
            </a:pPr>
            <a:r>
              <a:rPr lang="en-US" sz="1250" dirty="0">
                <a:solidFill>
                  <a:srgbClr val="1F2937"/>
                </a:solidFill>
                <a:latin typeface="Calibri" pitchFamily="34" charset="0"/>
                <a:ea typeface="Calibri" pitchFamily="34" charset="-122"/>
                <a:cs typeface="Calibri" pitchFamily="34" charset="-120"/>
              </a:rPr>
              <a:t>Newly developed sensors can monitor neurochemical activity while the wearer moves freely — so far tested only in rats and mice.</a:t>
            </a:r>
            <a:endParaRPr lang="en-US" sz="1250" dirty="0"/>
          </a:p>
        </p:txBody>
      </p:sp>
      <p:sp>
        <p:nvSpPr>
          <p:cNvPr id="12" name="Shape 9"/>
          <p:cNvSpPr/>
          <p:nvPr/>
        </p:nvSpPr>
        <p:spPr>
          <a:xfrm>
            <a:off x="6537960" y="3794760"/>
            <a:ext cx="4754880" cy="0"/>
          </a:xfrm>
          <a:prstGeom prst="line">
            <a:avLst/>
          </a:prstGeom>
          <a:noFill/>
          <a:ln w="9525">
            <a:solidFill>
              <a:srgbClr val="00A896"/>
            </a:solidFill>
            <a:prstDash val="solid"/>
          </a:ln>
        </p:spPr>
        <p:txBody>
          <a:bodyPr/>
          <a:lstStyle/>
          <a:p>
            <a:endParaRPr lang="en-CA"/>
          </a:p>
        </p:txBody>
      </p:sp>
      <p:sp>
        <p:nvSpPr>
          <p:cNvPr id="13" name="Text 10"/>
          <p:cNvSpPr/>
          <p:nvPr/>
        </p:nvSpPr>
        <p:spPr>
          <a:xfrm>
            <a:off x="6537960" y="3977640"/>
            <a:ext cx="4754880" cy="777240"/>
          </a:xfrm>
          <a:prstGeom prst="rect">
            <a:avLst/>
          </a:prstGeom>
          <a:noFill/>
          <a:ln/>
        </p:spPr>
        <p:txBody>
          <a:bodyPr wrap="square" lIns="0" tIns="0" rIns="0" bIns="0" rtlCol="0" anchor="t"/>
          <a:lstStyle/>
          <a:p>
            <a:pPr marL="0" indent="0">
              <a:lnSpc>
                <a:spcPct val="125000"/>
              </a:lnSpc>
              <a:buNone/>
            </a:pPr>
            <a:r>
              <a:rPr lang="en-US" sz="1250" i="1" dirty="0">
                <a:solidFill>
                  <a:srgbClr val="5B6B70"/>
                </a:solidFill>
                <a:latin typeface="Calibri" pitchFamily="34" charset="0"/>
                <a:ea typeface="Calibri" pitchFamily="34" charset="-122"/>
                <a:cs typeface="Calibri" pitchFamily="34" charset="-120"/>
              </a:rPr>
              <a:t>Xu et al. (2024) predict it is only a matter of time before these sensors can be safely used with human participants.</a:t>
            </a:r>
            <a:endParaRPr lang="en-US" sz="1250" dirty="0"/>
          </a:p>
        </p:txBody>
      </p:sp>
      <p:sp>
        <p:nvSpPr>
          <p:cNvPr id="14" name="Shape 11"/>
          <p:cNvSpPr/>
          <p:nvPr/>
        </p:nvSpPr>
        <p:spPr>
          <a:xfrm>
            <a:off x="6537960" y="4846320"/>
            <a:ext cx="4754880" cy="685800"/>
          </a:xfrm>
          <a:prstGeom prst="roundRect">
            <a:avLst>
              <a:gd name="adj" fmla="val 10667"/>
            </a:avLst>
          </a:prstGeom>
          <a:solidFill>
            <a:srgbClr val="013A40"/>
          </a:solidFill>
          <a:ln/>
        </p:spPr>
        <p:txBody>
          <a:bodyPr/>
          <a:lstStyle/>
          <a:p>
            <a:endParaRPr lang="en-CA"/>
          </a:p>
        </p:txBody>
      </p:sp>
      <p:sp>
        <p:nvSpPr>
          <p:cNvPr id="15" name="Text 12"/>
          <p:cNvSpPr/>
          <p:nvPr/>
        </p:nvSpPr>
        <p:spPr>
          <a:xfrm>
            <a:off x="6720840" y="4846320"/>
            <a:ext cx="4389120" cy="685800"/>
          </a:xfrm>
          <a:prstGeom prst="rect">
            <a:avLst/>
          </a:prstGeom>
          <a:noFill/>
          <a:ln/>
        </p:spPr>
        <p:txBody>
          <a:bodyPr wrap="square" lIns="0" tIns="0" rIns="0" bIns="0" rtlCol="0" anchor="ctr"/>
          <a:lstStyle/>
          <a:p>
            <a:pPr marL="0" indent="0">
              <a:lnSpc>
                <a:spcPct val="115000"/>
              </a:lnSpc>
              <a:buNone/>
            </a:pPr>
            <a:r>
              <a:rPr lang="en-US" sz="1100" dirty="0">
                <a:solidFill>
                  <a:srgbClr val="FFFFFF"/>
                </a:solidFill>
                <a:latin typeface="Calibri" pitchFamily="34" charset="0"/>
                <a:ea typeface="Calibri" pitchFamily="34" charset="-122"/>
                <a:cs typeface="Calibri" pitchFamily="34" charset="-120"/>
              </a:rPr>
              <a:t>Until then: genetic and neurochemical explanations for SAD rest on the assumption — reasonable, but still unproven — that gene variants translate directly into brain-level effects.</a:t>
            </a:r>
            <a:endParaRPr lang="en-US" sz="1100" dirty="0"/>
          </a:p>
        </p:txBody>
      </p:sp>
      <p:sp>
        <p:nvSpPr>
          <p:cNvPr id="16" name="Text 13"/>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B6B70"/>
                </a:solidFill>
                <a:latin typeface="Calibri" pitchFamily="34" charset="0"/>
                <a:ea typeface="Calibri" pitchFamily="34" charset="-122"/>
                <a:cs typeface="Calibri" pitchFamily="34" charset="-120"/>
              </a:rPr>
              <a:t>Neurochemical factors • Measurement</a:t>
            </a:r>
            <a:endParaRPr lang="en-US" sz="1000" dirty="0"/>
          </a:p>
        </p:txBody>
      </p:sp>
      <p:sp>
        <p:nvSpPr>
          <p:cNvPr id="17" name="Text 14"/>
          <p:cNvSpPr/>
          <p:nvPr/>
        </p:nvSpPr>
        <p:spPr>
          <a:xfrm>
            <a:off x="8076895" y="6473952"/>
            <a:ext cx="3657600" cy="274320"/>
          </a:xfrm>
          <a:prstGeom prst="rect">
            <a:avLst/>
          </a:prstGeom>
          <a:noFill/>
          <a:ln/>
        </p:spPr>
        <p:txBody>
          <a:bodyPr wrap="square" rtlCol="0" anchor="ctr"/>
          <a:lstStyle/>
          <a:p>
            <a:pPr marL="0" indent="0" algn="r">
              <a:buNone/>
            </a:pPr>
            <a:r>
              <a:rPr lang="en-US" sz="1000" dirty="0">
                <a:solidFill>
                  <a:srgbClr val="5B6B70"/>
                </a:solidFill>
                <a:latin typeface="Calibri" pitchFamily="34" charset="0"/>
                <a:ea typeface="Calibri" pitchFamily="34" charset="-122"/>
                <a:cs typeface="Calibri" pitchFamily="34" charset="-120"/>
              </a:rPr>
              <a:t>Biological Factors: SAD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13A40"/>
        </a:solidFill>
        <a:effectLst/>
      </p:bgPr>
    </p:bg>
    <p:spTree>
      <p:nvGrpSpPr>
        <p:cNvPr id="1" name=""/>
        <p:cNvGrpSpPr/>
        <p:nvPr/>
      </p:nvGrpSpPr>
      <p:grpSpPr>
        <a:xfrm>
          <a:off x="0" y="0"/>
          <a:ext cx="0" cy="0"/>
          <a:chOff x="0" y="0"/>
          <a:chExt cx="0" cy="0"/>
        </a:xfrm>
      </p:grpSpPr>
      <p:sp>
        <p:nvSpPr>
          <p:cNvPr id="2" name="Shape 0"/>
          <p:cNvSpPr/>
          <p:nvPr/>
        </p:nvSpPr>
        <p:spPr>
          <a:xfrm>
            <a:off x="-2103120" y="3383280"/>
            <a:ext cx="4206240" cy="4206240"/>
          </a:xfrm>
          <a:prstGeom prst="ellipse">
            <a:avLst/>
          </a:prstGeom>
          <a:solidFill>
            <a:srgbClr val="028090"/>
          </a:solidFill>
          <a:ln/>
        </p:spPr>
        <p:txBody>
          <a:bodyPr/>
          <a:lstStyle/>
          <a:p>
            <a:endParaRPr lang="en-CA"/>
          </a:p>
        </p:txBody>
      </p:sp>
      <p:sp>
        <p:nvSpPr>
          <p:cNvPr id="3" name="Text 1"/>
          <p:cNvSpPr/>
          <p:nvPr/>
        </p:nvSpPr>
        <p:spPr>
          <a:xfrm>
            <a:off x="548640" y="411480"/>
            <a:ext cx="7315200" cy="320040"/>
          </a:xfrm>
          <a:prstGeom prst="rect">
            <a:avLst/>
          </a:prstGeom>
          <a:noFill/>
          <a:ln/>
        </p:spPr>
        <p:txBody>
          <a:bodyPr wrap="square" lIns="0" tIns="0" rIns="0" bIns="0" rtlCol="0" anchor="ctr"/>
          <a:lstStyle/>
          <a:p>
            <a:pPr marL="0" indent="0">
              <a:buNone/>
            </a:pPr>
            <a:r>
              <a:rPr lang="en-US" sz="1250" b="1" kern="0" spc="200" dirty="0">
                <a:solidFill>
                  <a:srgbClr val="02C39A"/>
                </a:solidFill>
                <a:latin typeface="Calibri" pitchFamily="34" charset="0"/>
                <a:ea typeface="Calibri" pitchFamily="34" charset="-122"/>
                <a:cs typeface="Calibri" pitchFamily="34" charset="-120"/>
              </a:rPr>
              <a:t>A NEWER DIRECTION</a:t>
            </a:r>
            <a:endParaRPr lang="en-US" sz="1250" dirty="0"/>
          </a:p>
        </p:txBody>
      </p:sp>
      <p:sp>
        <p:nvSpPr>
          <p:cNvPr id="4" name="Text 2"/>
          <p:cNvSpPr/>
          <p:nvPr/>
        </p:nvSpPr>
        <p:spPr>
          <a:xfrm>
            <a:off x="548640" y="731520"/>
            <a:ext cx="8229600" cy="59436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Gut-Brain Axis</a:t>
            </a:r>
            <a:endParaRPr lang="en-US" sz="2800" dirty="0"/>
          </a:p>
        </p:txBody>
      </p:sp>
      <p:sp>
        <p:nvSpPr>
          <p:cNvPr id="5" name="Text 3"/>
          <p:cNvSpPr/>
          <p:nvPr/>
        </p:nvSpPr>
        <p:spPr>
          <a:xfrm>
            <a:off x="548640" y="1280160"/>
            <a:ext cx="9144000" cy="36576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Ritz et al. (2024) — shifting focus from genes to gut microbiota</a:t>
            </a:r>
            <a:endParaRPr lang="en-US" sz="1400" dirty="0"/>
          </a:p>
        </p:txBody>
      </p:sp>
      <p:sp>
        <p:nvSpPr>
          <p:cNvPr id="6" name="Shape 4"/>
          <p:cNvSpPr/>
          <p:nvPr/>
        </p:nvSpPr>
        <p:spPr>
          <a:xfrm>
            <a:off x="1143000" y="2377440"/>
            <a:ext cx="1371600" cy="1371600"/>
          </a:xfrm>
          <a:prstGeom prst="ellipse">
            <a:avLst/>
          </a:prstGeom>
          <a:solidFill>
            <a:srgbClr val="00A896"/>
          </a:solidFill>
          <a:ln/>
        </p:spPr>
        <p:txBody>
          <a:bodyPr/>
          <a:lstStyle/>
          <a:p>
            <a:endParaRPr lang="en-CA"/>
          </a:p>
        </p:txBody>
      </p:sp>
      <p:pic>
        <p:nvPicPr>
          <p:cNvPr id="7" name="Image 0" descr="preencoded.png"/>
          <p:cNvPicPr>
            <a:picLocks noChangeAspect="1"/>
          </p:cNvPicPr>
          <p:nvPr/>
        </p:nvPicPr>
        <p:blipFill>
          <a:blip r:embed="rId3"/>
          <a:stretch>
            <a:fillRect/>
          </a:stretch>
        </p:blipFill>
        <p:spPr>
          <a:xfrm>
            <a:off x="1335024" y="2569464"/>
            <a:ext cx="987552" cy="987552"/>
          </a:xfrm>
          <a:prstGeom prst="rect">
            <a:avLst/>
          </a:prstGeom>
        </p:spPr>
      </p:pic>
      <p:sp>
        <p:nvSpPr>
          <p:cNvPr id="8" name="Text 5"/>
          <p:cNvSpPr/>
          <p:nvPr/>
        </p:nvSpPr>
        <p:spPr>
          <a:xfrm>
            <a:off x="548640" y="3931920"/>
            <a:ext cx="5303520" cy="1737360"/>
          </a:xfrm>
          <a:prstGeom prst="rect">
            <a:avLst/>
          </a:prstGeom>
          <a:noFill/>
          <a:ln/>
        </p:spPr>
        <p:txBody>
          <a:bodyPr wrap="square" lIns="0" tIns="0" rIns="0" bIns="0" rtlCol="0" anchor="t"/>
          <a:lstStyle/>
          <a:p>
            <a:pPr marL="0" indent="0">
              <a:lnSpc>
                <a:spcPct val="130000"/>
              </a:lnSpc>
              <a:buNone/>
            </a:pPr>
            <a:r>
              <a:rPr lang="en-US" sz="1300" dirty="0">
                <a:solidFill>
                  <a:srgbClr val="E3F3F1"/>
                </a:solidFill>
                <a:latin typeface="Calibri" pitchFamily="34" charset="0"/>
                <a:ea typeface="Calibri" pitchFamily="34" charset="-122"/>
                <a:cs typeface="Calibri" pitchFamily="34" charset="-120"/>
              </a:rPr>
              <a:t>The most recent research has moved away from genetics toward the trillions of bacteria living in the human gut. An imbalance in this gut microbiota can affect not only the body, but the brain as well.</a:t>
            </a:r>
            <a:endParaRPr lang="en-US" sz="1300" dirty="0"/>
          </a:p>
        </p:txBody>
      </p:sp>
      <p:sp>
        <p:nvSpPr>
          <p:cNvPr id="9" name="Shape 6"/>
          <p:cNvSpPr/>
          <p:nvPr/>
        </p:nvSpPr>
        <p:spPr>
          <a:xfrm>
            <a:off x="6583680" y="2286000"/>
            <a:ext cx="5029200" cy="3840480"/>
          </a:xfrm>
          <a:prstGeom prst="roundRect">
            <a:avLst>
              <a:gd name="adj" fmla="val 2857"/>
            </a:avLst>
          </a:prstGeom>
          <a:solidFill>
            <a:srgbClr val="0A4C52"/>
          </a:solidFill>
          <a:ln/>
        </p:spPr>
        <p:txBody>
          <a:bodyPr/>
          <a:lstStyle/>
          <a:p>
            <a:endParaRPr lang="en-CA"/>
          </a:p>
        </p:txBody>
      </p:sp>
      <p:sp>
        <p:nvSpPr>
          <p:cNvPr id="10" name="Text 7"/>
          <p:cNvSpPr/>
          <p:nvPr/>
        </p:nvSpPr>
        <p:spPr>
          <a:xfrm>
            <a:off x="6903720" y="2514600"/>
            <a:ext cx="4389120" cy="274320"/>
          </a:xfrm>
          <a:prstGeom prst="rect">
            <a:avLst/>
          </a:prstGeom>
          <a:noFill/>
          <a:ln/>
        </p:spPr>
        <p:txBody>
          <a:bodyPr wrap="square" lIns="0" tIns="0" rIns="0" bIns="0" rtlCol="0" anchor="ctr"/>
          <a:lstStyle/>
          <a:p>
            <a:pPr marL="0" indent="0">
              <a:buNone/>
            </a:pPr>
            <a:r>
              <a:rPr lang="en-US" sz="1100" b="1" kern="0" spc="100" dirty="0">
                <a:solidFill>
                  <a:srgbClr val="02C39A"/>
                </a:solidFill>
                <a:latin typeface="Calibri" pitchFamily="34" charset="0"/>
                <a:ea typeface="Calibri" pitchFamily="34" charset="-122"/>
                <a:cs typeface="Calibri" pitchFamily="34" charset="-120"/>
              </a:rPr>
              <a:t>STUDY DESIGN</a:t>
            </a:r>
            <a:endParaRPr lang="en-US" sz="1100" dirty="0"/>
          </a:p>
        </p:txBody>
      </p:sp>
      <p:sp>
        <p:nvSpPr>
          <p:cNvPr id="11" name="Shape 8"/>
          <p:cNvSpPr/>
          <p:nvPr/>
        </p:nvSpPr>
        <p:spPr>
          <a:xfrm>
            <a:off x="6903720" y="2880360"/>
            <a:ext cx="384048" cy="384048"/>
          </a:xfrm>
          <a:prstGeom prst="ellipse">
            <a:avLst/>
          </a:prstGeom>
          <a:solidFill>
            <a:srgbClr val="02C39A"/>
          </a:solidFill>
          <a:ln/>
        </p:spPr>
        <p:txBody>
          <a:bodyPr/>
          <a:lstStyle/>
          <a:p>
            <a:endParaRPr lang="en-CA"/>
          </a:p>
        </p:txBody>
      </p:sp>
      <p:sp>
        <p:nvSpPr>
          <p:cNvPr id="12" name="Text 9"/>
          <p:cNvSpPr/>
          <p:nvPr/>
        </p:nvSpPr>
        <p:spPr>
          <a:xfrm>
            <a:off x="6903720" y="2880360"/>
            <a:ext cx="384048" cy="384048"/>
          </a:xfrm>
          <a:prstGeom prst="rect">
            <a:avLst/>
          </a:prstGeom>
          <a:noFill/>
          <a:ln/>
        </p:spPr>
        <p:txBody>
          <a:bodyPr wrap="square" lIns="0" tIns="0" rIns="0" bIns="0" rtlCol="0" anchor="ctr"/>
          <a:lstStyle/>
          <a:p>
            <a:pPr marL="0" indent="0" algn="ctr">
              <a:buNone/>
            </a:pPr>
            <a:r>
              <a:rPr lang="en-US" sz="1400" b="1" dirty="0">
                <a:solidFill>
                  <a:srgbClr val="013A40"/>
                </a:solidFill>
                <a:latin typeface="Calibri" pitchFamily="34" charset="0"/>
                <a:ea typeface="Calibri" pitchFamily="34" charset="-122"/>
                <a:cs typeface="Calibri" pitchFamily="34" charset="-120"/>
              </a:rPr>
              <a:t>1</a:t>
            </a:r>
            <a:endParaRPr lang="en-US" sz="1400" dirty="0"/>
          </a:p>
        </p:txBody>
      </p:sp>
      <p:sp>
        <p:nvSpPr>
          <p:cNvPr id="13" name="Text 10"/>
          <p:cNvSpPr/>
          <p:nvPr/>
        </p:nvSpPr>
        <p:spPr>
          <a:xfrm>
            <a:off x="7406640" y="2834640"/>
            <a:ext cx="3886200" cy="822960"/>
          </a:xfrm>
          <a:prstGeom prst="rect">
            <a:avLst/>
          </a:prstGeom>
          <a:noFill/>
          <a:ln/>
        </p:spPr>
        <p:txBody>
          <a:bodyPr wrap="square" lIns="0" tIns="0" rIns="0" bIns="0" rtlCol="0" anchor="t"/>
          <a:lstStyle/>
          <a:p>
            <a:pPr marL="0" indent="0">
              <a:lnSpc>
                <a:spcPct val="120000"/>
              </a:lnSpc>
              <a:buNone/>
            </a:pPr>
            <a:r>
              <a:rPr lang="en-US" sz="1200" dirty="0">
                <a:solidFill>
                  <a:srgbClr val="E3F3F1"/>
                </a:solidFill>
                <a:latin typeface="Calibri" pitchFamily="34" charset="0"/>
                <a:ea typeface="Calibri" pitchFamily="34" charset="-122"/>
                <a:cs typeface="Calibri" pitchFamily="34" charset="-120"/>
              </a:rPr>
              <a:t>Gut microbiota from human SAD patients — already shown to differ from healthy controls — was transplanted into mice.</a:t>
            </a:r>
            <a:endParaRPr lang="en-US" sz="1200" dirty="0"/>
          </a:p>
        </p:txBody>
      </p:sp>
      <p:sp>
        <p:nvSpPr>
          <p:cNvPr id="14" name="Shape 11"/>
          <p:cNvSpPr/>
          <p:nvPr/>
        </p:nvSpPr>
        <p:spPr>
          <a:xfrm>
            <a:off x="6903720" y="3886200"/>
            <a:ext cx="384048" cy="384048"/>
          </a:xfrm>
          <a:prstGeom prst="ellipse">
            <a:avLst/>
          </a:prstGeom>
          <a:solidFill>
            <a:srgbClr val="02C39A"/>
          </a:solidFill>
          <a:ln/>
        </p:spPr>
        <p:txBody>
          <a:bodyPr/>
          <a:lstStyle/>
          <a:p>
            <a:endParaRPr lang="en-CA"/>
          </a:p>
        </p:txBody>
      </p:sp>
      <p:sp>
        <p:nvSpPr>
          <p:cNvPr id="15" name="Text 12"/>
          <p:cNvSpPr/>
          <p:nvPr/>
        </p:nvSpPr>
        <p:spPr>
          <a:xfrm>
            <a:off x="6903720" y="3886200"/>
            <a:ext cx="384048" cy="384048"/>
          </a:xfrm>
          <a:prstGeom prst="rect">
            <a:avLst/>
          </a:prstGeom>
          <a:noFill/>
          <a:ln/>
        </p:spPr>
        <p:txBody>
          <a:bodyPr wrap="square" lIns="0" tIns="0" rIns="0" bIns="0" rtlCol="0" anchor="ctr"/>
          <a:lstStyle/>
          <a:p>
            <a:pPr marL="0" indent="0" algn="ctr">
              <a:buNone/>
            </a:pPr>
            <a:r>
              <a:rPr lang="en-US" sz="1400" b="1" dirty="0">
                <a:solidFill>
                  <a:srgbClr val="013A40"/>
                </a:solidFill>
                <a:latin typeface="Calibri" pitchFamily="34" charset="0"/>
                <a:ea typeface="Calibri" pitchFamily="34" charset="-122"/>
                <a:cs typeface="Calibri" pitchFamily="34" charset="-120"/>
              </a:rPr>
              <a:t>2</a:t>
            </a:r>
            <a:endParaRPr lang="en-US" sz="1400" dirty="0"/>
          </a:p>
        </p:txBody>
      </p:sp>
      <p:sp>
        <p:nvSpPr>
          <p:cNvPr id="16" name="Text 13"/>
          <p:cNvSpPr/>
          <p:nvPr/>
        </p:nvSpPr>
        <p:spPr>
          <a:xfrm>
            <a:off x="7406640" y="3840480"/>
            <a:ext cx="3886200" cy="822960"/>
          </a:xfrm>
          <a:prstGeom prst="rect">
            <a:avLst/>
          </a:prstGeom>
          <a:noFill/>
          <a:ln/>
        </p:spPr>
        <p:txBody>
          <a:bodyPr wrap="square" lIns="0" tIns="0" rIns="0" bIns="0" rtlCol="0" anchor="t"/>
          <a:lstStyle/>
          <a:p>
            <a:pPr marL="0" indent="0">
              <a:lnSpc>
                <a:spcPct val="120000"/>
              </a:lnSpc>
              <a:buNone/>
            </a:pPr>
            <a:r>
              <a:rPr lang="en-US" sz="1200" dirty="0">
                <a:solidFill>
                  <a:srgbClr val="E3F3F1"/>
                </a:solidFill>
                <a:latin typeface="Calibri" pitchFamily="34" charset="0"/>
                <a:ea typeface="Calibri" pitchFamily="34" charset="-122"/>
                <a:cs typeface="Calibri" pitchFamily="34" charset="-120"/>
              </a:rPr>
              <a:t>Mice receiving SAD-patient microbiota began showing a heightened social anxiety response.</a:t>
            </a:r>
            <a:endParaRPr lang="en-US" sz="1200" dirty="0"/>
          </a:p>
        </p:txBody>
      </p:sp>
      <p:sp>
        <p:nvSpPr>
          <p:cNvPr id="17" name="Shape 14"/>
          <p:cNvSpPr/>
          <p:nvPr/>
        </p:nvSpPr>
        <p:spPr>
          <a:xfrm>
            <a:off x="6903720" y="4892040"/>
            <a:ext cx="384048" cy="384048"/>
          </a:xfrm>
          <a:prstGeom prst="ellipse">
            <a:avLst/>
          </a:prstGeom>
          <a:solidFill>
            <a:srgbClr val="02C39A"/>
          </a:solidFill>
          <a:ln/>
        </p:spPr>
        <p:txBody>
          <a:bodyPr/>
          <a:lstStyle/>
          <a:p>
            <a:endParaRPr lang="en-CA"/>
          </a:p>
        </p:txBody>
      </p:sp>
      <p:sp>
        <p:nvSpPr>
          <p:cNvPr id="18" name="Text 15"/>
          <p:cNvSpPr/>
          <p:nvPr/>
        </p:nvSpPr>
        <p:spPr>
          <a:xfrm>
            <a:off x="6903720" y="4892040"/>
            <a:ext cx="384048" cy="384048"/>
          </a:xfrm>
          <a:prstGeom prst="rect">
            <a:avLst/>
          </a:prstGeom>
          <a:noFill/>
          <a:ln/>
        </p:spPr>
        <p:txBody>
          <a:bodyPr wrap="square" lIns="0" tIns="0" rIns="0" bIns="0" rtlCol="0" anchor="ctr"/>
          <a:lstStyle/>
          <a:p>
            <a:pPr marL="0" indent="0" algn="ctr">
              <a:buNone/>
            </a:pPr>
            <a:r>
              <a:rPr lang="en-US" sz="1400" b="1" dirty="0">
                <a:solidFill>
                  <a:srgbClr val="013A40"/>
                </a:solidFill>
                <a:latin typeface="Calibri" pitchFamily="34" charset="0"/>
                <a:ea typeface="Calibri" pitchFamily="34" charset="-122"/>
                <a:cs typeface="Calibri" pitchFamily="34" charset="-120"/>
              </a:rPr>
              <a:t>3</a:t>
            </a:r>
            <a:endParaRPr lang="en-US" sz="1400" dirty="0"/>
          </a:p>
        </p:txBody>
      </p:sp>
      <p:sp>
        <p:nvSpPr>
          <p:cNvPr id="19" name="Text 16"/>
          <p:cNvSpPr/>
          <p:nvPr/>
        </p:nvSpPr>
        <p:spPr>
          <a:xfrm>
            <a:off x="7406640" y="4846320"/>
            <a:ext cx="3886200" cy="822960"/>
          </a:xfrm>
          <a:prstGeom prst="rect">
            <a:avLst/>
          </a:prstGeom>
          <a:noFill/>
          <a:ln/>
        </p:spPr>
        <p:txBody>
          <a:bodyPr wrap="square" lIns="0" tIns="0" rIns="0" bIns="0" rtlCol="0" anchor="t"/>
          <a:lstStyle/>
          <a:p>
            <a:pPr marL="0" indent="0">
              <a:lnSpc>
                <a:spcPct val="120000"/>
              </a:lnSpc>
              <a:buNone/>
            </a:pPr>
            <a:r>
              <a:rPr lang="en-US" sz="1200" dirty="0">
                <a:solidFill>
                  <a:srgbClr val="E3F3F1"/>
                </a:solidFill>
                <a:latin typeface="Calibri" pitchFamily="34" charset="0"/>
                <a:ea typeface="Calibri" pitchFamily="34" charset="-122"/>
                <a:cs typeface="Calibri" pitchFamily="34" charset="-120"/>
              </a:rPr>
              <a:t>Result: a significant reduction in social interaction among these mice.</a:t>
            </a:r>
            <a:endParaRPr lang="en-US" sz="1200" dirty="0"/>
          </a:p>
        </p:txBody>
      </p:sp>
      <p:sp>
        <p:nvSpPr>
          <p:cNvPr id="20" name="Text 17"/>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Gut-brain axis</a:t>
            </a:r>
            <a:endParaRPr lang="en-US" sz="1000" dirty="0"/>
          </a:p>
        </p:txBody>
      </p:sp>
      <p:sp>
        <p:nvSpPr>
          <p:cNvPr id="21" name="Text 18"/>
          <p:cNvSpPr/>
          <p:nvPr/>
        </p:nvSpPr>
        <p:spPr>
          <a:xfrm>
            <a:off x="8076895" y="6473952"/>
            <a:ext cx="365760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Biological Factors: SAD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640080"/>
          </a:xfrm>
          <a:prstGeom prst="rect">
            <a:avLst/>
          </a:prstGeom>
          <a:noFill/>
          <a:ln/>
        </p:spPr>
        <p:txBody>
          <a:bodyPr wrap="square" lIns="0" tIns="0" rIns="0" bIns="0" rtlCol="0" anchor="ctr"/>
          <a:lstStyle/>
          <a:p>
            <a:pPr marL="0" indent="0" algn="l">
              <a:buNone/>
            </a:pPr>
            <a:r>
              <a:rPr lang="en-US" sz="3000" b="1" dirty="0">
                <a:solidFill>
                  <a:srgbClr val="013A40"/>
                </a:solidFill>
                <a:latin typeface="Cambria" pitchFamily="34" charset="0"/>
                <a:ea typeface="Cambria" pitchFamily="34" charset="-122"/>
                <a:cs typeface="Cambria" pitchFamily="34" charset="-120"/>
              </a:rPr>
              <a:t>Putting the Biological Evidence Together</a:t>
            </a:r>
            <a:endParaRPr lang="en-US" sz="3000" dirty="0"/>
          </a:p>
        </p:txBody>
      </p:sp>
      <p:sp>
        <p:nvSpPr>
          <p:cNvPr id="3" name="Text 1"/>
          <p:cNvSpPr/>
          <p:nvPr/>
        </p:nvSpPr>
        <p:spPr>
          <a:xfrm>
            <a:off x="548640" y="987552"/>
            <a:ext cx="11094415" cy="365760"/>
          </a:xfrm>
          <a:prstGeom prst="rect">
            <a:avLst/>
          </a:prstGeom>
          <a:noFill/>
          <a:ln/>
        </p:spPr>
        <p:txBody>
          <a:bodyPr wrap="square" lIns="0" tIns="0" rIns="0" bIns="0" rtlCol="0" anchor="ctr"/>
          <a:lstStyle/>
          <a:p>
            <a:pPr marL="0" indent="0" algn="l">
              <a:buNone/>
            </a:pPr>
            <a:r>
              <a:rPr lang="en-US" sz="1400" i="1" dirty="0">
                <a:solidFill>
                  <a:srgbClr val="5B6B70"/>
                </a:solidFill>
                <a:latin typeface="Calibri" pitchFamily="34" charset="0"/>
                <a:ea typeface="Calibri" pitchFamily="34" charset="-122"/>
                <a:cs typeface="Calibri" pitchFamily="34" charset="-120"/>
              </a:rPr>
              <a:t>Evaluating the gut-brain axis, and where the research stands</a:t>
            </a:r>
            <a:endParaRPr lang="en-US" sz="1400" dirty="0"/>
          </a:p>
        </p:txBody>
      </p:sp>
      <p:sp>
        <p:nvSpPr>
          <p:cNvPr id="4" name="Shape 2"/>
          <p:cNvSpPr/>
          <p:nvPr/>
        </p:nvSpPr>
        <p:spPr>
          <a:xfrm>
            <a:off x="548640" y="1737360"/>
            <a:ext cx="5257800" cy="1965960"/>
          </a:xfrm>
          <a:prstGeom prst="roundRect">
            <a:avLst>
              <a:gd name="adj" fmla="val 4651"/>
            </a:avLst>
          </a:prstGeom>
          <a:solidFill>
            <a:srgbClr val="F2F9F8"/>
          </a:solidFill>
          <a:ln/>
        </p:spPr>
        <p:txBody>
          <a:bodyPr/>
          <a:lstStyle/>
          <a:p>
            <a:endParaRPr lang="en-CA"/>
          </a:p>
        </p:txBody>
      </p:sp>
      <p:sp>
        <p:nvSpPr>
          <p:cNvPr id="5" name="Text 3"/>
          <p:cNvSpPr/>
          <p:nvPr/>
        </p:nvSpPr>
        <p:spPr>
          <a:xfrm>
            <a:off x="822960" y="1938528"/>
            <a:ext cx="4709160" cy="274320"/>
          </a:xfrm>
          <a:prstGeom prst="rect">
            <a:avLst/>
          </a:prstGeom>
          <a:noFill/>
          <a:ln/>
        </p:spPr>
        <p:txBody>
          <a:bodyPr wrap="square" lIns="0" tIns="0" rIns="0" bIns="0" rtlCol="0" anchor="ctr"/>
          <a:lstStyle/>
          <a:p>
            <a:pPr marL="0" indent="0">
              <a:buNone/>
            </a:pPr>
            <a:r>
              <a:rPr lang="en-US" sz="1100" b="1" kern="0" spc="100" dirty="0">
                <a:solidFill>
                  <a:srgbClr val="00A896"/>
                </a:solidFill>
                <a:latin typeface="Calibri" pitchFamily="34" charset="0"/>
                <a:ea typeface="Calibri" pitchFamily="34" charset="-122"/>
                <a:cs typeface="Calibri" pitchFamily="34" charset="-120"/>
              </a:rPr>
              <a:t>STRENGTH</a:t>
            </a:r>
            <a:endParaRPr lang="en-US" sz="1100" dirty="0"/>
          </a:p>
        </p:txBody>
      </p:sp>
      <p:sp>
        <p:nvSpPr>
          <p:cNvPr id="6" name="Text 4"/>
          <p:cNvSpPr/>
          <p:nvPr/>
        </p:nvSpPr>
        <p:spPr>
          <a:xfrm>
            <a:off x="822960" y="2240280"/>
            <a:ext cx="4709160" cy="1371600"/>
          </a:xfrm>
          <a:prstGeom prst="rect">
            <a:avLst/>
          </a:prstGeom>
          <a:noFill/>
          <a:ln/>
        </p:spPr>
        <p:txBody>
          <a:bodyPr wrap="square" lIns="0" tIns="0" rIns="0" bIns="0" rtlCol="0" anchor="t"/>
          <a:lstStyle/>
          <a:p>
            <a:pPr marL="0" indent="0">
              <a:lnSpc>
                <a:spcPct val="125000"/>
              </a:lnSpc>
              <a:buNone/>
            </a:pPr>
            <a:r>
              <a:rPr lang="en-US" sz="1250" dirty="0">
                <a:solidFill>
                  <a:srgbClr val="1F2937"/>
                </a:solidFill>
                <a:latin typeface="Calibri" pitchFamily="34" charset="0"/>
                <a:ea typeface="Calibri" pitchFamily="34" charset="-122"/>
                <a:cs typeface="Calibri" pitchFamily="34" charset="-120"/>
              </a:rPr>
              <a:t>The gut and brain are known to communicate constantly, so it is logical that gut microbiota would influence brain function and behavior.</a:t>
            </a:r>
            <a:endParaRPr lang="en-US" sz="1250" dirty="0"/>
          </a:p>
        </p:txBody>
      </p:sp>
      <p:sp>
        <p:nvSpPr>
          <p:cNvPr id="7" name="Shape 5"/>
          <p:cNvSpPr/>
          <p:nvPr/>
        </p:nvSpPr>
        <p:spPr>
          <a:xfrm>
            <a:off x="548640" y="3931920"/>
            <a:ext cx="5257800" cy="1965960"/>
          </a:xfrm>
          <a:prstGeom prst="roundRect">
            <a:avLst>
              <a:gd name="adj" fmla="val 4651"/>
            </a:avLst>
          </a:prstGeom>
          <a:solidFill>
            <a:srgbClr val="F2F9F8"/>
          </a:solidFill>
          <a:ln/>
        </p:spPr>
        <p:txBody>
          <a:bodyPr/>
          <a:lstStyle/>
          <a:p>
            <a:endParaRPr lang="en-CA"/>
          </a:p>
        </p:txBody>
      </p:sp>
      <p:sp>
        <p:nvSpPr>
          <p:cNvPr id="8" name="Text 6"/>
          <p:cNvSpPr/>
          <p:nvPr/>
        </p:nvSpPr>
        <p:spPr>
          <a:xfrm>
            <a:off x="822960" y="4133088"/>
            <a:ext cx="4709160" cy="274320"/>
          </a:xfrm>
          <a:prstGeom prst="rect">
            <a:avLst/>
          </a:prstGeom>
          <a:noFill/>
          <a:ln/>
        </p:spPr>
        <p:txBody>
          <a:bodyPr wrap="square" lIns="0" tIns="0" rIns="0" bIns="0" rtlCol="0" anchor="ctr"/>
          <a:lstStyle/>
          <a:p>
            <a:pPr marL="0" indent="0">
              <a:buNone/>
            </a:pPr>
            <a:r>
              <a:rPr lang="en-US" sz="1100" b="1" kern="0" spc="100" dirty="0">
                <a:solidFill>
                  <a:srgbClr val="028090"/>
                </a:solidFill>
                <a:latin typeface="Calibri" pitchFamily="34" charset="0"/>
                <a:ea typeface="Calibri" pitchFamily="34" charset="-122"/>
                <a:cs typeface="Calibri" pitchFamily="34" charset="-120"/>
              </a:rPr>
              <a:t>LIMITATION</a:t>
            </a:r>
            <a:endParaRPr lang="en-US" sz="1100" dirty="0"/>
          </a:p>
        </p:txBody>
      </p:sp>
      <p:sp>
        <p:nvSpPr>
          <p:cNvPr id="9" name="Text 7"/>
          <p:cNvSpPr/>
          <p:nvPr/>
        </p:nvSpPr>
        <p:spPr>
          <a:xfrm>
            <a:off x="822960" y="4434840"/>
            <a:ext cx="4709160" cy="1371600"/>
          </a:xfrm>
          <a:prstGeom prst="rect">
            <a:avLst/>
          </a:prstGeom>
          <a:noFill/>
          <a:ln/>
        </p:spPr>
        <p:txBody>
          <a:bodyPr wrap="square" lIns="0" tIns="0" rIns="0" bIns="0" rtlCol="0" anchor="t"/>
          <a:lstStyle/>
          <a:p>
            <a:pPr marL="0" indent="0">
              <a:lnSpc>
                <a:spcPct val="125000"/>
              </a:lnSpc>
              <a:buNone/>
            </a:pPr>
            <a:r>
              <a:rPr lang="en-US" sz="1250" dirty="0">
                <a:solidFill>
                  <a:srgbClr val="1F2937"/>
                </a:solidFill>
                <a:latin typeface="Calibri" pitchFamily="34" charset="0"/>
                <a:ea typeface="Calibri" pitchFamily="34" charset="-122"/>
                <a:cs typeface="Calibri" pitchFamily="34" charset="-120"/>
              </a:rPr>
              <a:t>The gut-microbiota link to SAD has only been demonstrated in mice; it would be unethical to test transplantation directly in humans, so transferability remains uncertain.</a:t>
            </a:r>
            <a:endParaRPr lang="en-US" sz="1250" dirty="0"/>
          </a:p>
        </p:txBody>
      </p:sp>
      <p:sp>
        <p:nvSpPr>
          <p:cNvPr id="10" name="Shape 8"/>
          <p:cNvSpPr/>
          <p:nvPr/>
        </p:nvSpPr>
        <p:spPr>
          <a:xfrm>
            <a:off x="6217920" y="1737360"/>
            <a:ext cx="5394960" cy="4160520"/>
          </a:xfrm>
          <a:prstGeom prst="roundRect">
            <a:avLst>
              <a:gd name="adj" fmla="val 2637"/>
            </a:avLst>
          </a:prstGeom>
          <a:solidFill>
            <a:srgbClr val="013A40"/>
          </a:solidFill>
          <a:ln/>
        </p:spPr>
        <p:txBody>
          <a:bodyPr/>
          <a:lstStyle/>
          <a:p>
            <a:endParaRPr lang="en-CA"/>
          </a:p>
        </p:txBody>
      </p:sp>
      <p:sp>
        <p:nvSpPr>
          <p:cNvPr id="11" name="Text 9"/>
          <p:cNvSpPr/>
          <p:nvPr/>
        </p:nvSpPr>
        <p:spPr>
          <a:xfrm>
            <a:off x="6537960" y="2011680"/>
            <a:ext cx="4754880" cy="320040"/>
          </a:xfrm>
          <a:prstGeom prst="rect">
            <a:avLst/>
          </a:prstGeom>
          <a:noFill/>
          <a:ln/>
        </p:spPr>
        <p:txBody>
          <a:bodyPr wrap="square" lIns="0" tIns="0" rIns="0" bIns="0" rtlCol="0" anchor="ctr"/>
          <a:lstStyle/>
          <a:p>
            <a:pPr marL="0" indent="0">
              <a:buNone/>
            </a:pPr>
            <a:r>
              <a:rPr lang="en-US" sz="1200" b="1" kern="0" spc="100" dirty="0">
                <a:solidFill>
                  <a:srgbClr val="02C39A"/>
                </a:solidFill>
                <a:latin typeface="Calibri" pitchFamily="34" charset="0"/>
                <a:ea typeface="Calibri" pitchFamily="34" charset="-122"/>
                <a:cs typeface="Calibri" pitchFamily="34" charset="-120"/>
              </a:rPr>
              <a:t>THREE CONVERGING LINES OF EVIDENCE</a:t>
            </a:r>
            <a:endParaRPr lang="en-US" sz="1200" dirty="0"/>
          </a:p>
        </p:txBody>
      </p:sp>
      <p:sp>
        <p:nvSpPr>
          <p:cNvPr id="12" name="Shape 10"/>
          <p:cNvSpPr/>
          <p:nvPr/>
        </p:nvSpPr>
        <p:spPr>
          <a:xfrm>
            <a:off x="6537960" y="2560320"/>
            <a:ext cx="146304" cy="146304"/>
          </a:xfrm>
          <a:prstGeom prst="ellipse">
            <a:avLst/>
          </a:prstGeom>
          <a:solidFill>
            <a:srgbClr val="02C39A"/>
          </a:solidFill>
          <a:ln/>
        </p:spPr>
        <p:txBody>
          <a:bodyPr/>
          <a:lstStyle/>
          <a:p>
            <a:endParaRPr lang="en-CA"/>
          </a:p>
        </p:txBody>
      </p:sp>
      <p:sp>
        <p:nvSpPr>
          <p:cNvPr id="13" name="Text 11"/>
          <p:cNvSpPr/>
          <p:nvPr/>
        </p:nvSpPr>
        <p:spPr>
          <a:xfrm>
            <a:off x="6812280" y="2423160"/>
            <a:ext cx="448056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Genetics</a:t>
            </a:r>
            <a:endParaRPr lang="en-US" sz="1350" dirty="0"/>
          </a:p>
        </p:txBody>
      </p:sp>
      <p:sp>
        <p:nvSpPr>
          <p:cNvPr id="14" name="Text 12"/>
          <p:cNvSpPr/>
          <p:nvPr/>
        </p:nvSpPr>
        <p:spPr>
          <a:xfrm>
            <a:off x="6812280" y="2715768"/>
            <a:ext cx="4480560" cy="502920"/>
          </a:xfrm>
          <a:prstGeom prst="rect">
            <a:avLst/>
          </a:prstGeom>
          <a:noFill/>
          <a:ln/>
        </p:spPr>
        <p:txBody>
          <a:bodyPr wrap="square" lIns="0" tIns="0" rIns="0" bIns="0" rtlCol="0" anchor="t"/>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Heritable predisposition (twin studies), candidate genes SLC6A2 and OXTR</a:t>
            </a:r>
            <a:endParaRPr lang="en-US" sz="1150" dirty="0"/>
          </a:p>
        </p:txBody>
      </p:sp>
      <p:sp>
        <p:nvSpPr>
          <p:cNvPr id="15" name="Shape 13"/>
          <p:cNvSpPr/>
          <p:nvPr/>
        </p:nvSpPr>
        <p:spPr>
          <a:xfrm>
            <a:off x="6537960" y="3429000"/>
            <a:ext cx="146304" cy="146304"/>
          </a:xfrm>
          <a:prstGeom prst="ellipse">
            <a:avLst/>
          </a:prstGeom>
          <a:solidFill>
            <a:srgbClr val="02C39A"/>
          </a:solidFill>
          <a:ln/>
        </p:spPr>
        <p:txBody>
          <a:bodyPr/>
          <a:lstStyle/>
          <a:p>
            <a:endParaRPr lang="en-CA"/>
          </a:p>
        </p:txBody>
      </p:sp>
      <p:sp>
        <p:nvSpPr>
          <p:cNvPr id="16" name="Text 14"/>
          <p:cNvSpPr/>
          <p:nvPr/>
        </p:nvSpPr>
        <p:spPr>
          <a:xfrm>
            <a:off x="6812280" y="3291840"/>
            <a:ext cx="448056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Neurochemistry</a:t>
            </a:r>
            <a:endParaRPr lang="en-US" sz="1350" dirty="0"/>
          </a:p>
        </p:txBody>
      </p:sp>
      <p:sp>
        <p:nvSpPr>
          <p:cNvPr id="17" name="Text 15"/>
          <p:cNvSpPr/>
          <p:nvPr/>
        </p:nvSpPr>
        <p:spPr>
          <a:xfrm>
            <a:off x="6812280" y="3584448"/>
            <a:ext cx="4480560" cy="502920"/>
          </a:xfrm>
          <a:prstGeom prst="rect">
            <a:avLst/>
          </a:prstGeom>
          <a:noFill/>
          <a:ln/>
        </p:spPr>
        <p:txBody>
          <a:bodyPr wrap="square" lIns="0" tIns="0" rIns="0" bIns="0" rtlCol="0" anchor="t"/>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Oxytocin regulates amygdala response to social threat</a:t>
            </a:r>
            <a:endParaRPr lang="en-US" sz="1150" dirty="0"/>
          </a:p>
        </p:txBody>
      </p:sp>
      <p:sp>
        <p:nvSpPr>
          <p:cNvPr id="18" name="Shape 16"/>
          <p:cNvSpPr/>
          <p:nvPr/>
        </p:nvSpPr>
        <p:spPr>
          <a:xfrm>
            <a:off x="6537960" y="4297680"/>
            <a:ext cx="146304" cy="146304"/>
          </a:xfrm>
          <a:prstGeom prst="ellipse">
            <a:avLst/>
          </a:prstGeom>
          <a:solidFill>
            <a:srgbClr val="02C39A"/>
          </a:solidFill>
          <a:ln/>
        </p:spPr>
        <p:txBody>
          <a:bodyPr/>
          <a:lstStyle/>
          <a:p>
            <a:endParaRPr lang="en-CA"/>
          </a:p>
        </p:txBody>
      </p:sp>
      <p:sp>
        <p:nvSpPr>
          <p:cNvPr id="19" name="Text 17"/>
          <p:cNvSpPr/>
          <p:nvPr/>
        </p:nvSpPr>
        <p:spPr>
          <a:xfrm>
            <a:off x="6812280" y="4160520"/>
            <a:ext cx="448056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Gut microbiome</a:t>
            </a:r>
            <a:endParaRPr lang="en-US" sz="1350" dirty="0"/>
          </a:p>
        </p:txBody>
      </p:sp>
      <p:sp>
        <p:nvSpPr>
          <p:cNvPr id="20" name="Text 18"/>
          <p:cNvSpPr/>
          <p:nvPr/>
        </p:nvSpPr>
        <p:spPr>
          <a:xfrm>
            <a:off x="6812280" y="4453128"/>
            <a:ext cx="4480560" cy="502920"/>
          </a:xfrm>
          <a:prstGeom prst="rect">
            <a:avLst/>
          </a:prstGeom>
          <a:noFill/>
          <a:ln/>
        </p:spPr>
        <p:txBody>
          <a:bodyPr wrap="square" lIns="0" tIns="0" rIns="0" bIns="0" rtlCol="0" anchor="t"/>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Emerging animal evidence for a gut-brain pathway</a:t>
            </a:r>
            <a:endParaRPr lang="en-US" sz="1150" dirty="0"/>
          </a:p>
        </p:txBody>
      </p:sp>
      <p:sp>
        <p:nvSpPr>
          <p:cNvPr id="21" name="Text 19"/>
          <p:cNvSpPr/>
          <p:nvPr/>
        </p:nvSpPr>
        <p:spPr>
          <a:xfrm>
            <a:off x="6537960" y="5120640"/>
            <a:ext cx="4754880" cy="685800"/>
          </a:xfrm>
          <a:prstGeom prst="rect">
            <a:avLst/>
          </a:prstGeom>
          <a:noFill/>
          <a:ln/>
        </p:spPr>
        <p:txBody>
          <a:bodyPr wrap="square" lIns="0" tIns="0" rIns="0" bIns="0" rtlCol="0" anchor="t"/>
          <a:lstStyle/>
          <a:p>
            <a:pPr marL="0" indent="0">
              <a:lnSpc>
                <a:spcPct val="120000"/>
              </a:lnSpc>
              <a:buNone/>
            </a:pPr>
            <a:r>
              <a:rPr lang="en-US" sz="1150" i="1" dirty="0">
                <a:solidFill>
                  <a:srgbClr val="02C39A"/>
                </a:solidFill>
                <a:latin typeface="Calibri" pitchFamily="34" charset="0"/>
                <a:ea typeface="Calibri" pitchFamily="34" charset="-122"/>
                <a:cs typeface="Calibri" pitchFamily="34" charset="-120"/>
              </a:rPr>
              <a:t>Across all three explanations, biology alone is not the full story — each pathway is shaped by, and interacts with, environmental factors. This is the diathesis-stress model in action.</a:t>
            </a:r>
            <a:endParaRPr lang="en-US" sz="1150" dirty="0"/>
          </a:p>
        </p:txBody>
      </p:sp>
      <p:sp>
        <p:nvSpPr>
          <p:cNvPr id="22" name="Text 20"/>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B6B70"/>
                </a:solidFill>
                <a:latin typeface="Calibri" pitchFamily="34" charset="0"/>
                <a:ea typeface="Calibri" pitchFamily="34" charset="-122"/>
                <a:cs typeface="Calibri" pitchFamily="34" charset="-120"/>
              </a:rPr>
              <a:t>Synthesis • Conclusion</a:t>
            </a:r>
            <a:endParaRPr lang="en-US" sz="1000" dirty="0"/>
          </a:p>
        </p:txBody>
      </p:sp>
      <p:sp>
        <p:nvSpPr>
          <p:cNvPr id="23" name="Text 21"/>
          <p:cNvSpPr/>
          <p:nvPr/>
        </p:nvSpPr>
        <p:spPr>
          <a:xfrm>
            <a:off x="8076895" y="6473952"/>
            <a:ext cx="3657600" cy="274320"/>
          </a:xfrm>
          <a:prstGeom prst="rect">
            <a:avLst/>
          </a:prstGeom>
          <a:noFill/>
          <a:ln/>
        </p:spPr>
        <p:txBody>
          <a:bodyPr wrap="square" rtlCol="0" anchor="ctr"/>
          <a:lstStyle/>
          <a:p>
            <a:pPr marL="0" indent="0" algn="r">
              <a:buNone/>
            </a:pPr>
            <a:r>
              <a:rPr lang="en-US" sz="1000" dirty="0">
                <a:solidFill>
                  <a:srgbClr val="5B6B70"/>
                </a:solidFill>
                <a:latin typeface="Calibri" pitchFamily="34" charset="0"/>
                <a:ea typeface="Calibri" pitchFamily="34" charset="-122"/>
                <a:cs typeface="Calibri" pitchFamily="34" charset="-120"/>
              </a:rPr>
              <a:t>Biological Factors: SAD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8263</TotalTime>
  <Words>1311</Words>
  <Application>Microsoft Office PowerPoint</Application>
  <PresentationFormat>Widescreen</PresentationFormat>
  <Paragraphs>147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Ken Huber</cp:lastModifiedBy>
  <cp:revision>1</cp:revision>
  <dcterms:created xsi:type="dcterms:W3CDTF">2026-08-05T17:47:21Z</dcterms:created>
  <dcterms:modified xsi:type="dcterms:W3CDTF">2026-08-11T11:38:33Z</dcterms:modified>
</cp:coreProperties>
</file>