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DISORDERS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251460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Anxiety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Disorders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822960" y="4343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survey of the anxiety disorders — before we study Social Anxiety Disorder in depth.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04120" y="68580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5522" y="927202"/>
            <a:ext cx="523037" cy="52303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087100" y="176022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1692" y="1924812"/>
            <a:ext cx="356616" cy="35661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584180" y="272034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6826" y="2862986"/>
            <a:ext cx="309067" cy="3090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ANXIETY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Anxiety?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943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 is an unpleasant emotion tied to a general sense of danger or dread — the feeling that something bad is about to happen.</a:t>
            </a:r>
            <a:endParaRPr lang="en-US" sz="155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is closely related, but tied to a specific, identifiable threat.</a:t>
            </a:r>
            <a:endParaRPr lang="en-US" sz="155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evolutionarily adaptive — the capacity to freeze or flee kept our ancestors alive when facing real danger.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0" y="1691640"/>
            <a:ext cx="48006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78040" y="1920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 Shows Up in Four Channels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78040" y="2514600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0935" y="2637495"/>
            <a:ext cx="266273" cy="2662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18120" y="24963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18120" y="277063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Fright, nervousness, irritability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178040" y="3355848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0935" y="3478743"/>
            <a:ext cx="266273" cy="26627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818120" y="33375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818120" y="3611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Hypervigilance, rumination, poor focus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178040" y="4197096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935" y="4319991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818120" y="41788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7818120" y="445312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"Fight-or-flight," freezing, avoidance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178040" y="5038344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0935" y="5161239"/>
            <a:ext cx="266273" cy="26627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818120" y="502005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818120" y="529437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Racing heart, muscle tension, dry mouth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Hansell &amp; Damour, Abnormal Psychology, 2nd ed. (Wiley) — Chapter 4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BASIS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Biology of Fear and Anxiety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Autonomic Nervous System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Sympathetic division: activates the threat response — adrenaline/noradrenaline, faster heart rate, tense muscles.</a:t>
            </a:r>
            <a:endParaRPr lang="en-US" sz="13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Parasympathetic division: calms the body back down once danger passes.</a:t>
            </a:r>
            <a:endParaRPr lang="en-US" sz="13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Fight-or-flight response: an extreme version of sympathetic activation — primitive, and shared across animals.</a:t>
            </a:r>
            <a:endParaRPr lang="en-US" sz="13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attacks, biologically: this same response firing with no real threat present.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691640"/>
            <a:ext cx="53035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2940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Limbic System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29400" y="2423160"/>
            <a:ext cx="512064" cy="51206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2295" y="2546055"/>
            <a:ext cx="266273" cy="26627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269480" y="24048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Amygdala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269480" y="267919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the emotional significance of what the senses take in — drives conditioned fear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629400" y="3410712"/>
            <a:ext cx="512064" cy="51206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2295" y="3533607"/>
            <a:ext cx="266273" cy="26627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339242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Hippocampus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269480" y="366674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the memories tied to that fear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629400" y="4398264"/>
            <a:ext cx="512064" cy="51206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295" y="4521159"/>
            <a:ext cx="266273" cy="26627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269480" y="437997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Hypothalamus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7269480" y="465429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 signal and triggers the physical stress response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Hansell &amp; Damour, Abnormal Psychology, 2nd ed. (Wiley) — Chapter 4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ESSAY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Body Under Threat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Sympathetic activation vs. parasympathetic recovery, organ by organ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023360" y="1965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SYMPATHETIC — "FIGHT-OR-FLIGHT"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955280" y="1965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PARASYMPATHETIC — "REST-AND-DIGEST"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0664" y="237744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836" y="2469612"/>
            <a:ext cx="199705" cy="19970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23957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Pupils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023360" y="23957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Dilate — distance vision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955280" y="23957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— close vision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2935224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40664" y="3026664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836" y="3118836"/>
            <a:ext cx="199705" cy="19970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34440" y="30449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Salivary glands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023360" y="30449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Decreased — dry mouth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7955280" y="30449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secretion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48640" y="3584448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40664" y="3675888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836" y="3768060"/>
            <a:ext cx="199705" cy="19970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234440" y="36941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023360" y="36941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Airways widen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7955280" y="36941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Airways constrict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548640" y="4233672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40664" y="432511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36" y="4417284"/>
            <a:ext cx="199705" cy="19970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234440" y="43434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4023360" y="43434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stronger beats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7955280" y="4343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Slower, weaker beats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548640" y="4882896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740664" y="497433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836" y="5066508"/>
            <a:ext cx="199705" cy="199705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234440" y="49926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Pancreas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4023360" y="49926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Enzymes/insulin inhibited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7955280" y="49926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Enzymes/insulin resume</a:t>
            </a:r>
            <a:endParaRPr lang="en-US" sz="1250" dirty="0"/>
          </a:p>
        </p:txBody>
      </p:sp>
      <p:sp>
        <p:nvSpPr>
          <p:cNvPr id="38" name="Shape 31"/>
          <p:cNvSpPr/>
          <p:nvPr/>
        </p:nvSpPr>
        <p:spPr>
          <a:xfrm>
            <a:off x="548640" y="55321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740664" y="562356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836" y="5715732"/>
            <a:ext cx="199705" cy="199705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1234440" y="56418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Stomach &amp; intestines</a:t>
            </a:r>
            <a:endParaRPr lang="en-US" sz="1300" dirty="0"/>
          </a:p>
        </p:txBody>
      </p:sp>
      <p:sp>
        <p:nvSpPr>
          <p:cNvPr id="42" name="Text 34"/>
          <p:cNvSpPr/>
          <p:nvPr/>
        </p:nvSpPr>
        <p:spPr>
          <a:xfrm>
            <a:off x="4023360" y="56418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Digestion slows</a:t>
            </a:r>
            <a:endParaRPr lang="en-US" sz="1250" dirty="0"/>
          </a:p>
        </p:txBody>
      </p:sp>
      <p:sp>
        <p:nvSpPr>
          <p:cNvPr id="43" name="Text 35"/>
          <p:cNvSpPr/>
          <p:nvPr/>
        </p:nvSpPr>
        <p:spPr>
          <a:xfrm>
            <a:off x="7955280" y="56418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Digestion speeds up</a:t>
            </a:r>
            <a:endParaRPr lang="en-US" sz="1250" dirty="0"/>
          </a:p>
        </p:txBody>
      </p:sp>
      <p:sp>
        <p:nvSpPr>
          <p:cNvPr id="44" name="Text 3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Hansell &amp; Damour, Abnormal Psychology, 2nd ed. — Chapter 4 Visual Essay</a:t>
            </a:r>
            <a:endParaRPr lang="en-US" sz="900" dirty="0"/>
          </a:p>
        </p:txBody>
      </p:sp>
      <p:sp>
        <p:nvSpPr>
          <p:cNvPr id="45" name="Text 3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BASIS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Neurotransmitters and Anxiety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5820" y="210312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358" y="22896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74520" y="23500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brain's main inhibitory neurotransmitter — calms the limbic system down. In GAD, GABA doesn't seem to work effectively. Benzodiazepines (Valium, Xanax) work partly by boosting GABA's calming effect at its receptors.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3832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45820" y="370332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358" y="388985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7452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Norepinephrine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874520" y="39502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the locus coeruleus, a brainstem structure that regulates arousal. Once conditioned to fear, its neurons fire at the slightest stimulation — hypersensitive pathways here are linked to panic attacks and PTSD.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9834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" y="530352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358" y="549005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5166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Serotonin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874520" y="5550408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increase or decrease anxiety depending on brain region and receptor type. Reduced serotonin functioning has been linked to repeated panic attacks — part of why SSRIs are a first-line treatment.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Hansell &amp; Damour, Abnormal Psychology, 2nd ed. (Wiley) — Chapter 4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ANXIETY DISORDERS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Does Anxiety Become a Disorder?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5820" y="194310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358" y="212963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11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28803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fear proportional to the actual threat? People with anxiety disorders feel intense fear in situations that don't warrant it — or when no real danger is present at all.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60820" y="194310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358" y="212963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011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Intensity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537960" y="28803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it fall on the continuum from mild to severe? Anxiety becomes pathological when it's so intense it disrupts daily functioning.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4617720"/>
            <a:ext cx="11109960" cy="1371600"/>
          </a:xfrm>
          <a:prstGeom prst="roundRect">
            <a:avLst>
              <a:gd name="adj" fmla="val 5333"/>
            </a:avLst>
          </a:prstGeom>
          <a:solidFill>
            <a:srgbClr val="028090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914400" y="461772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 anxiety:  </a:t>
            </a:r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D6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person's general tendency to feel anxious across situations.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anxiety:  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6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 tied to one specific moment or trigger.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Hansell &amp; Damour, Abnormal Psychology, 2nd ed. (Wiley) — Chapter 4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CLOSER LOOK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You Have Too Little Anxiety?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555480" y="640080"/>
            <a:ext cx="1188720" cy="11887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0773" y="925373"/>
            <a:ext cx="618134" cy="6181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28800"/>
            <a:ext cx="10881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800"/>
              </a:spcAft>
              <a:buSzPct val="100000"/>
              <a:buChar char="•"/>
            </a:pPr>
            <a:r>
              <a:rPr lang="en-US" sz="15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"High-risk takers" sit at the opposite end of the anxiety continuum — chronically underaroused rather than overaroused.</a:t>
            </a:r>
            <a:endParaRPr lang="en-US" sz="1550" dirty="0"/>
          </a:p>
          <a:p>
            <a:pPr marL="228600" indent="-228600">
              <a:lnSpc>
                <a:spcPct val="110000"/>
              </a:lnSpc>
              <a:spcAft>
                <a:spcPts val="1800"/>
              </a:spcAft>
              <a:buSzPct val="100000"/>
              <a:buChar char="•"/>
            </a:pPr>
            <a:r>
              <a:rPr lang="en-US" sz="15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may have a built-in optimal level of arousal: high enough for focus, low enough for comfort.</a:t>
            </a:r>
            <a:endParaRPr lang="en-US" sz="1550" dirty="0"/>
          </a:p>
          <a:p>
            <a:pPr marL="228600" indent="-228600">
              <a:lnSpc>
                <a:spcPct val="110000"/>
              </a:lnSpc>
              <a:spcAft>
                <a:spcPts val="1800"/>
              </a:spcAft>
              <a:buSzPct val="100000"/>
              <a:buChar char="•"/>
            </a:pPr>
            <a:r>
              <a:rPr lang="en-US" sz="15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takers, being naturally below that baseline, may seek out risky, highly stimulating activities as a corrective — mountain climbing, extreme sports, high-stakes jobs.</a:t>
            </a:r>
            <a:endParaRPr lang="en-US" sz="1550" dirty="0"/>
          </a:p>
          <a:p>
            <a:pPr marL="228600" indent="-228600">
              <a:lnSpc>
                <a:spcPct val="110000"/>
              </a:lnSpc>
              <a:spcAft>
                <a:spcPts val="1800"/>
              </a:spcAft>
              <a:buSzPct val="100000"/>
              <a:buChar char="•"/>
            </a:pPr>
            <a:r>
              <a:rPr lang="en-US" sz="15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tradeoff: because they're less likely to anticipate danger, they're also more prone to real harm — riskier sexual practices, smoking, gambling, substance use.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Hansell &amp; Damour, Abnormal Psychology, 2nd ed. (Wiley) — Box 4.1, "High-Risk Takers"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DSM-5 CLASSIFICATION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Classifying Anxiety Disorders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0" cy="4297680"/>
          </a:xfrm>
          <a:prstGeom prst="roundRect">
            <a:avLst>
              <a:gd name="adj" fmla="val 2000"/>
            </a:avLst>
          </a:prstGeom>
          <a:solidFill>
            <a:srgbClr val="028090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4688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18%+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5661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population affected by an anxiety disorder in any given year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80560" y="1691640"/>
            <a:ext cx="71323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9202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DSM-5's Five Core Anxiety Disorders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237744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Anxiety Disorder (GAD)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Disorder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Agoraphobia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Phobia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Anxiety Disorder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0" y="4206240"/>
            <a:ext cx="6583680" cy="0"/>
          </a:xfrm>
          <a:prstGeom prst="line">
            <a:avLst/>
          </a:prstGeom>
          <a:noFill/>
          <a:ln w="12700">
            <a:solidFill>
              <a:srgbClr val="DCED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43891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DSM-5 change: OCD and PTSD used to sit in this same chapter — they've since moved to their own categories, since anxiety isn't required for either diagnosis.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Hansell &amp; Damour, Abnormal Psychology, 2nd ed.; APA, DSM-5 (2013)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ANXIETY DISORDERS —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GAD, Panic Disorder &amp; Agoraphobia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259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230154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99339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Generalized Anxiety Disorder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783080" y="237744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Chronic, pervasive worry across many areas of life. ~5% lifetime prevalence.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319272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3616452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5" y="3792017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483864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Panic Disorder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783080" y="3867912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episodes of acute terror with no real danger present. ~1–2% lifetime prevalence.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809744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5106924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5" y="5282489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974336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Agoraphobia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783080" y="535838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situations where escape might be hard or help unavailable. Now its own diagnosis — no longer linked to Panic Disorder.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Hansell &amp; Damour, Abnormal Psychology, 2nd ed.; APA, DSM-5 (2013)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ANXIETY DISORDERS —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 Phobia &amp; Social Anxiety Disorder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3088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750" y="250637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4884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 Phobia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783080" y="257860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Persistent, irrational fear/avoidance of one object or situation. The most common anxiety disorder — 9–24% lifetime prevalence.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70332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409194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750" y="428945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93192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Anxiety Disorder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783080" y="436168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centered on being watched and judged in social situations. Formerly called "social phobia" — the disorder this unit studies in depth.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Hansell &amp; Damour, Abnormal Psychology, 2nd ed.; APA, DSM-5 (2013)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CRITERIA — DSM-5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Generalized Anxiety Disorder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447020" y="61722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5503" y="825703"/>
            <a:ext cx="451714" cy="45171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37360"/>
            <a:ext cx="108813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205740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anxiety and worry, occurring more days than not, for at least six months, about a number of events or activities.</a:t>
            </a:r>
            <a:endParaRPr lang="en-US" sz="1350" dirty="0"/>
          </a:p>
          <a:p>
            <a:pPr marL="254000" indent="-2540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finds it difficult to control the worry.</a:t>
            </a:r>
            <a:endParaRPr lang="en-US" sz="1350" dirty="0"/>
          </a:p>
          <a:p>
            <a:pPr marL="254000" indent="-2540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Associated with 3+ of the following (only 1 needed in children): restlessness, fatigue, difficulty concentrating, irritability, muscle tension, sleep disturbance.</a:t>
            </a:r>
            <a:endParaRPr lang="en-US" sz="1350" dirty="0"/>
          </a:p>
          <a:p>
            <a:pPr marL="254000" indent="-2540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clinically significant distress or impairment in social, occupational, or other important functioning.</a:t>
            </a:r>
            <a:endParaRPr lang="en-US" sz="1350" dirty="0"/>
          </a:p>
          <a:p>
            <a:pPr marL="254000" indent="-2540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attributable to a substance or another medical condition, and not better explained by another mental disorder.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American Psychiatric Association, DSM-5 (2013)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CRITERIA — DSM-5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Panic Disorder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447020" y="617220"/>
            <a:ext cx="868680" cy="8686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5503" y="825703"/>
            <a:ext cx="451714" cy="45171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37360"/>
            <a:ext cx="108813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205740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Recurrent, unexpected panic attacks — an abrupt surge of intense fear or discomfort peaking within minutes, with 4+ symptoms (racing heart, sweating, trembling, shortness of breath, chest pain, nausea, dizziness, chills/heat, numbness, derealization, fear of losing control, fear of dying).</a:t>
            </a:r>
            <a:endParaRPr lang="en-US" sz="1350" dirty="0"/>
          </a:p>
          <a:p>
            <a:pPr marL="254000" indent="-2540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attack followed by 1+ month of persistent worry about future attacks, or a significant behavior change because of them.</a:t>
            </a:r>
            <a:endParaRPr lang="en-US" sz="1350" dirty="0"/>
          </a:p>
          <a:p>
            <a:pPr marL="254000" indent="-2540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attributable to a substance or medical condition.</a:t>
            </a:r>
            <a:endParaRPr lang="en-US" sz="1350" dirty="0"/>
          </a:p>
          <a:p>
            <a:pPr marL="254000" indent="-2540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better explained by another disorder — e.g. the panic isn't only triggered by feared social situations (that would be Social Anxiety Disorder instead).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American Psychiatric Association, DSM-5 (2013)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PANIC ATTACKS RECUR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Panic Attack Cycle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604259" y="2273186"/>
            <a:ext cx="1209899" cy="502945"/>
          </a:xfrm>
          <a:prstGeom prst="line">
            <a:avLst/>
          </a:prstGeom>
          <a:noFill/>
          <a:ln w="3492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8337657" y="3560674"/>
            <a:ext cx="9144" cy="742493"/>
          </a:xfrm>
          <a:prstGeom prst="line">
            <a:avLst/>
          </a:prstGeom>
          <a:noFill/>
          <a:ln w="3492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H="1">
            <a:off x="6604259" y="5087709"/>
            <a:ext cx="1209899" cy="502945"/>
          </a:xfrm>
          <a:prstGeom prst="line">
            <a:avLst/>
          </a:prstGeom>
          <a:noFill/>
          <a:ln w="3492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H="1" flipV="1">
            <a:off x="4347362" y="5087709"/>
            <a:ext cx="1209899" cy="502945"/>
          </a:xfrm>
          <a:prstGeom prst="line">
            <a:avLst/>
          </a:prstGeom>
          <a:noFill/>
          <a:ln w="3492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V="1">
            <a:off x="3823863" y="3560674"/>
            <a:ext cx="0" cy="742493"/>
          </a:xfrm>
          <a:prstGeom prst="line">
            <a:avLst/>
          </a:prstGeom>
          <a:noFill/>
          <a:ln w="3492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V="1">
            <a:off x="4347362" y="2273186"/>
            <a:ext cx="1209899" cy="502945"/>
          </a:xfrm>
          <a:prstGeom prst="line">
            <a:avLst/>
          </a:prstGeom>
          <a:noFill/>
          <a:ln w="3492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166360" y="34747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cycle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itself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89220" y="1653235"/>
            <a:ext cx="1783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335524" y="1836115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863" y="1941454"/>
            <a:ext cx="228234" cy="22823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829300" y="1708099"/>
            <a:ext cx="10332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Bodily sensation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(racing heart, tightness)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446117" y="2591410"/>
            <a:ext cx="1783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592421" y="2774290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7760" y="2879628"/>
            <a:ext cx="228234" cy="22823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086197" y="2646274"/>
            <a:ext cx="10332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Misinterpreted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danger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7446117" y="4467758"/>
            <a:ext cx="1783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592421" y="4650638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7760" y="4755977"/>
            <a:ext cx="228234" cy="22823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086197" y="4522622"/>
            <a:ext cx="10332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and anxiety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189220" y="5405933"/>
            <a:ext cx="1783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335524" y="5588813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863" y="5694152"/>
            <a:ext cx="228234" cy="22823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829300" y="5460797"/>
            <a:ext cx="10332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symptoms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intensify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2932323" y="4467758"/>
            <a:ext cx="1783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078627" y="4650638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3966" y="4755977"/>
            <a:ext cx="228234" cy="22823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572403" y="4522622"/>
            <a:ext cx="10332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panic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2932323" y="2591410"/>
            <a:ext cx="1783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078627" y="2774290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3966" y="2879628"/>
            <a:ext cx="228234" cy="22823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572403" y="2646274"/>
            <a:ext cx="10332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the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attack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diagram based on the panic-attack model in Hansell &amp; Damour, Abnormal Psychology, 2nd ed. — Chapter 4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CRITERIA — DSM-5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Agoraphobia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447020" y="617220"/>
            <a:ext cx="868680" cy="8686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5503" y="825703"/>
            <a:ext cx="451714" cy="45171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37360"/>
            <a:ext cx="108813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205740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fear or anxiety about 2+ of: using public transportation, open spaces, enclosed spaces, standing in line/crowds, being outside the home alone.</a:t>
            </a:r>
            <a:endParaRPr lang="en-US" sz="1350" dirty="0"/>
          </a:p>
          <a:p>
            <a:pPr marL="254000" indent="-2540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fears these situations because escape might be difficult, or help might not be available if panic-like or embarrassing symptoms occur.</a:t>
            </a:r>
            <a:endParaRPr lang="en-US" sz="1350" dirty="0"/>
          </a:p>
          <a:p>
            <a:pPr marL="254000" indent="-2540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situations almost always provoke fear or anxiety, and are actively avoided, require a companion, or are endured with intense distress.</a:t>
            </a:r>
            <a:endParaRPr lang="en-US" sz="1350" dirty="0"/>
          </a:p>
          <a:p>
            <a:pPr marL="254000" indent="-2540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fear is out of proportion to the actual danger, accounting for cultural context, and persists 6+ months.</a:t>
            </a:r>
            <a:endParaRPr lang="en-US" sz="1350" dirty="0"/>
          </a:p>
          <a:p>
            <a:pPr marL="254000" indent="-2540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its own diagnosis in DSM-5 — no longer required to co-occur with Panic Disorder.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American Psychiatric Association, DSM-5 (2013)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CRITERIA — DSM-5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 Phobia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447020" y="61722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5503" y="825703"/>
            <a:ext cx="451714" cy="45171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37360"/>
            <a:ext cx="108813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205740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fear or anxiety about a specific object or situation (e.g. flying, heights, animals, blood, needles).</a:t>
            </a:r>
            <a:endParaRPr lang="en-US" sz="1350" dirty="0"/>
          </a:p>
          <a:p>
            <a:pPr marL="254000" indent="-2540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object/situation almost always provokes immediate fear or anxiety, and is actively avoided or endured with intense distress.</a:t>
            </a:r>
            <a:endParaRPr lang="en-US" sz="1350" dirty="0"/>
          </a:p>
          <a:p>
            <a:pPr marL="254000" indent="-2540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fear is out of proportion to the actual danger and cultural context, and persists 6+ months.</a:t>
            </a:r>
            <a:endParaRPr lang="en-US" sz="1350" dirty="0"/>
          </a:p>
          <a:p>
            <a:pPr marL="254000" indent="-2540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significant distress or impairment.</a:t>
            </a:r>
            <a:endParaRPr lang="en-US" sz="1350" dirty="0"/>
          </a:p>
          <a:p>
            <a:pPr marL="254000" indent="-2540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subtypes: animal, natural environment, blood-injection-injury, situational, other.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American Psychiatric Association, DSM-5 (2013)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CLOSER LOOK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Excessive Fears: Common &amp; Not-So-Common Phobias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Phobias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Acrophobia — fear of heights</a:t>
            </a:r>
            <a:endParaRPr lang="en-US" sz="145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Arachnophobia — fear of spiders</a:t>
            </a:r>
            <a:endParaRPr lang="en-US" sz="145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Claustrophobia — fear of confined spaces</a:t>
            </a:r>
            <a:endParaRPr lang="en-US" sz="145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Cynophobia — fear of dogs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965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Phobias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37744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Chaetophobia — fear of hair</a:t>
            </a:r>
            <a:endParaRPr lang="en-US" sz="1450" dirty="0"/>
          </a:p>
          <a:p>
            <a:pPr marL="228600" indent="-228600">
              <a:lnSpc>
                <a:spcPct val="110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Dromophobia — fear of crossing streets</a:t>
            </a:r>
            <a:endParaRPr lang="en-US" sz="1450" dirty="0"/>
          </a:p>
          <a:p>
            <a:pPr marL="228600" indent="-228600">
              <a:lnSpc>
                <a:spcPct val="110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Ereuthrophobia — fear of blushing</a:t>
            </a:r>
            <a:endParaRPr lang="en-US" sz="1450" dirty="0"/>
          </a:p>
          <a:p>
            <a:pPr marL="228600" indent="-228600">
              <a:lnSpc>
                <a:spcPct val="110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Genuphobia — fear of knees</a:t>
            </a:r>
            <a:endParaRPr lang="en-US" sz="1450" dirty="0"/>
          </a:p>
          <a:p>
            <a:pPr marL="228600" indent="-228600">
              <a:lnSpc>
                <a:spcPct val="110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Scoptophobia — fear of being stared at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Hansell &amp; Damour, Abnormal Psychology, 2nd ed. (Wiley) — Box 4.2, "Excessive Fears"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Anxiety Disorder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012680" y="594360"/>
            <a:ext cx="1188720" cy="11887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7973" y="879653"/>
            <a:ext cx="618134" cy="6181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28800"/>
            <a:ext cx="9692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centers on social or performance situations where the person might be watched and judged.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fear: humiliation or embarrassment — people with SAD are often "rejection sensitive."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to avoidance — public speaking, eating in front of others, even using public restrooms.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Formerly called "social phobia" in earlier editions of the DSM.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47091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028090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14400" y="4709160"/>
            <a:ext cx="10149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disorder we'll study in depth for the rest of this unit — biological, cognitive, environmental, and cultural factors.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Hansell &amp; Damour, Abnormal Psychology, 2nd ed. (Wiley) — Chapter 4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CRITERIA — DSM-5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Anxiety Disorder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447020" y="617220"/>
            <a:ext cx="868680" cy="8686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5503" y="825703"/>
            <a:ext cx="451714" cy="45171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37360"/>
            <a:ext cx="108813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205740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Marked, persistent (6+ months) fear or anxiety about one or more social situations where the person may be scrutinized by others.</a:t>
            </a:r>
            <a:endParaRPr lang="en-US" sz="1350" dirty="0"/>
          </a:p>
          <a:p>
            <a:pPr marL="254000" indent="-2540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centers on negative evaluation — that the person will be humiliated, embarrassed, rejected, or will offend others.</a:t>
            </a:r>
            <a:endParaRPr lang="en-US" sz="1350" dirty="0"/>
          </a:p>
          <a:p>
            <a:pPr marL="254000" indent="-2540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social situations almost always trigger fear or anxiety, and are avoided or endured with intense distress.</a:t>
            </a:r>
            <a:endParaRPr lang="en-US" sz="1350" dirty="0"/>
          </a:p>
          <a:p>
            <a:pPr marL="254000" indent="-2540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fear is out of proportion to the actual threat, accounting for cultural context.</a:t>
            </a:r>
            <a:endParaRPr lang="en-US" sz="1350" dirty="0"/>
          </a:p>
          <a:p>
            <a:pPr marL="254000" indent="-2540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significant distress or impairment; not attributable to a substance/medical condition or better explained by another disorder.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American Psychiatric Association, DSM-5 (2013)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THE DSM-5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 and Limits of Diagnosis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5820" y="194310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358" y="212963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57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Strength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88036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DSM-5 anxiety diagnoses have relatively good reliability (different clinicians agree on the diagnosis) and validity (the diagnosis is accurate).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080760" y="1737360"/>
            <a:ext cx="55778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77940" y="194310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4478" y="212963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Limitation: Comorbidity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355080" y="288036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 share of people diagnosed with one anxiety disorder also qualify for another diagnosis — raising the question of whether these categories carve nature at the joints.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355080" y="4251960"/>
            <a:ext cx="1188720" cy="1371600"/>
          </a:xfrm>
          <a:prstGeom prst="roundRect">
            <a:avLst>
              <a:gd name="adj" fmla="val 4615"/>
            </a:avLst>
          </a:prstGeom>
          <a:solidFill>
            <a:srgbClr val="028090"/>
          </a:solidFill>
          <a:ln/>
        </p:spPr>
      </p:sp>
      <p:sp>
        <p:nvSpPr>
          <p:cNvPr id="15" name="Text 11"/>
          <p:cNvSpPr/>
          <p:nvPr/>
        </p:nvSpPr>
        <p:spPr>
          <a:xfrm>
            <a:off x="6355080" y="43434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6355080" y="49377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PTSD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635240" y="4251960"/>
            <a:ext cx="1188720" cy="1371600"/>
          </a:xfrm>
          <a:prstGeom prst="roundRect">
            <a:avLst>
              <a:gd name="adj" fmla="val 4615"/>
            </a:avLst>
          </a:prstGeom>
          <a:solidFill>
            <a:srgbClr val="028090"/>
          </a:solidFill>
          <a:ln/>
        </p:spPr>
      </p:sp>
      <p:sp>
        <p:nvSpPr>
          <p:cNvPr id="18" name="Text 14"/>
          <p:cNvSpPr/>
          <p:nvPr/>
        </p:nvSpPr>
        <p:spPr>
          <a:xfrm>
            <a:off x="7635240" y="43434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7635240" y="49377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GAD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8915400" y="4251960"/>
            <a:ext cx="1188720" cy="1371600"/>
          </a:xfrm>
          <a:prstGeom prst="roundRect">
            <a:avLst>
              <a:gd name="adj" fmla="val 4615"/>
            </a:avLst>
          </a:prstGeom>
          <a:solidFill>
            <a:srgbClr val="028090"/>
          </a:solidFill>
          <a:ln/>
        </p:spPr>
      </p:sp>
      <p:sp>
        <p:nvSpPr>
          <p:cNvPr id="21" name="Text 17"/>
          <p:cNvSpPr/>
          <p:nvPr/>
        </p:nvSpPr>
        <p:spPr>
          <a:xfrm>
            <a:off x="8915400" y="43434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53%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8915400" y="49377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OCD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10195560" y="4251960"/>
            <a:ext cx="1188720" cy="1371600"/>
          </a:xfrm>
          <a:prstGeom prst="roundRect">
            <a:avLst>
              <a:gd name="adj" fmla="val 4615"/>
            </a:avLst>
          </a:prstGeom>
          <a:solidFill>
            <a:srgbClr val="028090"/>
          </a:solidFill>
          <a:ln/>
        </p:spPr>
      </p:sp>
      <p:sp>
        <p:nvSpPr>
          <p:cNvPr id="24" name="Text 20"/>
          <p:cNvSpPr/>
          <p:nvPr/>
        </p:nvSpPr>
        <p:spPr>
          <a:xfrm>
            <a:off x="10195560" y="43434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</a:t>
            </a:r>
            <a:endParaRPr lang="en-US" sz="2200" dirty="0"/>
          </a:p>
        </p:txBody>
      </p:sp>
      <p:sp>
        <p:nvSpPr>
          <p:cNvPr id="25" name="Text 21"/>
          <p:cNvSpPr/>
          <p:nvPr/>
        </p:nvSpPr>
        <p:spPr>
          <a:xfrm>
            <a:off x="10195560" y="49377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Anxiety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Brown et al., 2001, cited in Hansell &amp; Damour, Abnormal Psychology, 2nd ed. (Figure 4.2) — % also diagnosed with another anxiety/mood disorder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PATTERNS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09580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889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2–3x more common in women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33756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GAD, Panic Disorder, Specific Phobias, and PTSD are all 2–3x more common in women.</a:t>
            </a:r>
            <a:endParaRPr lang="en-US" sz="12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Anxiety Disorder occurs somewhat more in women too — but men seek treatment for it more often.</a:t>
            </a:r>
            <a:endParaRPr lang="en-US" sz="12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OCD occurs at roughly equal rates — but manifests differently by gender.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73736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3796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Gap?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37960" y="237744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Sociocultural: traditional gender roles emphasize less assertion/self-sufficiency — traits linked to lower anxiety when present.</a:t>
            </a:r>
            <a:endParaRPr lang="en-US" sz="125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Biological: panic disorder in women is linked to mitral valve prolapse and hyperthyroidism, both more common in women.</a:t>
            </a:r>
            <a:endParaRPr lang="en-US" sz="125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Hormonal: fluctuating hormone levels across the menstrual cycle are tied to panic symptom onset.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Yonkers &amp; Kidner, 2002; Pigott, 2003; cited in Hansell &amp; Damour, Abnormal Psychology, 2nd ed.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PATTERNS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5820" y="210312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358" y="22896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9202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Children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4114800" y="1920240"/>
            <a:ext cx="7223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can't verbalize anxiety — it shows up as crying, tantrums, freezing, clinging, or physical complaints (stomachaches, headaches). Childhood phobias are common and usually transitory (~5%). Separation Anxiety Disorder occurs exclusively in children — don't confuse the "SAD" abbreviation with Social Anxiety Disorder.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3832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45820" y="370332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358" y="388985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74520" y="35204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Adolescents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114800" y="3520440"/>
            <a:ext cx="7223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attacks were once thought adult-only, but occur in teens too — described as fear of "getting sick" rather than "dying" or "losing control." Panic onset tracks with puberty.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9834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" y="530352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358" y="549005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51206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Older Adults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4114800" y="5120640"/>
            <a:ext cx="7223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 is widely underdiagnosed — often tied to negative life events (loss of a spouse) and comorbid depression. Phobia type shifts: situational (heights, driving) over animal/blood-injection. GAD becomes more common; social phobia less so.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Muratori &amp; Picci, 2005; Albano, Chorpita &amp; Barlow, 2003; Lauderdale, Kelly &amp; Sheikh, 2006 — cited in Hansell &amp; Damour, Abnormal Psychology, 2nd ed.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&amp; HISTORICAL RELATIVISM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Cultural Perspectives on Anxiety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 doesn't have universally agreed-upon features — cultures experience, define, and classify it differently.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3911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Nervios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63240" y="203911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Latino cultures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09160" y="2039112"/>
            <a:ext cx="6720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Nervous distress similar to GAD — headaches, irritability, stomachaches, trouble sleeping/concentrating.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862072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93522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Ataque de nervios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63240" y="293522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Latino cultures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09160" y="2935224"/>
            <a:ext cx="6720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Panic-attack-like episode, but tied to a clear precipitating event — unlike panic attacks, which strike without warning.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75818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83133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Shenjing shuairuo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63240" y="383133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3831336"/>
            <a:ext cx="6720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Overlaps both anxiety and mood-disorder symptoms — exhaustion, poor sleep, physical pain, dizziness.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65429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DEC"/>
            </a:solidFill>
            <a:prstDash val="solid"/>
          </a:ln>
          <a:effectLst>
            <a:outerShdw sx="100000" sy="100000" kx="0" ky="0" algn="bl" rotWithShape="0" blurRad="76200" dist="25400" dir="5400000">
              <a:srgbClr val="013A4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47274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Taijin kyofusho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63240" y="472744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4727448"/>
            <a:ext cx="6720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Strikingly similar to social phobia, but centers on fear of offending others through one's own appearance.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55961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OCD isn't culturally universal: a study of OCD in Bali, Indonesia found obsessions centered on social network size, the status of passersby, and witchcraft — not the contamination/checking themes typical in Western samples.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Lopez &amp; Guarnaccia, 2000; APA, 2000; Lemelson, 2003 — cited in Hansell &amp; Damour, Abnormal Psychology, 2nd ed.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82880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Deep Dive into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Anxiety Disorder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37260" y="368046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9634" y="3932834"/>
            <a:ext cx="546811" cy="5468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4892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543300" y="3680460"/>
            <a:ext cx="1051560" cy="10515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5674" y="3932834"/>
            <a:ext cx="546811" cy="54681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29000" y="4892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149340" y="3680460"/>
            <a:ext cx="1051560" cy="10515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714" y="3932834"/>
            <a:ext cx="546811" cy="54681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35040" y="4892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8755380" y="368046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7754" y="3932834"/>
            <a:ext cx="546811" cy="54681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641080" y="4892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822960" y="5623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factors — one disorder, examined from every angle.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2026-08-12T13:37:18Z</dcterms:created>
  <dcterms:modified xsi:type="dcterms:W3CDTF">2026-08-12T13:37:18Z</dcterms:modified>
</cp:coreProperties>
</file>