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028090">
              <a:alpha val="45000"/>
            </a:srgbClr>
          </a:solidFill>
          <a:ln/>
        </p:spPr>
      </p:sp>
      <p:sp>
        <p:nvSpPr>
          <p:cNvPr id="3" name="Shape 1"/>
          <p:cNvSpPr/>
          <p:nvPr/>
        </p:nvSpPr>
        <p:spPr>
          <a:xfrm>
            <a:off x="10607040" y="4206240"/>
            <a:ext cx="2926080" cy="2926080"/>
          </a:xfrm>
          <a:prstGeom prst="ellipse">
            <a:avLst/>
          </a:prstGeom>
          <a:solidFill>
            <a:srgbClr val="02C39A">
              <a:alpha val="40000"/>
            </a:srgbClr>
          </a:solidFill>
          <a:ln/>
        </p:spPr>
      </p:sp>
      <p:sp>
        <p:nvSpPr>
          <p:cNvPr id="4" name="Text 2"/>
          <p:cNvSpPr/>
          <p:nvPr/>
        </p:nvSpPr>
        <p:spPr>
          <a:xfrm>
            <a:off x="822960" y="1417320"/>
            <a:ext cx="9144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HEALTH AND WELL-BEING  •  MENTAL HEALTH DISORDERS</a:t>
            </a:r>
            <a:endParaRPr lang="en-US" sz="1300" dirty="0"/>
          </a:p>
        </p:txBody>
      </p:sp>
      <p:sp>
        <p:nvSpPr>
          <p:cNvPr id="5" name="Text 3"/>
          <p:cNvSpPr/>
          <p:nvPr/>
        </p:nvSpPr>
        <p:spPr>
          <a:xfrm>
            <a:off x="777240" y="1874520"/>
            <a:ext cx="10058400" cy="2103120"/>
          </a:xfrm>
          <a:prstGeom prst="rect">
            <a:avLst/>
          </a:prstGeom>
          <a:noFill/>
          <a:ln/>
        </p:spPr>
        <p:txBody>
          <a:bodyPr wrap="square"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Environmental Factors in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Social Anxiety Disorder</a:t>
            </a:r>
            <a:endParaRPr lang="en-US" sz="4200" dirty="0"/>
          </a:p>
        </p:txBody>
      </p:sp>
      <p:sp>
        <p:nvSpPr>
          <p:cNvPr id="6" name="Shape 4"/>
          <p:cNvSpPr/>
          <p:nvPr/>
        </p:nvSpPr>
        <p:spPr>
          <a:xfrm>
            <a:off x="822960" y="3794760"/>
            <a:ext cx="1005840" cy="0"/>
          </a:xfrm>
          <a:prstGeom prst="line">
            <a:avLst/>
          </a:prstGeom>
          <a:noFill/>
          <a:ln w="38100">
            <a:solidFill>
              <a:srgbClr val="02C39A"/>
            </a:solidFill>
            <a:prstDash val="solid"/>
          </a:ln>
        </p:spPr>
      </p:sp>
      <p:sp>
        <p:nvSpPr>
          <p:cNvPr id="7" name="Text 5"/>
          <p:cNvSpPr/>
          <p:nvPr/>
        </p:nvSpPr>
        <p:spPr>
          <a:xfrm>
            <a:off x="822960" y="3977640"/>
            <a:ext cx="9144000" cy="457200"/>
          </a:xfrm>
          <a:prstGeom prst="rect">
            <a:avLst/>
          </a:prstGeom>
          <a:noFill/>
          <a:ln/>
        </p:spPr>
        <p:txBody>
          <a:bodyPr wrap="square" rtlCol="0" anchor="ctr"/>
          <a:lstStyle/>
          <a:p>
            <a:pPr indent="0" marL="0">
              <a:buNone/>
            </a:pPr>
            <a:r>
              <a:rPr lang="en-US" sz="1700" i="1" dirty="0">
                <a:solidFill>
                  <a:srgbClr val="F2F9F8"/>
                </a:solidFill>
                <a:latin typeface="Calibri" pitchFamily="34" charset="0"/>
                <a:ea typeface="Calibri" pitchFamily="34" charset="-122"/>
                <a:cs typeface="Calibri" pitchFamily="34" charset="-120"/>
              </a:rPr>
              <a:t>Family environment, the COVID-19 pandemic, and the sociocultural approach</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0584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The Sociocultural Approach</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A holistic lens on SAD — but one that struggles to prove cause and effect</a:t>
            </a:r>
            <a:endParaRPr lang="en-US" sz="1400" dirty="0"/>
          </a:p>
        </p:txBody>
      </p:sp>
      <p:sp>
        <p:nvSpPr>
          <p:cNvPr id="4" name="Shape 2"/>
          <p:cNvSpPr/>
          <p:nvPr/>
        </p:nvSpPr>
        <p:spPr>
          <a:xfrm>
            <a:off x="457200" y="1554480"/>
            <a:ext cx="777240" cy="777240"/>
          </a:xfrm>
          <a:prstGeom prst="ellipse">
            <a:avLst/>
          </a:prstGeom>
          <a:solidFill>
            <a:srgbClr val="028090"/>
          </a:solidFill>
          <a:ln/>
        </p:spPr>
      </p:sp>
      <p:pic>
        <p:nvPicPr>
          <p:cNvPr id="5" name="Image 0" descr="icons/globe.png">    </p:cNvPr>
          <p:cNvPicPr>
            <a:picLocks noChangeAspect="1"/>
          </p:cNvPicPr>
          <p:nvPr/>
        </p:nvPicPr>
        <p:blipFill>
          <a:blip r:embed="rId1"/>
          <a:stretch>
            <a:fillRect/>
          </a:stretch>
        </p:blipFill>
        <p:spPr>
          <a:xfrm>
            <a:off x="659282" y="1756562"/>
            <a:ext cx="373075" cy="373075"/>
          </a:xfrm>
          <a:prstGeom prst="rect">
            <a:avLst/>
          </a:prstGeom>
        </p:spPr>
      </p:pic>
      <p:sp>
        <p:nvSpPr>
          <p:cNvPr id="6" name="Text 3"/>
          <p:cNvSpPr/>
          <p:nvPr/>
        </p:nvSpPr>
        <p:spPr>
          <a:xfrm>
            <a:off x="1463040" y="1536192"/>
            <a:ext cx="9784080" cy="1371600"/>
          </a:xfrm>
          <a:prstGeom prst="rect">
            <a:avLst/>
          </a:prstGeom>
          <a:noFill/>
          <a:ln/>
        </p:spPr>
        <p:txBody>
          <a:bodyPr wrap="square" rtlCol="0" anchor="t"/>
          <a:lstStyle/>
          <a:p>
            <a:pPr indent="0" marL="0">
              <a:lnSpc>
                <a:spcPct val="120000"/>
              </a:lnSpc>
              <a:buNone/>
            </a:pPr>
            <a:r>
              <a:rPr lang="en-US" sz="1500" b="1" dirty="0">
                <a:solidFill>
                  <a:srgbClr val="013A40"/>
                </a:solidFill>
                <a:latin typeface="Calibri" pitchFamily="34" charset="0"/>
                <a:ea typeface="Calibri" pitchFamily="34" charset="-122"/>
                <a:cs typeface="Calibri" pitchFamily="34" charset="-120"/>
              </a:rPr>
              <a:t>Looking outward, not inward
</a:t>
            </a:r>
            <a:r>
              <a:rPr lang="en-US" sz="1250" dirty="0">
                <a:solidFill>
                  <a:srgbClr val="1F2937"/>
                </a:solidFill>
                <a:latin typeface="Calibri" pitchFamily="34" charset="0"/>
                <a:ea typeface="Calibri" pitchFamily="34" charset="-122"/>
                <a:cs typeface="Calibri" pitchFamily="34" charset="-120"/>
              </a:rPr>
              <a:t>Where biological and cognitive models look inside the person, the sociocultural approach looks at their surroundings — the family they were raised in, their peer relationships, and any adverse experiences in childhood. It's a more holistic account, capturing social forces the other models leave out.</a:t>
            </a:r>
            <a:endParaRPr lang="en-US" sz="1500" dirty="0"/>
          </a:p>
        </p:txBody>
      </p:sp>
      <p:sp>
        <p:nvSpPr>
          <p:cNvPr id="7" name="Shape 4"/>
          <p:cNvSpPr/>
          <p:nvPr/>
        </p:nvSpPr>
        <p:spPr>
          <a:xfrm>
            <a:off x="457200" y="3108960"/>
            <a:ext cx="3535680" cy="2103120"/>
          </a:xfrm>
          <a:prstGeom prst="roundRect">
            <a:avLst>
              <a:gd name="adj" fmla="val 4348"/>
            </a:avLst>
          </a:prstGeom>
          <a:solidFill>
            <a:srgbClr val="FFFFFF"/>
          </a:solidFill>
          <a:ln w="12700">
            <a:solidFill>
              <a:srgbClr val="00A896"/>
            </a:solidFill>
            <a:prstDash val="solid"/>
          </a:ln>
        </p:spPr>
      </p:sp>
      <p:sp>
        <p:nvSpPr>
          <p:cNvPr id="8" name="Shape 5"/>
          <p:cNvSpPr/>
          <p:nvPr/>
        </p:nvSpPr>
        <p:spPr>
          <a:xfrm>
            <a:off x="685800" y="3337560"/>
            <a:ext cx="594360" cy="594360"/>
          </a:xfrm>
          <a:prstGeom prst="ellipse">
            <a:avLst/>
          </a:prstGeom>
          <a:solidFill>
            <a:srgbClr val="00A896"/>
          </a:solidFill>
          <a:ln/>
        </p:spPr>
      </p:sp>
      <p:pic>
        <p:nvPicPr>
          <p:cNvPr id="9" name="Image 1" descr="icons/home.png">    </p:cNvPr>
          <p:cNvPicPr>
            <a:picLocks noChangeAspect="1"/>
          </p:cNvPicPr>
          <p:nvPr/>
        </p:nvPicPr>
        <p:blipFill>
          <a:blip r:embed="rId2"/>
          <a:stretch>
            <a:fillRect/>
          </a:stretch>
        </p:blipFill>
        <p:spPr>
          <a:xfrm>
            <a:off x="840334" y="3492094"/>
            <a:ext cx="285293" cy="285293"/>
          </a:xfrm>
          <a:prstGeom prst="rect">
            <a:avLst/>
          </a:prstGeom>
        </p:spPr>
      </p:pic>
      <p:sp>
        <p:nvSpPr>
          <p:cNvPr id="10" name="Text 6"/>
          <p:cNvSpPr/>
          <p:nvPr/>
        </p:nvSpPr>
        <p:spPr>
          <a:xfrm>
            <a:off x="685800" y="4023360"/>
            <a:ext cx="3078480" cy="45720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Family Environment</a:t>
            </a:r>
            <a:endParaRPr lang="en-US" sz="1400" dirty="0"/>
          </a:p>
        </p:txBody>
      </p:sp>
      <p:sp>
        <p:nvSpPr>
          <p:cNvPr id="11" name="Text 7"/>
          <p:cNvSpPr/>
          <p:nvPr/>
        </p:nvSpPr>
        <p:spPr>
          <a:xfrm>
            <a:off x="685800" y="4434840"/>
            <a:ext cx="3078480" cy="685800"/>
          </a:xfrm>
          <a:prstGeom prst="rect">
            <a:avLst/>
          </a:prstGeom>
          <a:noFill/>
          <a:ln/>
        </p:spPr>
        <p:txBody>
          <a:bodyPr wrap="square" rtlCol="0" anchor="ctr"/>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Parental modelling, overcontrol, conflict, and household dysfunction</a:t>
            </a:r>
            <a:endParaRPr lang="en-US" sz="1100" dirty="0"/>
          </a:p>
        </p:txBody>
      </p:sp>
      <p:sp>
        <p:nvSpPr>
          <p:cNvPr id="12" name="Shape 8"/>
          <p:cNvSpPr/>
          <p:nvPr/>
        </p:nvSpPr>
        <p:spPr>
          <a:xfrm>
            <a:off x="4312920" y="3108960"/>
            <a:ext cx="3535680" cy="2103120"/>
          </a:xfrm>
          <a:prstGeom prst="roundRect">
            <a:avLst>
              <a:gd name="adj" fmla="val 4348"/>
            </a:avLst>
          </a:prstGeom>
          <a:solidFill>
            <a:srgbClr val="FFFFFF"/>
          </a:solidFill>
          <a:ln w="12700">
            <a:solidFill>
              <a:srgbClr val="00A896"/>
            </a:solidFill>
            <a:prstDash val="solid"/>
          </a:ln>
        </p:spPr>
      </p:sp>
      <p:sp>
        <p:nvSpPr>
          <p:cNvPr id="13" name="Shape 9"/>
          <p:cNvSpPr/>
          <p:nvPr/>
        </p:nvSpPr>
        <p:spPr>
          <a:xfrm>
            <a:off x="4541520" y="3337560"/>
            <a:ext cx="594360" cy="594360"/>
          </a:xfrm>
          <a:prstGeom prst="ellipse">
            <a:avLst/>
          </a:prstGeom>
          <a:solidFill>
            <a:srgbClr val="00A896"/>
          </a:solidFill>
          <a:ln/>
        </p:spPr>
      </p:sp>
      <p:pic>
        <p:nvPicPr>
          <p:cNvPr id="14" name="Image 2" descr="icons/friends.png">    </p:cNvPr>
          <p:cNvPicPr>
            <a:picLocks noChangeAspect="1"/>
          </p:cNvPicPr>
          <p:nvPr/>
        </p:nvPicPr>
        <p:blipFill>
          <a:blip r:embed="rId3"/>
          <a:stretch>
            <a:fillRect/>
          </a:stretch>
        </p:blipFill>
        <p:spPr>
          <a:xfrm>
            <a:off x="4696054" y="3492094"/>
            <a:ext cx="285293" cy="285293"/>
          </a:xfrm>
          <a:prstGeom prst="rect">
            <a:avLst/>
          </a:prstGeom>
        </p:spPr>
      </p:pic>
      <p:sp>
        <p:nvSpPr>
          <p:cNvPr id="15" name="Text 10"/>
          <p:cNvSpPr/>
          <p:nvPr/>
        </p:nvSpPr>
        <p:spPr>
          <a:xfrm>
            <a:off x="4541520" y="4023360"/>
            <a:ext cx="3078480" cy="45720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Peer Relationships</a:t>
            </a:r>
            <a:endParaRPr lang="en-US" sz="1400" dirty="0"/>
          </a:p>
        </p:txBody>
      </p:sp>
      <p:sp>
        <p:nvSpPr>
          <p:cNvPr id="16" name="Text 11"/>
          <p:cNvSpPr/>
          <p:nvPr/>
        </p:nvSpPr>
        <p:spPr>
          <a:xfrm>
            <a:off x="4541520" y="4434840"/>
            <a:ext cx="3078480" cy="685800"/>
          </a:xfrm>
          <a:prstGeom prst="rect">
            <a:avLst/>
          </a:prstGeom>
          <a:noFill/>
          <a:ln/>
        </p:spPr>
        <p:txBody>
          <a:bodyPr wrap="square" rtlCol="0" anchor="ctr"/>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Attachment and social support outside the family</a:t>
            </a:r>
            <a:endParaRPr lang="en-US" sz="1100" dirty="0"/>
          </a:p>
        </p:txBody>
      </p:sp>
      <p:sp>
        <p:nvSpPr>
          <p:cNvPr id="17" name="Shape 12"/>
          <p:cNvSpPr/>
          <p:nvPr/>
        </p:nvSpPr>
        <p:spPr>
          <a:xfrm>
            <a:off x="8168640" y="3108960"/>
            <a:ext cx="3535680" cy="2103120"/>
          </a:xfrm>
          <a:prstGeom prst="roundRect">
            <a:avLst>
              <a:gd name="adj" fmla="val 4348"/>
            </a:avLst>
          </a:prstGeom>
          <a:solidFill>
            <a:srgbClr val="FFFFFF"/>
          </a:solidFill>
          <a:ln w="12700">
            <a:solidFill>
              <a:srgbClr val="00A896"/>
            </a:solidFill>
            <a:prstDash val="solid"/>
          </a:ln>
        </p:spPr>
      </p:sp>
      <p:sp>
        <p:nvSpPr>
          <p:cNvPr id="18" name="Shape 13"/>
          <p:cNvSpPr/>
          <p:nvPr/>
        </p:nvSpPr>
        <p:spPr>
          <a:xfrm>
            <a:off x="8397240" y="3337560"/>
            <a:ext cx="594360" cy="594360"/>
          </a:xfrm>
          <a:prstGeom prst="ellipse">
            <a:avLst/>
          </a:prstGeom>
          <a:solidFill>
            <a:srgbClr val="00A896"/>
          </a:solidFill>
          <a:ln/>
        </p:spPr>
      </p:sp>
      <p:pic>
        <p:nvPicPr>
          <p:cNvPr id="19" name="Image 3" descr="icons/virus.png">    </p:cNvPr>
          <p:cNvPicPr>
            <a:picLocks noChangeAspect="1"/>
          </p:cNvPicPr>
          <p:nvPr/>
        </p:nvPicPr>
        <p:blipFill>
          <a:blip r:embed="rId4"/>
          <a:stretch>
            <a:fillRect/>
          </a:stretch>
        </p:blipFill>
        <p:spPr>
          <a:xfrm>
            <a:off x="8551774" y="3492094"/>
            <a:ext cx="285293" cy="285293"/>
          </a:xfrm>
          <a:prstGeom prst="rect">
            <a:avLst/>
          </a:prstGeom>
        </p:spPr>
      </p:pic>
      <p:sp>
        <p:nvSpPr>
          <p:cNvPr id="20" name="Text 14"/>
          <p:cNvSpPr/>
          <p:nvPr/>
        </p:nvSpPr>
        <p:spPr>
          <a:xfrm>
            <a:off x="8397240" y="4023360"/>
            <a:ext cx="3078480" cy="45720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Adverse &amp; Disruptive Events</a:t>
            </a:r>
            <a:endParaRPr lang="en-US" sz="1400" dirty="0"/>
          </a:p>
        </p:txBody>
      </p:sp>
      <p:sp>
        <p:nvSpPr>
          <p:cNvPr id="21" name="Text 15"/>
          <p:cNvSpPr/>
          <p:nvPr/>
        </p:nvSpPr>
        <p:spPr>
          <a:xfrm>
            <a:off x="8397240" y="4434840"/>
            <a:ext cx="3078480" cy="685800"/>
          </a:xfrm>
          <a:prstGeom prst="rect">
            <a:avLst/>
          </a:prstGeom>
          <a:noFill/>
          <a:ln/>
        </p:spPr>
        <p:txBody>
          <a:bodyPr wrap="square" rtlCol="0" anchor="ctr"/>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Childhood adversity and large-scale events like COVID-19</a:t>
            </a:r>
            <a:endParaRPr lang="en-US" sz="1100" dirty="0"/>
          </a:p>
        </p:txBody>
      </p:sp>
      <p:sp>
        <p:nvSpPr>
          <p:cNvPr id="22" name="Text 16"/>
          <p:cNvSpPr/>
          <p:nvPr/>
        </p:nvSpPr>
        <p:spPr>
          <a:xfrm>
            <a:off x="457200" y="5394960"/>
            <a:ext cx="11247120" cy="457200"/>
          </a:xfrm>
          <a:prstGeom prst="rect">
            <a:avLst/>
          </a:prstGeom>
          <a:noFill/>
          <a:ln/>
        </p:spPr>
        <p:txBody>
          <a:bodyPr wrap="square" rtlCol="0" anchor="ctr"/>
          <a:lstStyle/>
          <a:p>
            <a:pPr indent="0" marL="0">
              <a:buNone/>
            </a:pPr>
            <a:r>
              <a:rPr lang="en-US" sz="1200" i="1" dirty="0">
                <a:solidFill>
                  <a:srgbClr val="5B6B70"/>
                </a:solidFill>
                <a:latin typeface="Calibri" pitchFamily="34" charset="0"/>
                <a:ea typeface="Calibri" pitchFamily="34" charset="-122"/>
                <a:cs typeface="Calibri" pitchFamily="34" charset="-120"/>
              </a:rPr>
              <a:t>The trade-off: this breadth comes at a cost — most environmental research is correlational, so causality is hard to pin down.</a:t>
            </a:r>
            <a:endParaRPr lang="en-US" sz="1200" dirty="0"/>
          </a:p>
        </p:txBody>
      </p:sp>
      <p:sp>
        <p:nvSpPr>
          <p:cNvPr id="23" name="Text 17"/>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Overview • Sociocultural approach</a:t>
            </a:r>
            <a:endParaRPr lang="en-US" sz="1100" dirty="0"/>
          </a:p>
        </p:txBody>
      </p:sp>
      <p:sp>
        <p:nvSpPr>
          <p:cNvPr id="24" name="Text 18"/>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700" b="1" dirty="0">
                <a:solidFill>
                  <a:srgbClr val="013A40"/>
                </a:solidFill>
                <a:latin typeface="Cambria" pitchFamily="34" charset="0"/>
                <a:ea typeface="Cambria" pitchFamily="34" charset="-122"/>
                <a:cs typeface="Cambria" pitchFamily="34" charset="-120"/>
              </a:rPr>
              <a:t>Family Environment &amp; Parental Modelling</a:t>
            </a:r>
            <a:endParaRPr lang="en-US" sz="27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Festa &amp; Ginsburg (2011)</a:t>
            </a:r>
            <a:endParaRPr lang="en-US" sz="1400" dirty="0"/>
          </a:p>
        </p:txBody>
      </p:sp>
      <p:sp>
        <p:nvSpPr>
          <p:cNvPr id="4" name="Shape 2"/>
          <p:cNvSpPr/>
          <p:nvPr/>
        </p:nvSpPr>
        <p:spPr>
          <a:xfrm>
            <a:off x="457200" y="1508760"/>
            <a:ext cx="3108960" cy="1371600"/>
          </a:xfrm>
          <a:prstGeom prst="roundRect">
            <a:avLst>
              <a:gd name="adj" fmla="val 6667"/>
            </a:avLst>
          </a:prstGeom>
          <a:solidFill>
            <a:srgbClr val="00A896"/>
          </a:solidFill>
          <a:ln/>
        </p:spPr>
      </p:sp>
      <p:sp>
        <p:nvSpPr>
          <p:cNvPr id="5" name="Text 3"/>
          <p:cNvSpPr/>
          <p:nvPr/>
        </p:nvSpPr>
        <p:spPr>
          <a:xfrm>
            <a:off x="457200" y="1600200"/>
            <a:ext cx="3108960" cy="68580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63</a:t>
            </a:r>
            <a:endParaRPr lang="en-US" sz="3600" dirty="0"/>
          </a:p>
        </p:txBody>
      </p:sp>
      <p:sp>
        <p:nvSpPr>
          <p:cNvPr id="6" name="Text 4"/>
          <p:cNvSpPr/>
          <p:nvPr/>
        </p:nvSpPr>
        <p:spPr>
          <a:xfrm>
            <a:off x="640080" y="2286000"/>
            <a:ext cx="2743200" cy="45720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adolescents studied</a:t>
            </a:r>
            <a:endParaRPr lang="en-US" sz="1150" dirty="0"/>
          </a:p>
        </p:txBody>
      </p:sp>
      <p:sp>
        <p:nvSpPr>
          <p:cNvPr id="7" name="Text 5"/>
          <p:cNvSpPr/>
          <p:nvPr/>
        </p:nvSpPr>
        <p:spPr>
          <a:xfrm>
            <a:off x="3840480" y="1508760"/>
            <a:ext cx="6949440" cy="1463040"/>
          </a:xfrm>
          <a:prstGeom prst="rect">
            <a:avLst/>
          </a:prstGeom>
          <a:noFill/>
          <a:ln/>
        </p:spPr>
        <p:txBody>
          <a:bodyPr wrap="square" rtlCol="0" anchor="t"/>
          <a:lstStyle/>
          <a:p>
            <a:pPr indent="0" marL="0">
              <a:lnSpc>
                <a:spcPct val="120000"/>
              </a:lnSpc>
              <a:buNone/>
            </a:pPr>
            <a:r>
              <a:rPr lang="en-US" sz="1400" b="1" dirty="0">
                <a:solidFill>
                  <a:srgbClr val="013A40"/>
                </a:solidFill>
                <a:latin typeface="Calibri" pitchFamily="34" charset="0"/>
                <a:ea typeface="Calibri" pitchFamily="34" charset="-122"/>
                <a:cs typeface="Calibri" pitchFamily="34" charset="-120"/>
              </a:rPr>
              <a:t>What they found
</a:t>
            </a:r>
            <a:r>
              <a:rPr lang="en-US" sz="1250" dirty="0">
                <a:solidFill>
                  <a:srgbClr val="1F2937"/>
                </a:solidFill>
                <a:latin typeface="Calibri" pitchFamily="34" charset="0"/>
                <a:ea typeface="Calibri" pitchFamily="34" charset="-122"/>
                <a:cs typeface="Calibri" pitchFamily="34" charset="-120"/>
              </a:rPr>
              <a:t>Higher parental anxiety and overcontrol were linked to higher social anxiety in the adolescents — parental anxiety was one of the strongest predictors of all. In contrast, more social support, acceptance, and validation from parents was linked to lower social anxiety.</a:t>
            </a:r>
            <a:endParaRPr lang="en-US" sz="1400" dirty="0"/>
          </a:p>
        </p:txBody>
      </p:sp>
      <p:sp>
        <p:nvSpPr>
          <p:cNvPr id="8" name="Shape 6"/>
          <p:cNvSpPr/>
          <p:nvPr/>
        </p:nvSpPr>
        <p:spPr>
          <a:xfrm>
            <a:off x="457200" y="3246120"/>
            <a:ext cx="10332720" cy="2148840"/>
          </a:xfrm>
          <a:prstGeom prst="roundRect">
            <a:avLst>
              <a:gd name="adj" fmla="val 4255"/>
            </a:avLst>
          </a:prstGeom>
          <a:solidFill>
            <a:srgbClr val="013A40"/>
          </a:solidFill>
          <a:ln/>
        </p:spPr>
      </p:sp>
      <p:sp>
        <p:nvSpPr>
          <p:cNvPr id="9" name="Shape 7"/>
          <p:cNvSpPr/>
          <p:nvPr/>
        </p:nvSpPr>
        <p:spPr>
          <a:xfrm>
            <a:off x="777240" y="3520440"/>
            <a:ext cx="594360" cy="594360"/>
          </a:xfrm>
          <a:prstGeom prst="ellipse">
            <a:avLst/>
          </a:prstGeom>
          <a:solidFill>
            <a:srgbClr val="028090"/>
          </a:solidFill>
          <a:ln/>
        </p:spPr>
      </p:sp>
      <p:pic>
        <p:nvPicPr>
          <p:cNvPr id="10" name="Image 0" descr="icons/home.png">    </p:cNvPr>
          <p:cNvPicPr>
            <a:picLocks noChangeAspect="1"/>
          </p:cNvPicPr>
          <p:nvPr/>
        </p:nvPicPr>
        <p:blipFill>
          <a:blip r:embed="rId1"/>
          <a:stretch>
            <a:fillRect/>
          </a:stretch>
        </p:blipFill>
        <p:spPr>
          <a:xfrm>
            <a:off x="931774" y="3674974"/>
            <a:ext cx="285293" cy="285293"/>
          </a:xfrm>
          <a:prstGeom prst="rect">
            <a:avLst/>
          </a:prstGeom>
        </p:spPr>
      </p:pic>
      <p:sp>
        <p:nvSpPr>
          <p:cNvPr id="11" name="Text 8"/>
          <p:cNvSpPr/>
          <p:nvPr/>
        </p:nvSpPr>
        <p:spPr>
          <a:xfrm>
            <a:off x="1554480" y="3611880"/>
            <a:ext cx="8778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Household Dysfunction</a:t>
            </a:r>
            <a:endParaRPr lang="en-US" sz="1500" dirty="0"/>
          </a:p>
        </p:txBody>
      </p:sp>
      <p:sp>
        <p:nvSpPr>
          <p:cNvPr id="12" name="Text 9"/>
          <p:cNvSpPr/>
          <p:nvPr/>
        </p:nvSpPr>
        <p:spPr>
          <a:xfrm>
            <a:off x="1554480" y="4023360"/>
            <a:ext cx="8778240" cy="1234440"/>
          </a:xfrm>
          <a:prstGeom prst="rect">
            <a:avLst/>
          </a:prstGeom>
          <a:noFill/>
          <a:ln/>
        </p:spPr>
        <p:txBody>
          <a:bodyPr wrap="square" rtlCol="0" anchor="ctr"/>
          <a:lstStyle/>
          <a:p>
            <a:pPr indent="0" marL="0">
              <a:lnSpc>
                <a:spcPct val="120000"/>
              </a:lnSpc>
              <a:buNone/>
            </a:pPr>
            <a:r>
              <a:rPr lang="en-US" sz="1200" dirty="0">
                <a:solidFill>
                  <a:srgbClr val="F2F9F8"/>
                </a:solidFill>
                <a:latin typeface="Calibri" pitchFamily="34" charset="0"/>
                <a:ea typeface="Calibri" pitchFamily="34" charset="-122"/>
                <a:cs typeface="Calibri" pitchFamily="34" charset="-120"/>
              </a:rPr>
              <a:t>Chronic conflict, parental substance abuse, or domestic violence create chaotic home environments where children don't get the chance to learn healthy ways of coping socially. Without stable emotional support, children can develop social isolation and anxiety about interacting with others — raising the long-term risk of SAD.</a:t>
            </a:r>
            <a:endParaRPr lang="en-US" sz="1200" dirty="0"/>
          </a:p>
        </p:txBody>
      </p:sp>
      <p:sp>
        <p:nvSpPr>
          <p:cNvPr id="13" name="Text 10"/>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Family environment • Parental modelling</a:t>
            </a:r>
            <a:endParaRPr lang="en-US" sz="1100" dirty="0"/>
          </a:p>
        </p:txBody>
      </p:sp>
      <p:sp>
        <p:nvSpPr>
          <p:cNvPr id="14" name="Text 11"/>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Family Conflict &amp; Attachment</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Adare et al. (2021)</a:t>
            </a:r>
            <a:endParaRPr lang="en-US" sz="1400" dirty="0"/>
          </a:p>
        </p:txBody>
      </p:sp>
      <p:sp>
        <p:nvSpPr>
          <p:cNvPr id="4" name="Shape 2"/>
          <p:cNvSpPr/>
          <p:nvPr/>
        </p:nvSpPr>
        <p:spPr>
          <a:xfrm>
            <a:off x="457200" y="1600200"/>
            <a:ext cx="3108960" cy="1417320"/>
          </a:xfrm>
          <a:prstGeom prst="roundRect">
            <a:avLst>
              <a:gd name="adj" fmla="val 6452"/>
            </a:avLst>
          </a:prstGeom>
          <a:solidFill>
            <a:srgbClr val="00A896"/>
          </a:solidFill>
          <a:ln/>
        </p:spPr>
      </p:sp>
      <p:sp>
        <p:nvSpPr>
          <p:cNvPr id="5" name="Text 3"/>
          <p:cNvSpPr/>
          <p:nvPr/>
        </p:nvSpPr>
        <p:spPr>
          <a:xfrm>
            <a:off x="457200" y="1691640"/>
            <a:ext cx="310896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707</a:t>
            </a:r>
            <a:endParaRPr lang="en-US" sz="3200" dirty="0"/>
          </a:p>
        </p:txBody>
      </p:sp>
      <p:sp>
        <p:nvSpPr>
          <p:cNvPr id="6" name="Text 4"/>
          <p:cNvSpPr/>
          <p:nvPr/>
        </p:nvSpPr>
        <p:spPr>
          <a:xfrm>
            <a:off x="640080" y="2377440"/>
            <a:ext cx="2743200" cy="548640"/>
          </a:xfrm>
          <a:prstGeom prst="rect">
            <a:avLst/>
          </a:prstGeom>
          <a:noFill/>
          <a:ln/>
        </p:spPr>
        <p:txBody>
          <a:bodyPr wrap="square"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university</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students surveyed</a:t>
            </a:r>
            <a:endParaRPr lang="en-US" sz="1100" dirty="0"/>
          </a:p>
        </p:txBody>
      </p:sp>
      <p:sp>
        <p:nvSpPr>
          <p:cNvPr id="7" name="Shape 5"/>
          <p:cNvSpPr/>
          <p:nvPr/>
        </p:nvSpPr>
        <p:spPr>
          <a:xfrm>
            <a:off x="3840480" y="1600200"/>
            <a:ext cx="3108960" cy="1417320"/>
          </a:xfrm>
          <a:prstGeom prst="roundRect">
            <a:avLst>
              <a:gd name="adj" fmla="val 6452"/>
            </a:avLst>
          </a:prstGeom>
          <a:solidFill>
            <a:srgbClr val="00A896"/>
          </a:solidFill>
          <a:ln/>
        </p:spPr>
      </p:sp>
      <p:sp>
        <p:nvSpPr>
          <p:cNvPr id="8" name="Text 6"/>
          <p:cNvSpPr/>
          <p:nvPr/>
        </p:nvSpPr>
        <p:spPr>
          <a:xfrm>
            <a:off x="3840480" y="1691640"/>
            <a:ext cx="310896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~19</a:t>
            </a:r>
            <a:endParaRPr lang="en-US" sz="3200" dirty="0"/>
          </a:p>
        </p:txBody>
      </p:sp>
      <p:sp>
        <p:nvSpPr>
          <p:cNvPr id="9" name="Text 7"/>
          <p:cNvSpPr/>
          <p:nvPr/>
        </p:nvSpPr>
        <p:spPr>
          <a:xfrm>
            <a:off x="4023360" y="2377440"/>
            <a:ext cx="2743200" cy="548640"/>
          </a:xfrm>
          <a:prstGeom prst="rect">
            <a:avLst/>
          </a:prstGeom>
          <a:noFill/>
          <a:ln/>
        </p:spPr>
        <p:txBody>
          <a:bodyPr wrap="square"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average age</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of participants</a:t>
            </a:r>
            <a:endParaRPr lang="en-US" sz="1100" dirty="0"/>
          </a:p>
        </p:txBody>
      </p:sp>
      <p:sp>
        <p:nvSpPr>
          <p:cNvPr id="10" name="Text 8"/>
          <p:cNvSpPr/>
          <p:nvPr/>
        </p:nvSpPr>
        <p:spPr>
          <a:xfrm>
            <a:off x="7680960" y="1600200"/>
            <a:ext cx="3931920" cy="1417320"/>
          </a:xfrm>
          <a:prstGeom prst="rect">
            <a:avLst/>
          </a:prstGeom>
          <a:noFill/>
          <a:ln/>
        </p:spPr>
        <p:txBody>
          <a:bodyPr wrap="square" rtlCol="0" anchor="t"/>
          <a:lstStyle/>
          <a:p>
            <a:pPr indent="0" marL="0">
              <a:lnSpc>
                <a:spcPct val="120000"/>
              </a:lnSpc>
              <a:buNone/>
            </a:pPr>
            <a:r>
              <a:rPr lang="en-US" sz="1400" b="1" dirty="0">
                <a:solidFill>
                  <a:srgbClr val="013A40"/>
                </a:solidFill>
                <a:latin typeface="Calibri" pitchFamily="34" charset="0"/>
                <a:ea typeface="Calibri" pitchFamily="34" charset="-122"/>
                <a:cs typeface="Calibri" pitchFamily="34" charset="-120"/>
              </a:rPr>
              <a:t>Method
</a:t>
            </a:r>
            <a:r>
              <a:rPr lang="en-US" sz="1250" dirty="0">
                <a:solidFill>
                  <a:srgbClr val="1F2937"/>
                </a:solidFill>
                <a:latin typeface="Calibri" pitchFamily="34" charset="0"/>
                <a:ea typeface="Calibri" pitchFamily="34" charset="-122"/>
                <a:cs typeface="Calibri" pitchFamily="34" charset="-120"/>
              </a:rPr>
              <a:t>Participants completed surveys measuring how much conflict they perceived between their parents, how attached they felt to their parents and peers, and their own levels of social anxiety.</a:t>
            </a:r>
            <a:endParaRPr lang="en-US" sz="1400" dirty="0"/>
          </a:p>
        </p:txBody>
      </p:sp>
      <p:sp>
        <p:nvSpPr>
          <p:cNvPr id="11" name="Shape 9"/>
          <p:cNvSpPr/>
          <p:nvPr/>
        </p:nvSpPr>
        <p:spPr>
          <a:xfrm>
            <a:off x="457200" y="3246120"/>
            <a:ext cx="10332720" cy="2286000"/>
          </a:xfrm>
          <a:prstGeom prst="roundRect">
            <a:avLst>
              <a:gd name="adj" fmla="val 4000"/>
            </a:avLst>
          </a:prstGeom>
          <a:solidFill>
            <a:srgbClr val="013A40"/>
          </a:solidFill>
          <a:ln/>
        </p:spPr>
      </p:sp>
      <p:sp>
        <p:nvSpPr>
          <p:cNvPr id="12" name="Text 10"/>
          <p:cNvSpPr/>
          <p:nvPr/>
        </p:nvSpPr>
        <p:spPr>
          <a:xfrm>
            <a:off x="777240" y="3429000"/>
            <a:ext cx="3657600" cy="274320"/>
          </a:xfrm>
          <a:prstGeom prst="rect">
            <a:avLst/>
          </a:prstGeom>
          <a:noFill/>
          <a:ln/>
        </p:spPr>
        <p:txBody>
          <a:bodyPr wrap="square"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KEY FINDING</a:t>
            </a:r>
            <a:endParaRPr lang="en-US" sz="1100" dirty="0"/>
          </a:p>
        </p:txBody>
      </p:sp>
      <p:sp>
        <p:nvSpPr>
          <p:cNvPr id="13" name="Text 11"/>
          <p:cNvSpPr/>
          <p:nvPr/>
        </p:nvSpPr>
        <p:spPr>
          <a:xfrm>
            <a:off x="777240" y="3749040"/>
            <a:ext cx="9692640" cy="1645920"/>
          </a:xfrm>
          <a:prstGeom prst="rect">
            <a:avLst/>
          </a:prstGeom>
          <a:noFill/>
          <a:ln/>
        </p:spPr>
        <p:txBody>
          <a:bodyPr wrap="square"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Students who perceived more conflict between their parents reported higher social anxiety. Meanwhile, stronger attachment to parents and to peers was linked to lower social anxiety. Put simply: parental conflict appeared to raise the risk, while good relationships with family and friends appeared to buffer against it.</a:t>
            </a:r>
            <a:endParaRPr lang="en-US" sz="1300" dirty="0"/>
          </a:p>
        </p:txBody>
      </p:sp>
      <p:sp>
        <p:nvSpPr>
          <p:cNvPr id="14" name="Text 12"/>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Family environment • Attachment</a:t>
            </a:r>
            <a:endParaRPr lang="en-US" sz="1100" dirty="0"/>
          </a:p>
        </p:txBody>
      </p:sp>
      <p:sp>
        <p:nvSpPr>
          <p:cNvPr id="15" name="Text 13"/>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700" b="1" dirty="0">
                <a:solidFill>
                  <a:srgbClr val="013A40"/>
                </a:solidFill>
                <a:latin typeface="Cambria" pitchFamily="34" charset="0"/>
                <a:ea typeface="Cambria" pitchFamily="34" charset="-122"/>
                <a:cs typeface="Cambria" pitchFamily="34" charset="-120"/>
              </a:rPr>
              <a:t>Evaluating the Family Environment Research</a:t>
            </a:r>
            <a:endParaRPr lang="en-US" sz="27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Two questions worth asking of any correlational family study</a:t>
            </a:r>
            <a:endParaRPr lang="en-US" sz="1400" dirty="0"/>
          </a:p>
        </p:txBody>
      </p:sp>
      <p:sp>
        <p:nvSpPr>
          <p:cNvPr id="4" name="Shape 2"/>
          <p:cNvSpPr/>
          <p:nvPr/>
        </p:nvSpPr>
        <p:spPr>
          <a:xfrm>
            <a:off x="457200" y="1554480"/>
            <a:ext cx="5440680" cy="4206240"/>
          </a:xfrm>
          <a:prstGeom prst="roundRect">
            <a:avLst>
              <a:gd name="adj" fmla="val 2174"/>
            </a:avLst>
          </a:prstGeom>
          <a:solidFill>
            <a:srgbClr val="FFFFFF"/>
          </a:solidFill>
          <a:ln w="19050">
            <a:solidFill>
              <a:srgbClr val="028090"/>
            </a:solidFill>
            <a:prstDash val="solid"/>
          </a:ln>
        </p:spPr>
      </p:sp>
      <p:sp>
        <p:nvSpPr>
          <p:cNvPr id="5" name="Shape 3"/>
          <p:cNvSpPr/>
          <p:nvPr/>
        </p:nvSpPr>
        <p:spPr>
          <a:xfrm>
            <a:off x="457200" y="1554480"/>
            <a:ext cx="5440680" cy="594360"/>
          </a:xfrm>
          <a:prstGeom prst="roundRect">
            <a:avLst>
              <a:gd name="adj" fmla="val 15385"/>
            </a:avLst>
          </a:prstGeom>
          <a:solidFill>
            <a:srgbClr val="028090"/>
          </a:solidFill>
          <a:ln/>
        </p:spPr>
      </p:sp>
      <p:sp>
        <p:nvSpPr>
          <p:cNvPr id="6" name="Shape 4"/>
          <p:cNvSpPr/>
          <p:nvPr/>
        </p:nvSpPr>
        <p:spPr>
          <a:xfrm>
            <a:off x="457200" y="1920240"/>
            <a:ext cx="5440680" cy="228600"/>
          </a:xfrm>
          <a:prstGeom prst="rect">
            <a:avLst/>
          </a:prstGeom>
          <a:solidFill>
            <a:srgbClr val="028090"/>
          </a:solidFill>
          <a:ln/>
        </p:spPr>
      </p:sp>
      <p:sp>
        <p:nvSpPr>
          <p:cNvPr id="7" name="Text 5"/>
          <p:cNvSpPr/>
          <p:nvPr/>
        </p:nvSpPr>
        <p:spPr>
          <a:xfrm>
            <a:off x="457200" y="1554480"/>
            <a:ext cx="5440680" cy="5943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Bias</a:t>
            </a:r>
            <a:endParaRPr lang="en-US" sz="1700" dirty="0"/>
          </a:p>
        </p:txBody>
      </p:sp>
      <p:sp>
        <p:nvSpPr>
          <p:cNvPr id="8" name="Text 6"/>
          <p:cNvSpPr/>
          <p:nvPr/>
        </p:nvSpPr>
        <p:spPr>
          <a:xfrm>
            <a:off x="731520" y="23317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Recall bias: participants reflecting on past family experiences may not remember accurately.</a:t>
            </a:r>
            <a:endParaRPr lang="en-US" sz="1200" dirty="0"/>
          </a:p>
        </p:txBody>
      </p:sp>
      <p:sp>
        <p:nvSpPr>
          <p:cNvPr id="9" name="Text 7"/>
          <p:cNvSpPr/>
          <p:nvPr/>
        </p:nvSpPr>
        <p:spPr>
          <a:xfrm>
            <a:off x="731520" y="32461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Social desirability bias when self-reporting on family attachment or mental health.</a:t>
            </a:r>
            <a:endParaRPr lang="en-US" sz="1200" dirty="0"/>
          </a:p>
        </p:txBody>
      </p:sp>
      <p:sp>
        <p:nvSpPr>
          <p:cNvPr id="10" name="Text 8"/>
          <p:cNvSpPr/>
          <p:nvPr/>
        </p:nvSpPr>
        <p:spPr>
          <a:xfrm>
            <a:off x="731520" y="41605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Researchers must guard against confirmation bias, given how "obvious" the hypothesis seems.</a:t>
            </a:r>
            <a:endParaRPr lang="en-US" sz="1200" dirty="0"/>
          </a:p>
        </p:txBody>
      </p:sp>
      <p:sp>
        <p:nvSpPr>
          <p:cNvPr id="11" name="Text 9"/>
          <p:cNvSpPr/>
          <p:nvPr/>
        </p:nvSpPr>
        <p:spPr>
          <a:xfrm>
            <a:off x="731520" y="50749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The reliability and cultural relevance of the standardized tests used also needs checking.</a:t>
            </a:r>
            <a:endParaRPr lang="en-US" sz="1200" dirty="0"/>
          </a:p>
        </p:txBody>
      </p:sp>
      <p:sp>
        <p:nvSpPr>
          <p:cNvPr id="12" name="Shape 10"/>
          <p:cNvSpPr/>
          <p:nvPr/>
        </p:nvSpPr>
        <p:spPr>
          <a:xfrm>
            <a:off x="6263640" y="1554480"/>
            <a:ext cx="5440680" cy="4206240"/>
          </a:xfrm>
          <a:prstGeom prst="roundRect">
            <a:avLst>
              <a:gd name="adj" fmla="val 2174"/>
            </a:avLst>
          </a:prstGeom>
          <a:solidFill>
            <a:srgbClr val="FFFFFF"/>
          </a:solidFill>
          <a:ln w="19050">
            <a:solidFill>
              <a:srgbClr val="013A40"/>
            </a:solidFill>
            <a:prstDash val="solid"/>
          </a:ln>
        </p:spPr>
      </p:sp>
      <p:sp>
        <p:nvSpPr>
          <p:cNvPr id="13" name="Shape 11"/>
          <p:cNvSpPr/>
          <p:nvPr/>
        </p:nvSpPr>
        <p:spPr>
          <a:xfrm>
            <a:off x="6263640" y="1554480"/>
            <a:ext cx="5440680" cy="594360"/>
          </a:xfrm>
          <a:prstGeom prst="roundRect">
            <a:avLst>
              <a:gd name="adj" fmla="val 15385"/>
            </a:avLst>
          </a:prstGeom>
          <a:solidFill>
            <a:srgbClr val="013A40"/>
          </a:solidFill>
          <a:ln/>
        </p:spPr>
      </p:sp>
      <p:sp>
        <p:nvSpPr>
          <p:cNvPr id="14" name="Shape 12"/>
          <p:cNvSpPr/>
          <p:nvPr/>
        </p:nvSpPr>
        <p:spPr>
          <a:xfrm>
            <a:off x="6263640" y="1920240"/>
            <a:ext cx="5440680" cy="228600"/>
          </a:xfrm>
          <a:prstGeom prst="rect">
            <a:avLst/>
          </a:prstGeom>
          <a:solidFill>
            <a:srgbClr val="013A40"/>
          </a:solidFill>
          <a:ln/>
        </p:spPr>
      </p:sp>
      <p:sp>
        <p:nvSpPr>
          <p:cNvPr id="15" name="Text 13"/>
          <p:cNvSpPr/>
          <p:nvPr/>
        </p:nvSpPr>
        <p:spPr>
          <a:xfrm>
            <a:off x="6263640" y="1554480"/>
            <a:ext cx="5440680" cy="5943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Causation</a:t>
            </a:r>
            <a:endParaRPr lang="en-US" sz="1700" dirty="0"/>
          </a:p>
        </p:txBody>
      </p:sp>
      <p:sp>
        <p:nvSpPr>
          <p:cNvPr id="16" name="Text 14"/>
          <p:cNvSpPr/>
          <p:nvPr/>
        </p:nvSpPr>
        <p:spPr>
          <a:xfrm>
            <a:off x="6537960" y="23317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True experiments on family environment aren't ethical or practical — we're limited to correlational designs.</a:t>
            </a:r>
            <a:endParaRPr lang="en-US" sz="1200" dirty="0"/>
          </a:p>
        </p:txBody>
      </p:sp>
      <p:sp>
        <p:nvSpPr>
          <p:cNvPr id="17" name="Text 15"/>
          <p:cNvSpPr/>
          <p:nvPr/>
        </p:nvSpPr>
        <p:spPr>
          <a:xfrm>
            <a:off x="6537960" y="32461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Correlational data cannot establish a cause-and-effect relationship.</a:t>
            </a:r>
            <a:endParaRPr lang="en-US" sz="1200" dirty="0"/>
          </a:p>
        </p:txBody>
      </p:sp>
      <p:sp>
        <p:nvSpPr>
          <p:cNvPr id="18" name="Text 16"/>
          <p:cNvSpPr/>
          <p:nvPr/>
        </p:nvSpPr>
        <p:spPr>
          <a:xfrm>
            <a:off x="6537960" y="4160520"/>
            <a:ext cx="4892040" cy="86868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  Longitudinal, prospective research would help link SAD to specific life events or developmental windows.</a:t>
            </a:r>
            <a:endParaRPr lang="en-US" sz="1200" dirty="0"/>
          </a:p>
        </p:txBody>
      </p:sp>
      <p:sp>
        <p:nvSpPr>
          <p:cNvPr id="19" name="Text 17"/>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Family environment • Evaluation</a:t>
            </a:r>
            <a:endParaRPr lang="en-US" sz="1100" dirty="0"/>
          </a:p>
        </p:txBody>
      </p:sp>
      <p:sp>
        <p:nvSpPr>
          <p:cNvPr id="20" name="Text 18"/>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COVID-19, Isolation &amp; Anxiety</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A pandemic-scale test of how environment shapes anxiety</a:t>
            </a:r>
            <a:endParaRPr lang="en-US" sz="1400" dirty="0"/>
          </a:p>
        </p:txBody>
      </p:sp>
      <p:sp>
        <p:nvSpPr>
          <p:cNvPr id="4" name="Shape 2"/>
          <p:cNvSpPr/>
          <p:nvPr/>
        </p:nvSpPr>
        <p:spPr>
          <a:xfrm>
            <a:off x="457200" y="1508760"/>
            <a:ext cx="731520" cy="731520"/>
          </a:xfrm>
          <a:prstGeom prst="ellipse">
            <a:avLst/>
          </a:prstGeom>
          <a:solidFill>
            <a:srgbClr val="028090"/>
          </a:solidFill>
          <a:ln/>
        </p:spPr>
      </p:sp>
      <p:pic>
        <p:nvPicPr>
          <p:cNvPr id="5" name="Image 0" descr="icons/laptop.png">    </p:cNvPr>
          <p:cNvPicPr>
            <a:picLocks noChangeAspect="1"/>
          </p:cNvPicPr>
          <p:nvPr/>
        </p:nvPicPr>
        <p:blipFill>
          <a:blip r:embed="rId1"/>
          <a:stretch>
            <a:fillRect/>
          </a:stretch>
        </p:blipFill>
        <p:spPr>
          <a:xfrm>
            <a:off x="647395" y="1698955"/>
            <a:ext cx="351130" cy="351130"/>
          </a:xfrm>
          <a:prstGeom prst="rect">
            <a:avLst/>
          </a:prstGeom>
        </p:spPr>
      </p:pic>
      <p:sp>
        <p:nvSpPr>
          <p:cNvPr id="6" name="Text 3"/>
          <p:cNvSpPr/>
          <p:nvPr/>
        </p:nvSpPr>
        <p:spPr>
          <a:xfrm>
            <a:off x="1280160" y="1481328"/>
            <a:ext cx="10332720" cy="1371600"/>
          </a:xfrm>
          <a:prstGeom prst="rect">
            <a:avLst/>
          </a:prstGeom>
          <a:noFill/>
          <a:ln/>
        </p:spPr>
        <p:txBody>
          <a:bodyPr wrap="square" rtlCol="0" anchor="t"/>
          <a:lstStyle/>
          <a:p>
            <a:pPr indent="0" marL="0">
              <a:lnSpc>
                <a:spcPct val="120000"/>
              </a:lnSpc>
              <a:buNone/>
            </a:pPr>
            <a:r>
              <a:rPr lang="en-US" sz="1400" b="1" dirty="0">
                <a:solidFill>
                  <a:srgbClr val="013A40"/>
                </a:solidFill>
                <a:latin typeface="Calibri" pitchFamily="34" charset="0"/>
                <a:ea typeface="Calibri" pitchFamily="34" charset="-122"/>
                <a:cs typeface="Calibri" pitchFamily="34" charset="-120"/>
              </a:rPr>
              <a:t>A prediction that didn't quite hold up
</a:t>
            </a:r>
            <a:r>
              <a:rPr lang="en-US" sz="1250" dirty="0">
                <a:solidFill>
                  <a:srgbClr val="1F2937"/>
                </a:solidFill>
                <a:latin typeface="Calibri" pitchFamily="34" charset="0"/>
                <a:ea typeface="Calibri" pitchFamily="34" charset="-122"/>
                <a:cs typeface="Calibri" pitchFamily="34" charset="-120"/>
              </a:rPr>
              <a:t>Operant conditioning would predict that removing face-to-face socializing should reduce anxiety for people with SAD, since avoiding feared situations is negatively reinforcing. Lockdowns did exactly that — yet the evidence on anxiety during this period is mixed, and anxiety often rose again once in-person social life resumed.</a:t>
            </a:r>
            <a:endParaRPr lang="en-US" sz="1400" dirty="0"/>
          </a:p>
        </p:txBody>
      </p:sp>
      <p:sp>
        <p:nvSpPr>
          <p:cNvPr id="7" name="Shape 4"/>
          <p:cNvSpPr/>
          <p:nvPr/>
        </p:nvSpPr>
        <p:spPr>
          <a:xfrm>
            <a:off x="457200" y="3108960"/>
            <a:ext cx="10332720" cy="2651760"/>
          </a:xfrm>
          <a:prstGeom prst="roundRect">
            <a:avLst>
              <a:gd name="adj" fmla="val 3448"/>
            </a:avLst>
          </a:prstGeom>
          <a:solidFill>
            <a:srgbClr val="013A40"/>
          </a:solidFill>
          <a:ln/>
        </p:spPr>
      </p:sp>
      <p:sp>
        <p:nvSpPr>
          <p:cNvPr id="8" name="Shape 5"/>
          <p:cNvSpPr/>
          <p:nvPr/>
        </p:nvSpPr>
        <p:spPr>
          <a:xfrm>
            <a:off x="777240" y="3383280"/>
            <a:ext cx="640080" cy="640080"/>
          </a:xfrm>
          <a:prstGeom prst="ellipse">
            <a:avLst/>
          </a:prstGeom>
          <a:solidFill>
            <a:srgbClr val="02C39A"/>
          </a:solidFill>
          <a:ln/>
        </p:spPr>
      </p:sp>
      <p:pic>
        <p:nvPicPr>
          <p:cNvPr id="9" name="Image 1" descr="icons/virus.png">    </p:cNvPr>
          <p:cNvPicPr>
            <a:picLocks noChangeAspect="1"/>
          </p:cNvPicPr>
          <p:nvPr/>
        </p:nvPicPr>
        <p:blipFill>
          <a:blip r:embed="rId2"/>
          <a:stretch>
            <a:fillRect/>
          </a:stretch>
        </p:blipFill>
        <p:spPr>
          <a:xfrm>
            <a:off x="943661" y="3549701"/>
            <a:ext cx="307238" cy="307238"/>
          </a:xfrm>
          <a:prstGeom prst="rect">
            <a:avLst/>
          </a:prstGeom>
        </p:spPr>
      </p:pic>
      <p:sp>
        <p:nvSpPr>
          <p:cNvPr id="10" name="Text 6"/>
          <p:cNvSpPr/>
          <p:nvPr/>
        </p:nvSpPr>
        <p:spPr>
          <a:xfrm>
            <a:off x="1600200" y="3474720"/>
            <a:ext cx="88696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Santomauro et al. (2021)</a:t>
            </a:r>
            <a:endParaRPr lang="en-US" sz="1500" dirty="0"/>
          </a:p>
        </p:txBody>
      </p:sp>
      <p:sp>
        <p:nvSpPr>
          <p:cNvPr id="11" name="Text 7"/>
          <p:cNvSpPr/>
          <p:nvPr/>
        </p:nvSpPr>
        <p:spPr>
          <a:xfrm>
            <a:off x="1600200" y="3840480"/>
            <a:ext cx="8869680" cy="320040"/>
          </a:xfrm>
          <a:prstGeom prst="rect">
            <a:avLst/>
          </a:prstGeom>
          <a:noFill/>
          <a:ln/>
        </p:spPr>
        <p:txBody>
          <a:bodyPr wrap="square" rtlCol="0" anchor="ctr"/>
          <a:lstStyle/>
          <a:p>
            <a:pPr indent="0" marL="0">
              <a:buNone/>
            </a:pPr>
            <a:r>
              <a:rPr lang="en-US" sz="1150" i="1" dirty="0">
                <a:solidFill>
                  <a:srgbClr val="F2F9F8"/>
                </a:solidFill>
                <a:latin typeface="Calibri" pitchFamily="34" charset="0"/>
                <a:ea typeface="Calibri" pitchFamily="34" charset="-122"/>
                <a:cs typeface="Calibri" pitchFamily="34" charset="-120"/>
              </a:rPr>
              <a:t>Systematic review of global anxiety and depression data, Jan 2020 – Jan 2021</a:t>
            </a:r>
            <a:endParaRPr lang="en-US" sz="1150" dirty="0"/>
          </a:p>
        </p:txBody>
      </p:sp>
      <p:sp>
        <p:nvSpPr>
          <p:cNvPr id="12" name="Text 8"/>
          <p:cNvSpPr/>
          <p:nvPr/>
        </p:nvSpPr>
        <p:spPr>
          <a:xfrm>
            <a:off x="777240" y="4343400"/>
            <a:ext cx="3931920" cy="777240"/>
          </a:xfrm>
          <a:prstGeom prst="rect">
            <a:avLst/>
          </a:prstGeom>
          <a:noFill/>
          <a:ln/>
        </p:spPr>
        <p:txBody>
          <a:bodyPr wrap="square"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76 million</a:t>
            </a:r>
            <a:endParaRPr lang="en-US" sz="4000" dirty="0"/>
          </a:p>
        </p:txBody>
      </p:sp>
      <p:sp>
        <p:nvSpPr>
          <p:cNvPr id="13" name="Text 9"/>
          <p:cNvSpPr/>
          <p:nvPr/>
        </p:nvSpPr>
        <p:spPr>
          <a:xfrm>
            <a:off x="777240" y="5074920"/>
            <a:ext cx="3931920" cy="640080"/>
          </a:xfrm>
          <a:prstGeom prst="rect">
            <a:avLst/>
          </a:prstGeom>
          <a:noFill/>
          <a:ln/>
        </p:spPr>
        <p:txBody>
          <a:bodyPr wrap="square"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estimated additional anxiety disorder cases worldwide, attributed to pandemic isolation</a:t>
            </a:r>
            <a:endParaRPr lang="en-US" sz="1100" dirty="0"/>
          </a:p>
        </p:txBody>
      </p:sp>
      <p:sp>
        <p:nvSpPr>
          <p:cNvPr id="14" name="Text 10"/>
          <p:cNvSpPr/>
          <p:nvPr/>
        </p:nvSpPr>
        <p:spPr>
          <a:xfrm>
            <a:off x="5120640" y="4343400"/>
            <a:ext cx="2743200" cy="777240"/>
          </a:xfrm>
          <a:prstGeom prst="rect">
            <a:avLst/>
          </a:prstGeom>
          <a:noFill/>
          <a:ln/>
        </p:spPr>
        <p:txBody>
          <a:bodyPr wrap="square"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~25%</a:t>
            </a:r>
            <a:endParaRPr lang="en-US" sz="4000" dirty="0"/>
          </a:p>
        </p:txBody>
      </p:sp>
      <p:sp>
        <p:nvSpPr>
          <p:cNvPr id="15" name="Text 11"/>
          <p:cNvSpPr/>
          <p:nvPr/>
        </p:nvSpPr>
        <p:spPr>
          <a:xfrm>
            <a:off x="5120640" y="5074920"/>
            <a:ext cx="2743200" cy="640080"/>
          </a:xfrm>
          <a:prstGeom prst="rect">
            <a:avLst/>
          </a:prstGeom>
          <a:noFill/>
          <a:ln/>
        </p:spPr>
        <p:txBody>
          <a:bodyPr wrap="square"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increase in global anxiety disorder prevalence over the same period</a:t>
            </a:r>
            <a:endParaRPr lang="en-US" sz="1100" dirty="0"/>
          </a:p>
        </p:txBody>
      </p:sp>
      <p:sp>
        <p:nvSpPr>
          <p:cNvPr id="16" name="Text 12"/>
          <p:cNvSpPr/>
          <p:nvPr/>
        </p:nvSpPr>
        <p:spPr>
          <a:xfrm>
            <a:off x="8138160" y="4343400"/>
            <a:ext cx="2468880" cy="1280160"/>
          </a:xfrm>
          <a:prstGeom prst="rect">
            <a:avLst/>
          </a:prstGeom>
          <a:noFill/>
          <a:ln/>
        </p:spPr>
        <p:txBody>
          <a:bodyPr wrap="square" rtlCol="0" anchor="t"/>
          <a:lstStyle/>
          <a:p>
            <a:pPr indent="0" marL="0">
              <a:lnSpc>
                <a:spcPct val="115000"/>
              </a:lnSpc>
              <a:buNone/>
            </a:pPr>
            <a:r>
              <a:rPr lang="en-US" sz="1050" i="1" dirty="0">
                <a:solidFill>
                  <a:srgbClr val="F2F9F8"/>
                </a:solidFill>
                <a:latin typeface="Calibri" pitchFamily="34" charset="0"/>
                <a:ea typeface="Calibri" pitchFamily="34" charset="-122"/>
                <a:cs typeface="Calibri" pitchFamily="34" charset="-120"/>
              </a:rPr>
              <a:t>Takeaway: isolation doesn't affect everyone the same way — for some it relieved social pressure, for others it removed the practice and support that keeps anxiety manageable.</a:t>
            </a:r>
            <a:endParaRPr lang="en-US" sz="1050" dirty="0"/>
          </a:p>
        </p:txBody>
      </p:sp>
      <p:sp>
        <p:nvSpPr>
          <p:cNvPr id="17" name="Text 13"/>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Environmental disruption • COVID-19</a:t>
            </a:r>
            <a:endParaRPr lang="en-US" sz="1100" dirty="0"/>
          </a:p>
        </p:txBody>
      </p:sp>
      <p:sp>
        <p:nvSpPr>
          <p:cNvPr id="18" name="Text 14"/>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20040"/>
            <a:ext cx="10515600" cy="548640"/>
          </a:xfrm>
          <a:prstGeom prst="rect">
            <a:avLst/>
          </a:prstGeom>
          <a:noFill/>
          <a:ln/>
        </p:spPr>
        <p:txBody>
          <a:bodyPr wrap="square" rtlCol="0" anchor="ctr"/>
          <a:lstStyle/>
          <a:p>
            <a:pPr indent="0" marL="0">
              <a:buNone/>
            </a:pPr>
            <a:r>
              <a:rPr lang="en-US" sz="2700" b="1" dirty="0">
                <a:solidFill>
                  <a:srgbClr val="013A40"/>
                </a:solidFill>
                <a:latin typeface="Cambria" pitchFamily="34" charset="0"/>
                <a:ea typeface="Cambria" pitchFamily="34" charset="-122"/>
                <a:cs typeface="Cambria" pitchFamily="34" charset="-120"/>
              </a:rPr>
              <a:t>Applied Research: Coyle et al. (2022)</a:t>
            </a:r>
            <a:endParaRPr lang="en-US" sz="2700" dirty="0"/>
          </a:p>
        </p:txBody>
      </p:sp>
      <p:sp>
        <p:nvSpPr>
          <p:cNvPr id="3" name="Text 1"/>
          <p:cNvSpPr/>
          <p:nvPr/>
        </p:nvSpPr>
        <p:spPr>
          <a:xfrm>
            <a:off x="457200" y="822960"/>
            <a:ext cx="10515600" cy="365760"/>
          </a:xfrm>
          <a:prstGeom prst="rect">
            <a:avLst/>
          </a:prstGeom>
          <a:noFill/>
          <a:ln/>
        </p:spPr>
        <p:txBody>
          <a:bodyPr wrap="square" rtlCol="0" anchor="ctr"/>
          <a:lstStyle/>
          <a:p>
            <a:pPr indent="0" marL="0">
              <a:buNone/>
            </a:pPr>
            <a:r>
              <a:rPr lang="en-US" sz="1350" i="1" dirty="0">
                <a:solidFill>
                  <a:srgbClr val="5B6B70"/>
                </a:solidFill>
                <a:latin typeface="Calibri" pitchFamily="34" charset="0"/>
                <a:ea typeface="Calibri" pitchFamily="34" charset="-122"/>
                <a:cs typeface="Calibri" pitchFamily="34" charset="-120"/>
              </a:rPr>
              <a:t>Comparing pandemic experiences of teens with clinically significant SAD</a:t>
            </a:r>
            <a:endParaRPr lang="en-US" sz="1350" dirty="0"/>
          </a:p>
        </p:txBody>
      </p:sp>
      <p:sp>
        <p:nvSpPr>
          <p:cNvPr id="4" name="Text 2"/>
          <p:cNvSpPr/>
          <p:nvPr/>
        </p:nvSpPr>
        <p:spPr>
          <a:xfrm>
            <a:off x="457200" y="1280160"/>
            <a:ext cx="10515600"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Semi-structured interviews with participants who all had clinically significant social anxiety disorder.</a:t>
            </a:r>
            <a:endParaRPr lang="en-US" sz="1200" dirty="0"/>
          </a:p>
        </p:txBody>
      </p:sp>
      <p:sp>
        <p:nvSpPr>
          <p:cNvPr id="5" name="Shape 3"/>
          <p:cNvSpPr/>
          <p:nvPr/>
        </p:nvSpPr>
        <p:spPr>
          <a:xfrm>
            <a:off x="457200" y="1783080"/>
            <a:ext cx="5440680" cy="4023360"/>
          </a:xfrm>
          <a:prstGeom prst="roundRect">
            <a:avLst>
              <a:gd name="adj" fmla="val 2273"/>
            </a:avLst>
          </a:prstGeom>
          <a:solidFill>
            <a:srgbClr val="FFFFFF"/>
          </a:solidFill>
          <a:ln w="19050">
            <a:solidFill>
              <a:srgbClr val="00A896"/>
            </a:solidFill>
            <a:prstDash val="solid"/>
          </a:ln>
        </p:spPr>
      </p:sp>
      <p:sp>
        <p:nvSpPr>
          <p:cNvPr id="6" name="Shape 4"/>
          <p:cNvSpPr/>
          <p:nvPr/>
        </p:nvSpPr>
        <p:spPr>
          <a:xfrm>
            <a:off x="457200" y="1783080"/>
            <a:ext cx="5440680" cy="868680"/>
          </a:xfrm>
          <a:prstGeom prst="roundRect">
            <a:avLst>
              <a:gd name="adj" fmla="val 10526"/>
            </a:avLst>
          </a:prstGeom>
          <a:solidFill>
            <a:srgbClr val="00A896"/>
          </a:solidFill>
          <a:ln/>
        </p:spPr>
      </p:sp>
      <p:sp>
        <p:nvSpPr>
          <p:cNvPr id="7" name="Shape 5"/>
          <p:cNvSpPr/>
          <p:nvPr/>
        </p:nvSpPr>
        <p:spPr>
          <a:xfrm>
            <a:off x="457200" y="2331720"/>
            <a:ext cx="5440680" cy="320040"/>
          </a:xfrm>
          <a:prstGeom prst="rect">
            <a:avLst/>
          </a:prstGeom>
          <a:solidFill>
            <a:srgbClr val="00A896"/>
          </a:solidFill>
          <a:ln/>
        </p:spPr>
      </p:sp>
      <p:sp>
        <p:nvSpPr>
          <p:cNvPr id="8" name="Text 6"/>
          <p:cNvSpPr/>
          <p:nvPr/>
        </p:nvSpPr>
        <p:spPr>
          <a:xfrm>
            <a:off x="731520" y="1847088"/>
            <a:ext cx="489204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Portugal</a:t>
            </a:r>
            <a:endParaRPr lang="en-US" sz="1700" dirty="0"/>
          </a:p>
        </p:txBody>
      </p:sp>
      <p:sp>
        <p:nvSpPr>
          <p:cNvPr id="9" name="Text 7"/>
          <p:cNvSpPr/>
          <p:nvPr/>
        </p:nvSpPr>
        <p:spPr>
          <a:xfrm>
            <a:off x="731520" y="2194560"/>
            <a:ext cx="489204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10 adolescents  •  average age 16.9 • 50% female</a:t>
            </a:r>
            <a:endParaRPr lang="en-US" sz="1050" dirty="0"/>
          </a:p>
        </p:txBody>
      </p:sp>
      <p:sp>
        <p:nvSpPr>
          <p:cNvPr id="10" name="Text 8"/>
          <p:cNvSpPr/>
          <p:nvPr/>
        </p:nvSpPr>
        <p:spPr>
          <a:xfrm>
            <a:off x="731520" y="2834640"/>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70% said social anxiety worsened, even online</a:t>
            </a:r>
            <a:endParaRPr lang="en-US" sz="1150" dirty="0"/>
          </a:p>
        </p:txBody>
      </p:sp>
      <p:sp>
        <p:nvSpPr>
          <p:cNvPr id="11" name="Text 9"/>
          <p:cNvSpPr/>
          <p:nvPr/>
        </p:nvSpPr>
        <p:spPr>
          <a:xfrm>
            <a:off x="731520" y="3401568"/>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100% feared being judged</a:t>
            </a:r>
            <a:endParaRPr lang="en-US" sz="1150" dirty="0"/>
          </a:p>
        </p:txBody>
      </p:sp>
      <p:sp>
        <p:nvSpPr>
          <p:cNvPr id="12" name="Text 10"/>
          <p:cNvSpPr/>
          <p:nvPr/>
        </p:nvSpPr>
        <p:spPr>
          <a:xfrm>
            <a:off x="731520" y="3968496"/>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90% avoided social interactions</a:t>
            </a:r>
            <a:endParaRPr lang="en-US" sz="1150" dirty="0"/>
          </a:p>
        </p:txBody>
      </p:sp>
      <p:sp>
        <p:nvSpPr>
          <p:cNvPr id="13" name="Text 11"/>
          <p:cNvSpPr/>
          <p:nvPr/>
        </p:nvSpPr>
        <p:spPr>
          <a:xfrm>
            <a:off x="731520" y="4535424"/>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60% felt "out of practice" socially</a:t>
            </a:r>
            <a:endParaRPr lang="en-US" sz="1150" dirty="0"/>
          </a:p>
        </p:txBody>
      </p:sp>
      <p:sp>
        <p:nvSpPr>
          <p:cNvPr id="14" name="Text 12"/>
          <p:cNvSpPr/>
          <p:nvPr/>
        </p:nvSpPr>
        <p:spPr>
          <a:xfrm>
            <a:off x="731520" y="5102352"/>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90% said school experience suffered</a:t>
            </a:r>
            <a:endParaRPr lang="en-US" sz="1150" dirty="0"/>
          </a:p>
        </p:txBody>
      </p:sp>
      <p:sp>
        <p:nvSpPr>
          <p:cNvPr id="15" name="Shape 13"/>
          <p:cNvSpPr/>
          <p:nvPr/>
        </p:nvSpPr>
        <p:spPr>
          <a:xfrm>
            <a:off x="6263640" y="1783080"/>
            <a:ext cx="5440680" cy="4023360"/>
          </a:xfrm>
          <a:prstGeom prst="roundRect">
            <a:avLst>
              <a:gd name="adj" fmla="val 2273"/>
            </a:avLst>
          </a:prstGeom>
          <a:solidFill>
            <a:srgbClr val="FFFFFF"/>
          </a:solidFill>
          <a:ln w="19050">
            <a:solidFill>
              <a:srgbClr val="028090"/>
            </a:solidFill>
            <a:prstDash val="solid"/>
          </a:ln>
        </p:spPr>
      </p:sp>
      <p:sp>
        <p:nvSpPr>
          <p:cNvPr id="16" name="Shape 14"/>
          <p:cNvSpPr/>
          <p:nvPr/>
        </p:nvSpPr>
        <p:spPr>
          <a:xfrm>
            <a:off x="6263640" y="1783080"/>
            <a:ext cx="5440680" cy="868680"/>
          </a:xfrm>
          <a:prstGeom prst="roundRect">
            <a:avLst>
              <a:gd name="adj" fmla="val 10526"/>
            </a:avLst>
          </a:prstGeom>
          <a:solidFill>
            <a:srgbClr val="028090"/>
          </a:solidFill>
          <a:ln/>
        </p:spPr>
      </p:sp>
      <p:sp>
        <p:nvSpPr>
          <p:cNvPr id="17" name="Shape 15"/>
          <p:cNvSpPr/>
          <p:nvPr/>
        </p:nvSpPr>
        <p:spPr>
          <a:xfrm>
            <a:off x="6263640" y="2331720"/>
            <a:ext cx="5440680" cy="320040"/>
          </a:xfrm>
          <a:prstGeom prst="rect">
            <a:avLst/>
          </a:prstGeom>
          <a:solidFill>
            <a:srgbClr val="028090"/>
          </a:solidFill>
          <a:ln/>
        </p:spPr>
      </p:sp>
      <p:sp>
        <p:nvSpPr>
          <p:cNvPr id="18" name="Text 16"/>
          <p:cNvSpPr/>
          <p:nvPr/>
        </p:nvSpPr>
        <p:spPr>
          <a:xfrm>
            <a:off x="6537960" y="1847088"/>
            <a:ext cx="489204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United States</a:t>
            </a:r>
            <a:endParaRPr lang="en-US" sz="1700" dirty="0"/>
          </a:p>
        </p:txBody>
      </p:sp>
      <p:sp>
        <p:nvSpPr>
          <p:cNvPr id="19" name="Text 17"/>
          <p:cNvSpPr/>
          <p:nvPr/>
        </p:nvSpPr>
        <p:spPr>
          <a:xfrm>
            <a:off x="6537960" y="2194560"/>
            <a:ext cx="489204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7 young adults  •  average age 19.67 • 71% female</a:t>
            </a:r>
            <a:endParaRPr lang="en-US" sz="1050" dirty="0"/>
          </a:p>
        </p:txBody>
      </p:sp>
      <p:sp>
        <p:nvSpPr>
          <p:cNvPr id="20" name="Text 18"/>
          <p:cNvSpPr/>
          <p:nvPr/>
        </p:nvSpPr>
        <p:spPr>
          <a:xfrm>
            <a:off x="6537960" y="2834640"/>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86% said anxiety increased despite less contact</a:t>
            </a:r>
            <a:endParaRPr lang="en-US" sz="1150" dirty="0"/>
          </a:p>
        </p:txBody>
      </p:sp>
      <p:sp>
        <p:nvSpPr>
          <p:cNvPr id="21" name="Text 19"/>
          <p:cNvSpPr/>
          <p:nvPr/>
        </p:nvSpPr>
        <p:spPr>
          <a:xfrm>
            <a:off x="6537960" y="3401568"/>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100% feared being judged, avoided interaction</a:t>
            </a:r>
            <a:endParaRPr lang="en-US" sz="1150" dirty="0"/>
          </a:p>
        </p:txBody>
      </p:sp>
      <p:sp>
        <p:nvSpPr>
          <p:cNvPr id="22" name="Text 20"/>
          <p:cNvSpPr/>
          <p:nvPr/>
        </p:nvSpPr>
        <p:spPr>
          <a:xfrm>
            <a:off x="6537960" y="3968496"/>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All described anxiety about resuming in-person life</a:t>
            </a:r>
            <a:endParaRPr lang="en-US" sz="1150" dirty="0"/>
          </a:p>
        </p:txBody>
      </p:sp>
      <p:sp>
        <p:nvSpPr>
          <p:cNvPr id="23" name="Text 21"/>
          <p:cNvSpPr/>
          <p:nvPr/>
        </p:nvSpPr>
        <p:spPr>
          <a:xfrm>
            <a:off x="6537960" y="4535424"/>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86% struggled to engage with remote learning</a:t>
            </a:r>
            <a:endParaRPr lang="en-US" sz="1150" dirty="0"/>
          </a:p>
        </p:txBody>
      </p:sp>
      <p:sp>
        <p:nvSpPr>
          <p:cNvPr id="24" name="Text 22"/>
          <p:cNvSpPr/>
          <p:nvPr/>
        </p:nvSpPr>
        <p:spPr>
          <a:xfrm>
            <a:off x="6537960" y="5102352"/>
            <a:ext cx="4892040" cy="548640"/>
          </a:xfrm>
          <a:prstGeom prst="rect">
            <a:avLst/>
          </a:prstGeom>
          <a:noFill/>
          <a:ln/>
        </p:spPr>
        <p:txBody>
          <a:bodyPr wrap="square" rtlCol="0" anchor="t"/>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  57% found it harder to form classmate relationships</a:t>
            </a:r>
            <a:endParaRPr lang="en-US" sz="1150" dirty="0"/>
          </a:p>
        </p:txBody>
      </p:sp>
      <p:sp>
        <p:nvSpPr>
          <p:cNvPr id="25" name="Text 23"/>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Applied research • Cross-cultural comparison</a:t>
            </a:r>
            <a:endParaRPr lang="en-US" sz="1100" dirty="0"/>
          </a:p>
        </p:txBody>
      </p:sp>
      <p:sp>
        <p:nvSpPr>
          <p:cNvPr id="26" name="Text 24"/>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Reflecting on Coyle et al. (2022)</a:t>
            </a:r>
            <a:endParaRPr lang="en-US" sz="3000" dirty="0"/>
          </a:p>
        </p:txBody>
      </p:sp>
      <p:sp>
        <p:nvSpPr>
          <p:cNvPr id="3" name="Text 1"/>
          <p:cNvSpPr/>
          <p:nvPr/>
        </p:nvSpPr>
        <p:spPr>
          <a:xfrm>
            <a:off x="548640" y="1005840"/>
            <a:ext cx="10515600" cy="365760"/>
          </a:xfrm>
          <a:prstGeom prst="rect">
            <a:avLst/>
          </a:prstGeom>
          <a:noFill/>
          <a:ln/>
        </p:spPr>
        <p:txBody>
          <a:bodyPr wrap="square" rtlCol="0" anchor="ctr"/>
          <a:lstStyle/>
          <a:p>
            <a:pPr indent="0" marL="0">
              <a:buNone/>
            </a:pPr>
            <a:r>
              <a:rPr lang="en-US" sz="1400" i="1" dirty="0">
                <a:solidFill>
                  <a:srgbClr val="F2F9F8"/>
                </a:solidFill>
                <a:latin typeface="Calibri" pitchFamily="34" charset="0"/>
                <a:ea typeface="Calibri" pitchFamily="34" charset="-122"/>
                <a:cs typeface="Calibri" pitchFamily="34" charset="-120"/>
              </a:rPr>
              <a:t>Four questions worth working through before checking the model answers</a:t>
            </a:r>
            <a:endParaRPr lang="en-US" sz="1400" dirty="0"/>
          </a:p>
        </p:txBody>
      </p:sp>
      <p:sp>
        <p:nvSpPr>
          <p:cNvPr id="4" name="Shape 2"/>
          <p:cNvSpPr/>
          <p:nvPr/>
        </p:nvSpPr>
        <p:spPr>
          <a:xfrm>
            <a:off x="548640" y="1874520"/>
            <a:ext cx="640080" cy="640080"/>
          </a:xfrm>
          <a:prstGeom prst="ellipse">
            <a:avLst/>
          </a:prstGeom>
          <a:solidFill>
            <a:srgbClr val="028090"/>
          </a:solidFill>
          <a:ln/>
        </p:spPr>
      </p:sp>
      <p:pic>
        <p:nvPicPr>
          <p:cNvPr id="5" name="Image 0" descr="icons/question.png">    </p:cNvPr>
          <p:cNvPicPr>
            <a:picLocks noChangeAspect="1"/>
          </p:cNvPicPr>
          <p:nvPr/>
        </p:nvPicPr>
        <p:blipFill>
          <a:blip r:embed="rId1"/>
          <a:stretch>
            <a:fillRect/>
          </a:stretch>
        </p:blipFill>
        <p:spPr>
          <a:xfrm>
            <a:off x="715061" y="2040941"/>
            <a:ext cx="307238" cy="307238"/>
          </a:xfrm>
          <a:prstGeom prst="rect">
            <a:avLst/>
          </a:prstGeom>
        </p:spPr>
      </p:pic>
      <p:sp>
        <p:nvSpPr>
          <p:cNvPr id="6" name="Shape 3"/>
          <p:cNvSpPr/>
          <p:nvPr/>
        </p:nvSpPr>
        <p:spPr>
          <a:xfrm>
            <a:off x="1371600" y="1874520"/>
            <a:ext cx="10241280" cy="822960"/>
          </a:xfrm>
          <a:prstGeom prst="roundRect">
            <a:avLst>
              <a:gd name="adj" fmla="val 8889"/>
            </a:avLst>
          </a:prstGeom>
          <a:solidFill>
            <a:srgbClr val="028090">
              <a:alpha val="18000"/>
            </a:srgbClr>
          </a:solidFill>
          <a:ln w="9525">
            <a:solidFill>
              <a:srgbClr val="00A896"/>
            </a:solidFill>
            <a:prstDash val="solid"/>
          </a:ln>
        </p:spPr>
      </p:sp>
      <p:sp>
        <p:nvSpPr>
          <p:cNvPr id="7" name="Text 4"/>
          <p:cNvSpPr/>
          <p:nvPr/>
        </p:nvSpPr>
        <p:spPr>
          <a:xfrm>
            <a:off x="1600200" y="1874520"/>
            <a:ext cx="9829800" cy="8229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What is one advantage of using semi-structured interviews for this study?</a:t>
            </a:r>
            <a:endParaRPr lang="en-US" sz="1350" dirty="0"/>
          </a:p>
        </p:txBody>
      </p:sp>
      <p:sp>
        <p:nvSpPr>
          <p:cNvPr id="8" name="Shape 5"/>
          <p:cNvSpPr/>
          <p:nvPr/>
        </p:nvSpPr>
        <p:spPr>
          <a:xfrm>
            <a:off x="548640" y="2926080"/>
            <a:ext cx="640080" cy="640080"/>
          </a:xfrm>
          <a:prstGeom prst="ellipse">
            <a:avLst/>
          </a:prstGeom>
          <a:solidFill>
            <a:srgbClr val="00A896"/>
          </a:solidFill>
          <a:ln/>
        </p:spPr>
      </p:sp>
      <p:pic>
        <p:nvPicPr>
          <p:cNvPr id="9" name="Image 1" descr="icons/question.png">    </p:cNvPr>
          <p:cNvPicPr>
            <a:picLocks noChangeAspect="1"/>
          </p:cNvPicPr>
          <p:nvPr/>
        </p:nvPicPr>
        <p:blipFill>
          <a:blip r:embed="rId2"/>
          <a:stretch>
            <a:fillRect/>
          </a:stretch>
        </p:blipFill>
        <p:spPr>
          <a:xfrm>
            <a:off x="715061" y="3092501"/>
            <a:ext cx="307238" cy="307238"/>
          </a:xfrm>
          <a:prstGeom prst="rect">
            <a:avLst/>
          </a:prstGeom>
        </p:spPr>
      </p:pic>
      <p:sp>
        <p:nvSpPr>
          <p:cNvPr id="10" name="Shape 6"/>
          <p:cNvSpPr/>
          <p:nvPr/>
        </p:nvSpPr>
        <p:spPr>
          <a:xfrm>
            <a:off x="1371600" y="2926080"/>
            <a:ext cx="10241280" cy="822960"/>
          </a:xfrm>
          <a:prstGeom prst="roundRect">
            <a:avLst>
              <a:gd name="adj" fmla="val 8889"/>
            </a:avLst>
          </a:prstGeom>
          <a:solidFill>
            <a:srgbClr val="028090">
              <a:alpha val="18000"/>
            </a:srgbClr>
          </a:solidFill>
          <a:ln w="9525">
            <a:solidFill>
              <a:srgbClr val="00A896"/>
            </a:solidFill>
            <a:prstDash val="solid"/>
          </a:ln>
        </p:spPr>
      </p:sp>
      <p:sp>
        <p:nvSpPr>
          <p:cNvPr id="11" name="Text 7"/>
          <p:cNvSpPr/>
          <p:nvPr/>
        </p:nvSpPr>
        <p:spPr>
          <a:xfrm>
            <a:off x="1600200" y="2926080"/>
            <a:ext cx="9829800" cy="8229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Why is the date of publication important when evaluating this study?</a:t>
            </a:r>
            <a:endParaRPr lang="en-US" sz="1350" dirty="0"/>
          </a:p>
        </p:txBody>
      </p:sp>
      <p:sp>
        <p:nvSpPr>
          <p:cNvPr id="12" name="Shape 8"/>
          <p:cNvSpPr/>
          <p:nvPr/>
        </p:nvSpPr>
        <p:spPr>
          <a:xfrm>
            <a:off x="548640" y="3977640"/>
            <a:ext cx="640080" cy="640080"/>
          </a:xfrm>
          <a:prstGeom prst="ellipse">
            <a:avLst/>
          </a:prstGeom>
          <a:solidFill>
            <a:srgbClr val="028090"/>
          </a:solidFill>
          <a:ln/>
        </p:spPr>
      </p:sp>
      <p:pic>
        <p:nvPicPr>
          <p:cNvPr id="13" name="Image 2" descr="icons/question.png">    </p:cNvPr>
          <p:cNvPicPr>
            <a:picLocks noChangeAspect="1"/>
          </p:cNvPicPr>
          <p:nvPr/>
        </p:nvPicPr>
        <p:blipFill>
          <a:blip r:embed="rId3"/>
          <a:stretch>
            <a:fillRect/>
          </a:stretch>
        </p:blipFill>
        <p:spPr>
          <a:xfrm>
            <a:off x="715061" y="4144061"/>
            <a:ext cx="307238" cy="307238"/>
          </a:xfrm>
          <a:prstGeom prst="rect">
            <a:avLst/>
          </a:prstGeom>
        </p:spPr>
      </p:pic>
      <p:sp>
        <p:nvSpPr>
          <p:cNvPr id="14" name="Shape 9"/>
          <p:cNvSpPr/>
          <p:nvPr/>
        </p:nvSpPr>
        <p:spPr>
          <a:xfrm>
            <a:off x="1371600" y="3977640"/>
            <a:ext cx="10241280" cy="822960"/>
          </a:xfrm>
          <a:prstGeom prst="roundRect">
            <a:avLst>
              <a:gd name="adj" fmla="val 8889"/>
            </a:avLst>
          </a:prstGeom>
          <a:solidFill>
            <a:srgbClr val="028090">
              <a:alpha val="18000"/>
            </a:srgbClr>
          </a:solidFill>
          <a:ln w="9525">
            <a:solidFill>
              <a:srgbClr val="00A896"/>
            </a:solidFill>
            <a:prstDash val="solid"/>
          </a:ln>
        </p:spPr>
      </p:sp>
      <p:sp>
        <p:nvSpPr>
          <p:cNvPr id="15" name="Text 10"/>
          <p:cNvSpPr/>
          <p:nvPr/>
        </p:nvSpPr>
        <p:spPr>
          <a:xfrm>
            <a:off x="1600200" y="3977640"/>
            <a:ext cx="9829800" cy="8229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Why could it be argued that this study has sampling bias?</a:t>
            </a:r>
            <a:endParaRPr lang="en-US" sz="1350" dirty="0"/>
          </a:p>
        </p:txBody>
      </p:sp>
      <p:sp>
        <p:nvSpPr>
          <p:cNvPr id="16" name="Shape 11"/>
          <p:cNvSpPr/>
          <p:nvPr/>
        </p:nvSpPr>
        <p:spPr>
          <a:xfrm>
            <a:off x="548640" y="5029200"/>
            <a:ext cx="640080" cy="640080"/>
          </a:xfrm>
          <a:prstGeom prst="ellipse">
            <a:avLst/>
          </a:prstGeom>
          <a:solidFill>
            <a:srgbClr val="00A896"/>
          </a:solidFill>
          <a:ln/>
        </p:spPr>
      </p:sp>
      <p:pic>
        <p:nvPicPr>
          <p:cNvPr id="17" name="Image 3" descr="icons/question.png">    </p:cNvPr>
          <p:cNvPicPr>
            <a:picLocks noChangeAspect="1"/>
          </p:cNvPicPr>
          <p:nvPr/>
        </p:nvPicPr>
        <p:blipFill>
          <a:blip r:embed="rId4"/>
          <a:stretch>
            <a:fillRect/>
          </a:stretch>
        </p:blipFill>
        <p:spPr>
          <a:xfrm>
            <a:off x="715061" y="5195621"/>
            <a:ext cx="307238" cy="307238"/>
          </a:xfrm>
          <a:prstGeom prst="rect">
            <a:avLst/>
          </a:prstGeom>
        </p:spPr>
      </p:pic>
      <p:sp>
        <p:nvSpPr>
          <p:cNvPr id="18" name="Shape 12"/>
          <p:cNvSpPr/>
          <p:nvPr/>
        </p:nvSpPr>
        <p:spPr>
          <a:xfrm>
            <a:off x="1371600" y="5029200"/>
            <a:ext cx="10241280" cy="822960"/>
          </a:xfrm>
          <a:prstGeom prst="roundRect">
            <a:avLst>
              <a:gd name="adj" fmla="val 8889"/>
            </a:avLst>
          </a:prstGeom>
          <a:solidFill>
            <a:srgbClr val="028090">
              <a:alpha val="18000"/>
            </a:srgbClr>
          </a:solidFill>
          <a:ln w="9525">
            <a:solidFill>
              <a:srgbClr val="00A896"/>
            </a:solidFill>
            <a:prstDash val="solid"/>
          </a:ln>
        </p:spPr>
      </p:sp>
      <p:sp>
        <p:nvSpPr>
          <p:cNvPr id="19" name="Text 13"/>
          <p:cNvSpPr/>
          <p:nvPr/>
        </p:nvSpPr>
        <p:spPr>
          <a:xfrm>
            <a:off x="1600200" y="5029200"/>
            <a:ext cx="9829800" cy="8229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How could the researchers increase the credibility of this study?</a:t>
            </a:r>
            <a:endParaRPr lang="en-US" sz="1350" dirty="0"/>
          </a:p>
        </p:txBody>
      </p:sp>
      <p:sp>
        <p:nvSpPr>
          <p:cNvPr id="20" name="Text 14"/>
          <p:cNvSpPr/>
          <p:nvPr/>
        </p:nvSpPr>
        <p:spPr>
          <a:xfrm>
            <a:off x="548640" y="6309360"/>
            <a:ext cx="5486400" cy="27432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Discussion • Applied research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Challenges to Data Collection</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Why studying sensitive environmental factors isn't straightforward</a:t>
            </a:r>
            <a:endParaRPr lang="en-US" sz="1400" dirty="0"/>
          </a:p>
        </p:txBody>
      </p:sp>
      <p:sp>
        <p:nvSpPr>
          <p:cNvPr id="4" name="Shape 2"/>
          <p:cNvSpPr/>
          <p:nvPr/>
        </p:nvSpPr>
        <p:spPr>
          <a:xfrm>
            <a:off x="457200" y="1508760"/>
            <a:ext cx="731520" cy="731520"/>
          </a:xfrm>
          <a:prstGeom prst="ellipse">
            <a:avLst/>
          </a:prstGeom>
          <a:solidFill>
            <a:srgbClr val="028090"/>
          </a:solidFill>
          <a:ln/>
        </p:spPr>
      </p:sp>
      <p:pic>
        <p:nvPicPr>
          <p:cNvPr id="5" name="Image 0" descr="icons/clipboard.png">    </p:cNvPr>
          <p:cNvPicPr>
            <a:picLocks noChangeAspect="1"/>
          </p:cNvPicPr>
          <p:nvPr/>
        </p:nvPicPr>
        <p:blipFill>
          <a:blip r:embed="rId1"/>
          <a:stretch>
            <a:fillRect/>
          </a:stretch>
        </p:blipFill>
        <p:spPr>
          <a:xfrm>
            <a:off x="647395" y="1698955"/>
            <a:ext cx="351130" cy="351130"/>
          </a:xfrm>
          <a:prstGeom prst="rect">
            <a:avLst/>
          </a:prstGeom>
        </p:spPr>
      </p:pic>
      <p:sp>
        <p:nvSpPr>
          <p:cNvPr id="6" name="Text 3"/>
          <p:cNvSpPr/>
          <p:nvPr/>
        </p:nvSpPr>
        <p:spPr>
          <a:xfrm>
            <a:off x="1280160" y="1554480"/>
            <a:ext cx="10241280" cy="640080"/>
          </a:xfrm>
          <a:prstGeom prst="rect">
            <a:avLst/>
          </a:prstGeom>
          <a:noFill/>
          <a:ln/>
        </p:spPr>
        <p:txBody>
          <a:bodyPr wrap="square"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Imagine designing a study on the factors affecting social anxiety in your own school. A few practical hurdles come up immediately:</a:t>
            </a:r>
            <a:endParaRPr lang="en-US" sz="1300" dirty="0"/>
          </a:p>
        </p:txBody>
      </p:sp>
      <p:sp>
        <p:nvSpPr>
          <p:cNvPr id="7" name="Shape 4"/>
          <p:cNvSpPr/>
          <p:nvPr/>
        </p:nvSpPr>
        <p:spPr>
          <a:xfrm>
            <a:off x="457200" y="2468880"/>
            <a:ext cx="3566160" cy="1508760"/>
          </a:xfrm>
          <a:prstGeom prst="roundRect">
            <a:avLst>
              <a:gd name="adj" fmla="val 5455"/>
            </a:avLst>
          </a:prstGeom>
          <a:solidFill>
            <a:srgbClr val="FFFFFF"/>
          </a:solidFill>
          <a:ln w="12700">
            <a:solidFill>
              <a:srgbClr val="00A896"/>
            </a:solidFill>
            <a:prstDash val="solid"/>
          </a:ln>
        </p:spPr>
      </p:sp>
      <p:sp>
        <p:nvSpPr>
          <p:cNvPr id="8" name="Text 5"/>
          <p:cNvSpPr/>
          <p:nvPr/>
        </p:nvSpPr>
        <p:spPr>
          <a:xfrm>
            <a:off x="640080" y="2587752"/>
            <a:ext cx="3200400" cy="365760"/>
          </a:xfrm>
          <a:prstGeom prst="rect">
            <a:avLst/>
          </a:prstGeom>
          <a:noFill/>
          <a:ln/>
        </p:spPr>
        <p:txBody>
          <a:bodyPr wrap="square"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Consent</a:t>
            </a:r>
            <a:endParaRPr lang="en-US" sz="1350" dirty="0"/>
          </a:p>
        </p:txBody>
      </p:sp>
      <p:sp>
        <p:nvSpPr>
          <p:cNvPr id="9" name="Text 6"/>
          <p:cNvSpPr/>
          <p:nvPr/>
        </p:nvSpPr>
        <p:spPr>
          <a:xfrm>
            <a:off x="640080" y="2944368"/>
            <a:ext cx="3200400" cy="960120"/>
          </a:xfrm>
          <a:prstGeom prst="rect">
            <a:avLst/>
          </a:prstGeom>
          <a:noFill/>
          <a:ln/>
        </p:spPr>
        <p:txBody>
          <a:bodyPr wrap="square" rtlCol="0" anchor="t"/>
          <a:lstStyle/>
          <a:p>
            <a:pPr indent="0" marL="0">
              <a:lnSpc>
                <a:spcPct val="112000"/>
              </a:lnSpc>
              <a:buNone/>
            </a:pPr>
            <a:r>
              <a:rPr lang="en-US" sz="1050" dirty="0">
                <a:solidFill>
                  <a:srgbClr val="1F2937"/>
                </a:solidFill>
                <a:latin typeface="Calibri" pitchFamily="34" charset="0"/>
                <a:ea typeface="Calibri" pitchFamily="34" charset="-122"/>
                <a:cs typeface="Calibri" pitchFamily="34" charset="-120"/>
              </a:rPr>
              <a:t>Students, parents, and school administration would all need to agree to take part.</a:t>
            </a:r>
            <a:endParaRPr lang="en-US" sz="1050" dirty="0"/>
          </a:p>
        </p:txBody>
      </p:sp>
      <p:sp>
        <p:nvSpPr>
          <p:cNvPr id="10" name="Shape 7"/>
          <p:cNvSpPr/>
          <p:nvPr/>
        </p:nvSpPr>
        <p:spPr>
          <a:xfrm>
            <a:off x="4297680" y="2468880"/>
            <a:ext cx="3566160" cy="1508760"/>
          </a:xfrm>
          <a:prstGeom prst="roundRect">
            <a:avLst>
              <a:gd name="adj" fmla="val 5455"/>
            </a:avLst>
          </a:prstGeom>
          <a:solidFill>
            <a:srgbClr val="FFFFFF"/>
          </a:solidFill>
          <a:ln w="12700">
            <a:solidFill>
              <a:srgbClr val="00A896"/>
            </a:solidFill>
            <a:prstDash val="solid"/>
          </a:ln>
        </p:spPr>
      </p:sp>
      <p:sp>
        <p:nvSpPr>
          <p:cNvPr id="11" name="Text 8"/>
          <p:cNvSpPr/>
          <p:nvPr/>
        </p:nvSpPr>
        <p:spPr>
          <a:xfrm>
            <a:off x="4480560" y="2587752"/>
            <a:ext cx="3200400" cy="365760"/>
          </a:xfrm>
          <a:prstGeom prst="rect">
            <a:avLst/>
          </a:prstGeom>
          <a:noFill/>
          <a:ln/>
        </p:spPr>
        <p:txBody>
          <a:bodyPr wrap="square"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Stigma &amp; Reluctance</a:t>
            </a:r>
            <a:endParaRPr lang="en-US" sz="1350" dirty="0"/>
          </a:p>
        </p:txBody>
      </p:sp>
      <p:sp>
        <p:nvSpPr>
          <p:cNvPr id="12" name="Text 9"/>
          <p:cNvSpPr/>
          <p:nvPr/>
        </p:nvSpPr>
        <p:spPr>
          <a:xfrm>
            <a:off x="4480560" y="2944368"/>
            <a:ext cx="3200400" cy="960120"/>
          </a:xfrm>
          <a:prstGeom prst="rect">
            <a:avLst/>
          </a:prstGeom>
          <a:noFill/>
          <a:ln/>
        </p:spPr>
        <p:txBody>
          <a:bodyPr wrap="square" rtlCol="0" anchor="t"/>
          <a:lstStyle/>
          <a:p>
            <a:pPr indent="0" marL="0">
              <a:lnSpc>
                <a:spcPct val="112000"/>
              </a:lnSpc>
              <a:buNone/>
            </a:pPr>
            <a:r>
              <a:rPr lang="en-US" sz="1050" dirty="0">
                <a:solidFill>
                  <a:srgbClr val="1F2937"/>
                </a:solidFill>
                <a:latin typeface="Calibri" pitchFamily="34" charset="0"/>
                <a:ea typeface="Calibri" pitchFamily="34" charset="-122"/>
                <a:cs typeface="Calibri" pitchFamily="34" charset="-120"/>
              </a:rPr>
              <a:t>Students may worry about being labelled with a disorder and decline to participate.</a:t>
            </a:r>
            <a:endParaRPr lang="en-US" sz="1050" dirty="0"/>
          </a:p>
        </p:txBody>
      </p:sp>
      <p:sp>
        <p:nvSpPr>
          <p:cNvPr id="13" name="Shape 10"/>
          <p:cNvSpPr/>
          <p:nvPr/>
        </p:nvSpPr>
        <p:spPr>
          <a:xfrm>
            <a:off x="8138160" y="2468880"/>
            <a:ext cx="3566160" cy="1508760"/>
          </a:xfrm>
          <a:prstGeom prst="roundRect">
            <a:avLst>
              <a:gd name="adj" fmla="val 5455"/>
            </a:avLst>
          </a:prstGeom>
          <a:solidFill>
            <a:srgbClr val="FFFFFF"/>
          </a:solidFill>
          <a:ln w="12700">
            <a:solidFill>
              <a:srgbClr val="00A896"/>
            </a:solidFill>
            <a:prstDash val="solid"/>
          </a:ln>
        </p:spPr>
      </p:sp>
      <p:sp>
        <p:nvSpPr>
          <p:cNvPr id="14" name="Text 11"/>
          <p:cNvSpPr/>
          <p:nvPr/>
        </p:nvSpPr>
        <p:spPr>
          <a:xfrm>
            <a:off x="8321040" y="2587752"/>
            <a:ext cx="3200400" cy="365760"/>
          </a:xfrm>
          <a:prstGeom prst="rect">
            <a:avLst/>
          </a:prstGeom>
          <a:noFill/>
          <a:ln/>
        </p:spPr>
        <p:txBody>
          <a:bodyPr wrap="square"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Interview Bias</a:t>
            </a:r>
            <a:endParaRPr lang="en-US" sz="1350" dirty="0"/>
          </a:p>
        </p:txBody>
      </p:sp>
      <p:sp>
        <p:nvSpPr>
          <p:cNvPr id="15" name="Text 12"/>
          <p:cNvSpPr/>
          <p:nvPr/>
        </p:nvSpPr>
        <p:spPr>
          <a:xfrm>
            <a:off x="8321040" y="2944368"/>
            <a:ext cx="3200400" cy="960120"/>
          </a:xfrm>
          <a:prstGeom prst="rect">
            <a:avLst/>
          </a:prstGeom>
          <a:noFill/>
          <a:ln/>
        </p:spPr>
        <p:txBody>
          <a:bodyPr wrap="square" rtlCol="0" anchor="t"/>
          <a:lstStyle/>
          <a:p>
            <a:pPr indent="0" marL="0">
              <a:lnSpc>
                <a:spcPct val="112000"/>
              </a:lnSpc>
              <a:buNone/>
            </a:pPr>
            <a:r>
              <a:rPr lang="en-US" sz="1050" dirty="0">
                <a:solidFill>
                  <a:srgbClr val="1F2937"/>
                </a:solidFill>
                <a:latin typeface="Calibri" pitchFamily="34" charset="0"/>
                <a:ea typeface="Calibri" pitchFamily="34" charset="-122"/>
                <a:cs typeface="Calibri" pitchFamily="34" charset="-120"/>
              </a:rPr>
              <a:t>Face-to-face interviews risk social desirability effects and low disclosure, especially with researchers the students know.</a:t>
            </a:r>
            <a:endParaRPr lang="en-US" sz="1050" dirty="0"/>
          </a:p>
        </p:txBody>
      </p:sp>
      <p:sp>
        <p:nvSpPr>
          <p:cNvPr id="16" name="Shape 13"/>
          <p:cNvSpPr/>
          <p:nvPr/>
        </p:nvSpPr>
        <p:spPr>
          <a:xfrm>
            <a:off x="2377440" y="4206240"/>
            <a:ext cx="3566160" cy="1508760"/>
          </a:xfrm>
          <a:prstGeom prst="roundRect">
            <a:avLst>
              <a:gd name="adj" fmla="val 5455"/>
            </a:avLst>
          </a:prstGeom>
          <a:solidFill>
            <a:srgbClr val="FFFFFF"/>
          </a:solidFill>
          <a:ln w="12700">
            <a:solidFill>
              <a:srgbClr val="00A896"/>
            </a:solidFill>
            <a:prstDash val="solid"/>
          </a:ln>
        </p:spPr>
      </p:sp>
      <p:sp>
        <p:nvSpPr>
          <p:cNvPr id="17" name="Text 14"/>
          <p:cNvSpPr/>
          <p:nvPr/>
        </p:nvSpPr>
        <p:spPr>
          <a:xfrm>
            <a:off x="2560320" y="4325112"/>
            <a:ext cx="3200400" cy="365760"/>
          </a:xfrm>
          <a:prstGeom prst="rect">
            <a:avLst/>
          </a:prstGeom>
          <a:noFill/>
          <a:ln/>
        </p:spPr>
        <p:txBody>
          <a:bodyPr wrap="square"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Questionnaire Limits</a:t>
            </a:r>
            <a:endParaRPr lang="en-US" sz="1350" dirty="0"/>
          </a:p>
        </p:txBody>
      </p:sp>
      <p:sp>
        <p:nvSpPr>
          <p:cNvPr id="18" name="Text 15"/>
          <p:cNvSpPr/>
          <p:nvPr/>
        </p:nvSpPr>
        <p:spPr>
          <a:xfrm>
            <a:off x="2560320" y="4681728"/>
            <a:ext cx="3200400" cy="960120"/>
          </a:xfrm>
          <a:prstGeom prst="rect">
            <a:avLst/>
          </a:prstGeom>
          <a:noFill/>
          <a:ln/>
        </p:spPr>
        <p:txBody>
          <a:bodyPr wrap="square" rtlCol="0" anchor="t"/>
          <a:lstStyle/>
          <a:p>
            <a:pPr indent="0" marL="0">
              <a:lnSpc>
                <a:spcPct val="112000"/>
              </a:lnSpc>
              <a:buNone/>
            </a:pPr>
            <a:r>
              <a:rPr lang="en-US" sz="1050" dirty="0">
                <a:solidFill>
                  <a:srgbClr val="1F2937"/>
                </a:solidFill>
                <a:latin typeface="Calibri" pitchFamily="34" charset="0"/>
                <a:ea typeface="Calibri" pitchFamily="34" charset="-122"/>
                <a:cs typeface="Calibri" pitchFamily="34" charset="-120"/>
              </a:rPr>
              <a:t>Students may lack motivation to complete surveys, and may not interpret Likert-scale items consistently.</a:t>
            </a:r>
            <a:endParaRPr lang="en-US" sz="1050" dirty="0"/>
          </a:p>
        </p:txBody>
      </p:sp>
      <p:sp>
        <p:nvSpPr>
          <p:cNvPr id="19" name="Shape 16"/>
          <p:cNvSpPr/>
          <p:nvPr/>
        </p:nvSpPr>
        <p:spPr>
          <a:xfrm>
            <a:off x="6217920" y="4206240"/>
            <a:ext cx="3566160" cy="1508760"/>
          </a:xfrm>
          <a:prstGeom prst="roundRect">
            <a:avLst>
              <a:gd name="adj" fmla="val 5455"/>
            </a:avLst>
          </a:prstGeom>
          <a:solidFill>
            <a:srgbClr val="FFFFFF"/>
          </a:solidFill>
          <a:ln w="12700">
            <a:solidFill>
              <a:srgbClr val="00A896"/>
            </a:solidFill>
            <a:prstDash val="solid"/>
          </a:ln>
        </p:spPr>
      </p:sp>
      <p:sp>
        <p:nvSpPr>
          <p:cNvPr id="20" name="Text 17"/>
          <p:cNvSpPr/>
          <p:nvPr/>
        </p:nvSpPr>
        <p:spPr>
          <a:xfrm>
            <a:off x="6400800" y="4325112"/>
            <a:ext cx="3200400" cy="365760"/>
          </a:xfrm>
          <a:prstGeom prst="rect">
            <a:avLst/>
          </a:prstGeom>
          <a:noFill/>
          <a:ln/>
        </p:spPr>
        <p:txBody>
          <a:bodyPr wrap="square"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Piloting</a:t>
            </a:r>
            <a:endParaRPr lang="en-US" sz="1350" dirty="0"/>
          </a:p>
        </p:txBody>
      </p:sp>
      <p:sp>
        <p:nvSpPr>
          <p:cNvPr id="21" name="Text 18"/>
          <p:cNvSpPr/>
          <p:nvPr/>
        </p:nvSpPr>
        <p:spPr>
          <a:xfrm>
            <a:off x="6400800" y="4681728"/>
            <a:ext cx="3200400" cy="960120"/>
          </a:xfrm>
          <a:prstGeom prst="rect">
            <a:avLst/>
          </a:prstGeom>
          <a:noFill/>
          <a:ln/>
        </p:spPr>
        <p:txBody>
          <a:bodyPr wrap="square" rtlCol="0" anchor="t"/>
          <a:lstStyle/>
          <a:p>
            <a:pPr indent="0" marL="0">
              <a:lnSpc>
                <a:spcPct val="112000"/>
              </a:lnSpc>
              <a:buNone/>
            </a:pPr>
            <a:r>
              <a:rPr lang="en-US" sz="1050" dirty="0">
                <a:solidFill>
                  <a:srgbClr val="1F2937"/>
                </a:solidFill>
                <a:latin typeface="Calibri" pitchFamily="34" charset="0"/>
                <a:ea typeface="Calibri" pitchFamily="34" charset="-122"/>
                <a:cs typeface="Calibri" pitchFamily="34" charset="-120"/>
              </a:rPr>
              <a:t>A small pilot study should run first, to catch these problems before scaling up.</a:t>
            </a:r>
            <a:endParaRPr lang="en-US" sz="1050" dirty="0"/>
          </a:p>
        </p:txBody>
      </p:sp>
      <p:sp>
        <p:nvSpPr>
          <p:cNvPr id="22" name="Text 19"/>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Methodology • Ethical considerations</a:t>
            </a:r>
            <a:endParaRPr lang="en-US" sz="1100" dirty="0"/>
          </a:p>
        </p:txBody>
      </p:sp>
      <p:sp>
        <p:nvSpPr>
          <p:cNvPr id="23" name="Text 20"/>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600" b="1" dirty="0">
                <a:solidFill>
                  <a:srgbClr val="013A40"/>
                </a:solidFill>
                <a:latin typeface="Cambria" pitchFamily="34" charset="0"/>
                <a:ea typeface="Cambria" pitchFamily="34" charset="-122"/>
                <a:cs typeface="Cambria" pitchFamily="34" charset="-120"/>
              </a:rPr>
              <a:t>Evaluating Environmental Explanations of SAD</a:t>
            </a:r>
            <a:endParaRPr lang="en-US" sz="26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Strengths and limitations of the sociocultural approach</a:t>
            </a:r>
            <a:endParaRPr lang="en-US" sz="1400" dirty="0"/>
          </a:p>
        </p:txBody>
      </p:sp>
      <p:sp>
        <p:nvSpPr>
          <p:cNvPr id="4" name="Shape 2"/>
          <p:cNvSpPr/>
          <p:nvPr/>
        </p:nvSpPr>
        <p:spPr>
          <a:xfrm>
            <a:off x="457200" y="1600200"/>
            <a:ext cx="5212080" cy="4206240"/>
          </a:xfrm>
          <a:prstGeom prst="roundRect">
            <a:avLst>
              <a:gd name="adj" fmla="val 2174"/>
            </a:avLst>
          </a:prstGeom>
          <a:solidFill>
            <a:srgbClr val="FFFFFF"/>
          </a:solidFill>
          <a:ln w="19050">
            <a:solidFill>
              <a:srgbClr val="02C39A"/>
            </a:solidFill>
            <a:prstDash val="solid"/>
          </a:ln>
        </p:spPr>
      </p:sp>
      <p:sp>
        <p:nvSpPr>
          <p:cNvPr id="5" name="Text 3"/>
          <p:cNvSpPr/>
          <p:nvPr/>
        </p:nvSpPr>
        <p:spPr>
          <a:xfrm>
            <a:off x="685800" y="1737360"/>
            <a:ext cx="548640" cy="548640"/>
          </a:xfrm>
          <a:prstGeom prst="rect">
            <a:avLst/>
          </a:prstGeom>
          <a:noFill/>
          <a:ln/>
        </p:spPr>
        <p:txBody>
          <a:bodyPr wrap="square"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a:t>
            </a:r>
            <a:endParaRPr lang="en-US" sz="3000" dirty="0"/>
          </a:p>
        </p:txBody>
      </p:sp>
      <p:sp>
        <p:nvSpPr>
          <p:cNvPr id="6" name="Text 4"/>
          <p:cNvSpPr/>
          <p:nvPr/>
        </p:nvSpPr>
        <p:spPr>
          <a:xfrm>
            <a:off x="1280160" y="1783080"/>
            <a:ext cx="4114800" cy="457200"/>
          </a:xfrm>
          <a:prstGeom prst="rect">
            <a:avLst/>
          </a:prstGeom>
          <a:noFill/>
          <a:ln/>
        </p:spPr>
        <p:txBody>
          <a:bodyPr wrap="square" rtlCol="0" anchor="ctr"/>
          <a:lstStyle/>
          <a:p>
            <a:pPr indent="0" marL="0">
              <a:buNone/>
            </a:pPr>
            <a:r>
              <a:rPr lang="en-US" sz="1800" b="1" dirty="0">
                <a:solidFill>
                  <a:srgbClr val="013A40"/>
                </a:solidFill>
                <a:latin typeface="Cambria" pitchFamily="34" charset="0"/>
                <a:ea typeface="Cambria" pitchFamily="34" charset="-122"/>
                <a:cs typeface="Cambria" pitchFamily="34" charset="-120"/>
              </a:rPr>
              <a:t>Strengths</a:t>
            </a:r>
            <a:endParaRPr lang="en-US" sz="1800" dirty="0"/>
          </a:p>
        </p:txBody>
      </p:sp>
      <p:sp>
        <p:nvSpPr>
          <p:cNvPr id="7" name="Text 5"/>
          <p:cNvSpPr/>
          <p:nvPr/>
        </p:nvSpPr>
        <p:spPr>
          <a:xfrm>
            <a:off x="731520" y="2514600"/>
            <a:ext cx="4663440" cy="1005840"/>
          </a:xfrm>
          <a:prstGeom prst="rect">
            <a:avLst/>
          </a:prstGeom>
          <a:noFill/>
          <a:ln/>
        </p:spPr>
        <p:txBody>
          <a:bodyPr wrap="square" rtlCol="0" anchor="t"/>
          <a:lstStyle/>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  Helps explain gender and cultural differences in how anxiety disorders present and how common they are.</a:t>
            </a:r>
            <a:endParaRPr lang="en-US" sz="1250" dirty="0"/>
          </a:p>
        </p:txBody>
      </p:sp>
      <p:sp>
        <p:nvSpPr>
          <p:cNvPr id="8" name="Text 6"/>
          <p:cNvSpPr/>
          <p:nvPr/>
        </p:nvSpPr>
        <p:spPr>
          <a:xfrm>
            <a:off x="731520" y="3703320"/>
            <a:ext cx="4663440" cy="1005840"/>
          </a:xfrm>
          <a:prstGeom prst="rect">
            <a:avLst/>
          </a:prstGeom>
          <a:noFill/>
          <a:ln/>
        </p:spPr>
        <p:txBody>
          <a:bodyPr wrap="square" rtlCol="0" anchor="t"/>
          <a:lstStyle/>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  Takes a holistic view, acknowledging that several environmental variables interact rather than any single cause.</a:t>
            </a:r>
            <a:endParaRPr lang="en-US" sz="1250" dirty="0"/>
          </a:p>
        </p:txBody>
      </p:sp>
      <p:sp>
        <p:nvSpPr>
          <p:cNvPr id="9" name="Shape 7"/>
          <p:cNvSpPr/>
          <p:nvPr/>
        </p:nvSpPr>
        <p:spPr>
          <a:xfrm>
            <a:off x="5943600" y="1600200"/>
            <a:ext cx="5760720" cy="4206240"/>
          </a:xfrm>
          <a:prstGeom prst="roundRect">
            <a:avLst>
              <a:gd name="adj" fmla="val 2174"/>
            </a:avLst>
          </a:prstGeom>
          <a:solidFill>
            <a:srgbClr val="FFFFFF"/>
          </a:solidFill>
          <a:ln w="19050">
            <a:solidFill>
              <a:srgbClr val="028090"/>
            </a:solidFill>
            <a:prstDash val="solid"/>
          </a:ln>
        </p:spPr>
      </p:sp>
      <p:sp>
        <p:nvSpPr>
          <p:cNvPr id="10" name="Text 8"/>
          <p:cNvSpPr/>
          <p:nvPr/>
        </p:nvSpPr>
        <p:spPr>
          <a:xfrm>
            <a:off x="6172200" y="1737360"/>
            <a:ext cx="548640" cy="548640"/>
          </a:xfrm>
          <a:prstGeom prst="rect">
            <a:avLst/>
          </a:prstGeom>
          <a:noFill/>
          <a:ln/>
        </p:spPr>
        <p:txBody>
          <a:bodyPr wrap="square"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a:t>
            </a:r>
            <a:endParaRPr lang="en-US" sz="3000" dirty="0"/>
          </a:p>
        </p:txBody>
      </p:sp>
      <p:sp>
        <p:nvSpPr>
          <p:cNvPr id="11" name="Text 9"/>
          <p:cNvSpPr/>
          <p:nvPr/>
        </p:nvSpPr>
        <p:spPr>
          <a:xfrm>
            <a:off x="6766560" y="1783080"/>
            <a:ext cx="4663440" cy="457200"/>
          </a:xfrm>
          <a:prstGeom prst="rect">
            <a:avLst/>
          </a:prstGeom>
          <a:noFill/>
          <a:ln/>
        </p:spPr>
        <p:txBody>
          <a:bodyPr wrap="square" rtlCol="0" anchor="ctr"/>
          <a:lstStyle/>
          <a:p>
            <a:pPr indent="0" marL="0">
              <a:buNone/>
            </a:pPr>
            <a:r>
              <a:rPr lang="en-US" sz="1800" b="1" dirty="0">
                <a:solidFill>
                  <a:srgbClr val="013A40"/>
                </a:solidFill>
                <a:latin typeface="Cambria" pitchFamily="34" charset="0"/>
                <a:ea typeface="Cambria" pitchFamily="34" charset="-122"/>
                <a:cs typeface="Cambria" pitchFamily="34" charset="-120"/>
              </a:rPr>
              <a:t>Limitations</a:t>
            </a:r>
            <a:endParaRPr lang="en-US" sz="1800" dirty="0"/>
          </a:p>
        </p:txBody>
      </p:sp>
      <p:sp>
        <p:nvSpPr>
          <p:cNvPr id="12" name="Text 10"/>
          <p:cNvSpPr/>
          <p:nvPr/>
        </p:nvSpPr>
        <p:spPr>
          <a:xfrm>
            <a:off x="6217920" y="2514600"/>
            <a:ext cx="5212080" cy="105156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Much of the evidence relies on self-report, which is vulnerable to participant bias and demand characteristics.</a:t>
            </a:r>
            <a:endParaRPr lang="en-US" sz="1200" dirty="0"/>
          </a:p>
        </p:txBody>
      </p:sp>
      <p:sp>
        <p:nvSpPr>
          <p:cNvPr id="13" name="Text 11"/>
          <p:cNvSpPr/>
          <p:nvPr/>
        </p:nvSpPr>
        <p:spPr>
          <a:xfrm>
            <a:off x="6217920" y="3703320"/>
            <a:ext cx="5212080" cy="105156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Correlational research runs into bidirectional ambiguity — e.g., does social media use cause anxiety, or do anxious people use it more? Cause and effect can't be pinned down.</a:t>
            </a:r>
            <a:endParaRPr lang="en-US" sz="1200" dirty="0"/>
          </a:p>
        </p:txBody>
      </p:sp>
      <p:sp>
        <p:nvSpPr>
          <p:cNvPr id="14" name="Text 12"/>
          <p:cNvSpPr/>
          <p:nvPr/>
        </p:nvSpPr>
        <p:spPr>
          <a:xfrm>
            <a:off x="6217920" y="4892040"/>
            <a:ext cx="5212080" cy="105156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  Experiments designed to test complex social interactions often lack ecological validity.</a:t>
            </a:r>
            <a:endParaRPr lang="en-US" sz="1200" dirty="0"/>
          </a:p>
        </p:txBody>
      </p:sp>
      <p:sp>
        <p:nvSpPr>
          <p:cNvPr id="15" name="Text 13"/>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Environmental factors • Evaluation</a:t>
            </a:r>
            <a:endParaRPr lang="en-US" sz="1100" dirty="0"/>
          </a:p>
        </p:txBody>
      </p:sp>
      <p:sp>
        <p:nvSpPr>
          <p:cNvPr id="16" name="Text 14"/>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Environmental Factors: SAD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548640" y="457200"/>
            <a:ext cx="10515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Full Picture: Biopsychosocial SAD</a:t>
            </a:r>
            <a:endParaRPr lang="en-US" sz="3000" dirty="0"/>
          </a:p>
        </p:txBody>
      </p:sp>
      <p:sp>
        <p:nvSpPr>
          <p:cNvPr id="3" name="Text 1"/>
          <p:cNvSpPr/>
          <p:nvPr/>
        </p:nvSpPr>
        <p:spPr>
          <a:xfrm>
            <a:off x="548640" y="1051560"/>
            <a:ext cx="10515600" cy="365760"/>
          </a:xfrm>
          <a:prstGeom prst="rect">
            <a:avLst/>
          </a:prstGeom>
          <a:noFill/>
          <a:ln/>
        </p:spPr>
        <p:txBody>
          <a:bodyPr wrap="square" rtlCol="0" anchor="ctr"/>
          <a:lstStyle/>
          <a:p>
            <a:pPr indent="0" marL="0">
              <a:buNone/>
            </a:pPr>
            <a:r>
              <a:rPr lang="en-US" sz="1400" i="1" dirty="0">
                <a:solidFill>
                  <a:srgbClr val="F2F9F8"/>
                </a:solidFill>
                <a:latin typeface="Calibri" pitchFamily="34" charset="0"/>
                <a:ea typeface="Calibri" pitchFamily="34" charset="-122"/>
                <a:cs typeface="Calibri" pitchFamily="34" charset="-120"/>
              </a:rPr>
              <a:t>Four explanations, one interacting system</a:t>
            </a:r>
            <a:endParaRPr lang="en-US" sz="1400" dirty="0"/>
          </a:p>
        </p:txBody>
      </p:sp>
      <p:sp>
        <p:nvSpPr>
          <p:cNvPr id="4" name="Text 2"/>
          <p:cNvSpPr/>
          <p:nvPr/>
        </p:nvSpPr>
        <p:spPr>
          <a:xfrm>
            <a:off x="548640" y="1691640"/>
            <a:ext cx="10698480" cy="822960"/>
          </a:xfrm>
          <a:prstGeom prst="rect">
            <a:avLst/>
          </a:prstGeom>
          <a:noFill/>
          <a:ln/>
        </p:spPr>
        <p:txBody>
          <a:bodyPr wrap="square" rtlCol="0" anchor="t"/>
          <a:lstStyle/>
          <a:p>
            <a:pPr indent="0" marL="0">
              <a:lnSpc>
                <a:spcPct val="120000"/>
              </a:lnSpc>
              <a:buNone/>
            </a:pPr>
            <a:r>
              <a:rPr lang="en-US" sz="1300" dirty="0">
                <a:solidFill>
                  <a:srgbClr val="F2F9F8"/>
                </a:solidFill>
                <a:latin typeface="Calibri" pitchFamily="34" charset="0"/>
                <a:ea typeface="Calibri" pitchFamily="34" charset="-122"/>
                <a:cs typeface="Calibri" pitchFamily="34" charset="-120"/>
              </a:rPr>
              <a:t>No single explanation accounts for Social Anxiety Disorder on its own. Genetic risk, neurochemical sensitivity, cognitive processing, and environmental context all interact — which is exactly what the diathesis-stress model predicts.</a:t>
            </a:r>
            <a:endParaRPr lang="en-US" sz="1300" dirty="0"/>
          </a:p>
        </p:txBody>
      </p:sp>
      <p:sp>
        <p:nvSpPr>
          <p:cNvPr id="5" name="Shape 3"/>
          <p:cNvSpPr/>
          <p:nvPr/>
        </p:nvSpPr>
        <p:spPr>
          <a:xfrm>
            <a:off x="548640" y="2743200"/>
            <a:ext cx="2574036" cy="1691640"/>
          </a:xfrm>
          <a:prstGeom prst="roundRect">
            <a:avLst>
              <a:gd name="adj" fmla="val 5405"/>
            </a:avLst>
          </a:prstGeom>
          <a:solidFill>
            <a:srgbClr val="028090"/>
          </a:solidFill>
          <a:ln/>
        </p:spPr>
      </p:sp>
      <p:sp>
        <p:nvSpPr>
          <p:cNvPr id="6" name="Text 4"/>
          <p:cNvSpPr/>
          <p:nvPr/>
        </p:nvSpPr>
        <p:spPr>
          <a:xfrm>
            <a:off x="713232" y="2880360"/>
            <a:ext cx="2244852" cy="4114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Genetics</a:t>
            </a:r>
            <a:endParaRPr lang="en-US" sz="1450" dirty="0"/>
          </a:p>
        </p:txBody>
      </p:sp>
      <p:sp>
        <p:nvSpPr>
          <p:cNvPr id="7" name="Text 5"/>
          <p:cNvSpPr/>
          <p:nvPr/>
        </p:nvSpPr>
        <p:spPr>
          <a:xfrm>
            <a:off x="713232" y="3319272"/>
            <a:ext cx="2244852" cy="96012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Heritable predisposition</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(twin studies, SLC6A2, OXTR)</a:t>
            </a:r>
            <a:endParaRPr lang="en-US" sz="1050" dirty="0"/>
          </a:p>
        </p:txBody>
      </p:sp>
      <p:sp>
        <p:nvSpPr>
          <p:cNvPr id="8" name="Shape 6"/>
          <p:cNvSpPr/>
          <p:nvPr/>
        </p:nvSpPr>
        <p:spPr>
          <a:xfrm>
            <a:off x="3378708" y="2743200"/>
            <a:ext cx="2574036" cy="1691640"/>
          </a:xfrm>
          <a:prstGeom prst="roundRect">
            <a:avLst>
              <a:gd name="adj" fmla="val 5405"/>
            </a:avLst>
          </a:prstGeom>
          <a:solidFill>
            <a:srgbClr val="028090"/>
          </a:solidFill>
          <a:ln/>
        </p:spPr>
      </p:sp>
      <p:sp>
        <p:nvSpPr>
          <p:cNvPr id="9" name="Text 7"/>
          <p:cNvSpPr/>
          <p:nvPr/>
        </p:nvSpPr>
        <p:spPr>
          <a:xfrm>
            <a:off x="3543300" y="2880360"/>
            <a:ext cx="2244852" cy="4114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Neurochemistry</a:t>
            </a:r>
            <a:endParaRPr lang="en-US" sz="1450" dirty="0"/>
          </a:p>
        </p:txBody>
      </p:sp>
      <p:sp>
        <p:nvSpPr>
          <p:cNvPr id="10" name="Text 8"/>
          <p:cNvSpPr/>
          <p:nvPr/>
        </p:nvSpPr>
        <p:spPr>
          <a:xfrm>
            <a:off x="3543300" y="3319272"/>
            <a:ext cx="2244852" cy="96012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Oxytocin regulating</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amygdala threat response</a:t>
            </a:r>
            <a:endParaRPr lang="en-US" sz="1050" dirty="0"/>
          </a:p>
        </p:txBody>
      </p:sp>
      <p:sp>
        <p:nvSpPr>
          <p:cNvPr id="11" name="Shape 9"/>
          <p:cNvSpPr/>
          <p:nvPr/>
        </p:nvSpPr>
        <p:spPr>
          <a:xfrm>
            <a:off x="6208776" y="2743200"/>
            <a:ext cx="2574036" cy="1691640"/>
          </a:xfrm>
          <a:prstGeom prst="roundRect">
            <a:avLst>
              <a:gd name="adj" fmla="val 5405"/>
            </a:avLst>
          </a:prstGeom>
          <a:solidFill>
            <a:srgbClr val="028090"/>
          </a:solidFill>
          <a:ln/>
        </p:spPr>
      </p:sp>
      <p:sp>
        <p:nvSpPr>
          <p:cNvPr id="12" name="Text 10"/>
          <p:cNvSpPr/>
          <p:nvPr/>
        </p:nvSpPr>
        <p:spPr>
          <a:xfrm>
            <a:off x="6373368" y="2880360"/>
            <a:ext cx="2244852" cy="4114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Cognition</a:t>
            </a:r>
            <a:endParaRPr lang="en-US" sz="1450" dirty="0"/>
          </a:p>
        </p:txBody>
      </p:sp>
      <p:sp>
        <p:nvSpPr>
          <p:cNvPr id="13" name="Text 11"/>
          <p:cNvSpPr/>
          <p:nvPr/>
        </p:nvSpPr>
        <p:spPr>
          <a:xfrm>
            <a:off x="6373368" y="3319272"/>
            <a:ext cx="2244852" cy="96012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Conditioning, rumination,</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and the Clark &amp; Wells model</a:t>
            </a:r>
            <a:endParaRPr lang="en-US" sz="1050" dirty="0"/>
          </a:p>
        </p:txBody>
      </p:sp>
      <p:sp>
        <p:nvSpPr>
          <p:cNvPr id="14" name="Shape 12"/>
          <p:cNvSpPr/>
          <p:nvPr/>
        </p:nvSpPr>
        <p:spPr>
          <a:xfrm>
            <a:off x="9038844" y="2743200"/>
            <a:ext cx="2574036" cy="1691640"/>
          </a:xfrm>
          <a:prstGeom prst="roundRect">
            <a:avLst>
              <a:gd name="adj" fmla="val 5405"/>
            </a:avLst>
          </a:prstGeom>
          <a:solidFill>
            <a:srgbClr val="02C39A"/>
          </a:solidFill>
          <a:ln/>
        </p:spPr>
      </p:sp>
      <p:sp>
        <p:nvSpPr>
          <p:cNvPr id="15" name="Text 13"/>
          <p:cNvSpPr/>
          <p:nvPr/>
        </p:nvSpPr>
        <p:spPr>
          <a:xfrm>
            <a:off x="9203436" y="2880360"/>
            <a:ext cx="2244852" cy="4114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Environment</a:t>
            </a:r>
            <a:endParaRPr lang="en-US" sz="1450" dirty="0"/>
          </a:p>
        </p:txBody>
      </p:sp>
      <p:sp>
        <p:nvSpPr>
          <p:cNvPr id="16" name="Text 14"/>
          <p:cNvSpPr/>
          <p:nvPr/>
        </p:nvSpPr>
        <p:spPr>
          <a:xfrm>
            <a:off x="9203436" y="3319272"/>
            <a:ext cx="2244852" cy="96012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Family, peers, and</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disruptive events like COVID-19</a:t>
            </a:r>
            <a:endParaRPr lang="en-US" sz="1050" dirty="0"/>
          </a:p>
        </p:txBody>
      </p:sp>
      <p:sp>
        <p:nvSpPr>
          <p:cNvPr id="17" name="Shape 15"/>
          <p:cNvSpPr/>
          <p:nvPr/>
        </p:nvSpPr>
        <p:spPr>
          <a:xfrm>
            <a:off x="548640" y="4709160"/>
            <a:ext cx="11064240" cy="1417320"/>
          </a:xfrm>
          <a:prstGeom prst="roundRect">
            <a:avLst>
              <a:gd name="adj" fmla="val 6452"/>
            </a:avLst>
          </a:prstGeom>
          <a:solidFill>
            <a:srgbClr val="028090">
              <a:alpha val="85000"/>
            </a:srgbClr>
          </a:solidFill>
          <a:ln w="12700">
            <a:solidFill>
              <a:srgbClr val="02C39A"/>
            </a:solidFill>
            <a:prstDash val="solid"/>
          </a:ln>
        </p:spPr>
      </p:sp>
      <p:sp>
        <p:nvSpPr>
          <p:cNvPr id="18" name="Text 16"/>
          <p:cNvSpPr/>
          <p:nvPr/>
        </p:nvSpPr>
        <p:spPr>
          <a:xfrm>
            <a:off x="822960" y="4846320"/>
            <a:ext cx="10515600" cy="1143000"/>
          </a:xfrm>
          <a:prstGeom prst="rect">
            <a:avLst/>
          </a:prstGeom>
          <a:noFill/>
          <a:ln/>
        </p:spPr>
        <p:txBody>
          <a:bodyPr wrap="square" rtlCol="0" anchor="ctr"/>
          <a:lstStyle/>
          <a:p>
            <a:pPr indent="0" marL="0">
              <a:lnSpc>
                <a:spcPct val="120000"/>
              </a:lnSpc>
              <a:buNone/>
            </a:pPr>
            <a:r>
              <a:rPr lang="en-US" sz="1250" i="1" dirty="0">
                <a:solidFill>
                  <a:srgbClr val="FFFFFF"/>
                </a:solidFill>
                <a:latin typeface="Calibri" pitchFamily="34" charset="0"/>
                <a:ea typeface="Calibri" pitchFamily="34" charset="-122"/>
                <a:cs typeface="Calibri" pitchFamily="34" charset="-120"/>
              </a:rPr>
              <a:t>Across every level of explanation, the evidence keeps pointing the same way: SAD emerges from interaction, not a single cause — which is why effective treatment often needs to work on more than one level at once.</a:t>
            </a:r>
            <a:endParaRPr lang="en-US" sz="1250" dirty="0"/>
          </a:p>
        </p:txBody>
      </p:sp>
      <p:sp>
        <p:nvSpPr>
          <p:cNvPr id="19" name="Text 17"/>
          <p:cNvSpPr/>
          <p:nvPr/>
        </p:nvSpPr>
        <p:spPr>
          <a:xfrm>
            <a:off x="548640" y="6400800"/>
            <a:ext cx="5486400" cy="27432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Synthesis • Conclusion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2026-08-11T12:34:38Z</dcterms:created>
  <dcterms:modified xsi:type="dcterms:W3CDTF">2026-08-11T12:34:38Z</dcterms:modified>
</cp:coreProperties>
</file>